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7" r:id="rId3"/>
    <p:sldId id="346" r:id="rId4"/>
    <p:sldId id="348" r:id="rId5"/>
    <p:sldId id="349" r:id="rId6"/>
    <p:sldId id="350" r:id="rId7"/>
    <p:sldId id="351" r:id="rId8"/>
    <p:sldId id="352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3" r:id="rId18"/>
    <p:sldId id="364" r:id="rId19"/>
    <p:sldId id="365" r:id="rId20"/>
    <p:sldId id="366" r:id="rId21"/>
    <p:sldId id="367" r:id="rId22"/>
    <p:sldId id="368" r:id="rId23"/>
    <p:sldId id="3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0EE1-2298-4F29-97D2-D4A7A73C0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E6718-D9E4-4558-85A2-189B970DA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B732D-E8C0-4DEA-9AB5-970F7E890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B57CE-9130-40A8-992F-6E10FA8D9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1DCEB-98AB-4601-B15F-E3D62B3E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6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98DD-3F70-4EC6-895B-5F39A655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F2C3D-4921-491F-902C-166E8D02C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BF2E0-E3C2-41E9-A6ED-B01C48E2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AB3D6-0A3C-4C48-A253-0FDBCE314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019AE-114A-47DF-B106-D8041A46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4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BD7D-4579-41D3-BE21-5B02293AA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2F081-E4ED-4070-830F-1A80B203D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998AF-F7AF-4378-AA3F-49A1DC2A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56CAA-69F5-4306-A628-03D49298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28F2B-53B2-4352-A1A8-CFC9D687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4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D5FB6-E06C-4BA7-954C-DBFF0E260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BB0A6-5DCC-4CD9-9AF6-23F00653E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7352A-BF63-4643-93EE-EB2196252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0BFD6-A99E-478D-A1FF-6B17C0D5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26C0B-D2DA-4D78-84EA-F9DF0476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2E7E8-F357-4215-A01C-FF1E59B9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9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8174-4738-4F69-A4F6-08634A29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ADEE4-9033-48A0-8B42-804115D5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CBA60-0BB0-4CB2-90B8-44202093E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688FA-BE44-4E29-841C-84B7042B0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D4EAB-43B3-400E-84F8-3724A62A5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B2F93-3013-4475-AD69-46608A69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4B385-E26F-4FA8-9A90-43AE501E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0F4919-988F-4A86-AD89-DDB01F20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0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9B21-92A9-4ED4-B6A2-135BDEEB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F88AB4-51C2-4D83-AAB6-CDC42C3E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11890-1CB5-4B84-AD07-C0A9509B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0C8FE-3FCD-4B86-A008-A119D535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1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BEC42-4C95-4AD7-93D4-C44F31A6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7560E-A14C-4F28-8675-F8818EAB0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3CEA0-93A8-4863-BD3D-B33BB410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3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49EA-0AAD-48BD-84DA-088D77C7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53DA2-B67E-4A32-AB83-B499CF788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5A3E0-9EB1-4E84-9AF6-1C2FA6747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15DF9-2DAA-46DF-AF17-16D116647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DAD88-4574-47F7-80A5-9F4BA12C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0100F-86B3-4D39-829A-987ED5FC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94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6A13-61FB-401C-B920-DDA7D8CA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AB032-56C9-4DEE-B354-D5FEBBD79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D84AB-6D24-4362-8FAF-AE432DD7D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09183-31CA-49D0-B173-80F71681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8B068-0F34-41C4-93AE-08364811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0AEE-AB2C-4EB4-957D-D8BD7223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20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1F37-8EAF-433B-ACE6-01BDCAFE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D2840-5537-4512-8D47-F76770A7B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2716B-E1E8-46B8-B0D3-3297E2DF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0F4C1-A78E-4478-8103-3A1CE9EA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380A-01DB-490D-B173-2B8CFD28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0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71748E-B000-4145-AE9E-4349D89ED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0ED9C-7378-4F32-B28B-6E87786B3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FB2EB-5C8D-4BDE-B31B-48831A9D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C8AFB-27AC-4859-AD4F-1B868333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F97EA-E511-4D83-8645-7CA2E84D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8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9CE8F3-099D-4682-9055-57C21F4D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3462A-52D3-4608-B3D9-2D381491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44069-D289-4F5C-A20F-34624E8CB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5E30-A094-4A8B-A41E-014FE2D852A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20EBD-398C-4ADC-99C9-18206F058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87074-ED6D-4DA7-8C2E-E168F879D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EF382-CA21-4E5E-8DE0-B95F7E0F0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8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/>
          </a:bodyPr>
          <a:lstStyle/>
          <a:p>
            <a:r>
              <a:rPr lang="en-US" dirty="0"/>
              <a:t>Lecture 6: Regression &amp; Overfitting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1913-DFB1-4A02-A893-5553ECC0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tradeoff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5B236-674D-4404-BD76-FDA70D254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Variance</a:t>
            </a:r>
            <a:r>
              <a:rPr lang="en-US" dirty="0"/>
              <a:t>: Captures how much your classifier changes if you train on a different training set. How "over-specialized" is your classifier to a particular training set (“overfitting”)? If we have the best possible model for </a:t>
            </a:r>
            <a:r>
              <a:rPr lang="en-US" i="1" dirty="0"/>
              <a:t>our</a:t>
            </a:r>
            <a:r>
              <a:rPr lang="en-US" dirty="0"/>
              <a:t> training data, how far off are we from the average classifier?</a:t>
            </a:r>
          </a:p>
          <a:p>
            <a:endParaRPr lang="en-US" dirty="0"/>
          </a:p>
          <a:p>
            <a:r>
              <a:rPr lang="en-US" b="1" dirty="0"/>
              <a:t>Bias</a:t>
            </a:r>
            <a:r>
              <a:rPr lang="en-US" dirty="0"/>
              <a:t>: What is the inherent error that you obtain from your classifier even with infinite training data? This is due to your classifier being "biased" to a particular kind of solution (e.g. linear classifier). In other words, bias is inherent to your model.</a:t>
            </a:r>
          </a:p>
        </p:txBody>
      </p:sp>
    </p:spTree>
    <p:extLst>
      <p:ext uri="{BB962C8B-B14F-4D97-AF65-F5344CB8AC3E}">
        <p14:creationId xmlns:p14="http://schemas.microsoft.com/office/powerpoint/2010/main" val="4033859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1913-DFB1-4A02-A893-5553ECC0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</a:t>
            </a:r>
            <a:r>
              <a:rPr lang="en-US" i="1" dirty="0"/>
              <a:t>tradeoff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C140CD-FC66-41B5-B7E4-AFB9AFBD2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38756"/>
            <a:ext cx="5262300" cy="50181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7F102C-25EF-4D77-9FDF-86FFF9011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271" y="1948639"/>
            <a:ext cx="6799729" cy="418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27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1913-DFB1-4A02-A893-5553ECC0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</a:t>
            </a:r>
            <a:r>
              <a:rPr lang="en-US" i="1" dirty="0"/>
              <a:t>tradeoff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1E1BFC-BB54-4443-AD9A-0C4E1C9AA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5403" y="1825625"/>
            <a:ext cx="84411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5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1913-DFB1-4A02-A893-5553ECC0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</a:t>
            </a:r>
            <a:r>
              <a:rPr lang="en-US" i="1" dirty="0"/>
              <a:t>tradeoff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47A3B-77B7-4ACD-8EA8-FE7F7A90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Scenario/plan/regime #1 (high variance):</a:t>
            </a:r>
          </a:p>
          <a:p>
            <a:pPr lvl="1"/>
            <a:r>
              <a:rPr lang="en-US" b="1" dirty="0"/>
              <a:t>Variance</a:t>
            </a:r>
            <a:r>
              <a:rPr lang="en-US" dirty="0"/>
              <a:t>: Captures how much your classifier changes if you train on a different training set. How "over-specialized" is your classifier to a particular training set (“overfitting”)? If we have the best possible model for </a:t>
            </a:r>
            <a:r>
              <a:rPr lang="en-US" i="1" dirty="0"/>
              <a:t>our</a:t>
            </a:r>
            <a:r>
              <a:rPr lang="en-US" dirty="0"/>
              <a:t> training data, how far off are we from the average classifier?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3B311E93-3466-4BF3-9D7B-50AEBE2A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554" y="4737566"/>
            <a:ext cx="4113446" cy="212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5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1913-DFB1-4A02-A893-5553ECC0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</a:t>
            </a:r>
            <a:r>
              <a:rPr lang="en-US" i="1" dirty="0"/>
              <a:t>tradeoff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47A3B-77B7-4ACD-8EA8-FE7F7A90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Scenario/plan/regime #1 (high variance):</a:t>
            </a:r>
          </a:p>
          <a:p>
            <a:pPr lvl="1"/>
            <a:r>
              <a:rPr lang="en-US" dirty="0"/>
              <a:t>Symptoms:</a:t>
            </a:r>
          </a:p>
          <a:p>
            <a:pPr lvl="2"/>
            <a:r>
              <a:rPr lang="en-US" dirty="0"/>
              <a:t>Training error is much lower than test error</a:t>
            </a:r>
          </a:p>
          <a:p>
            <a:pPr lvl="2"/>
            <a:r>
              <a:rPr lang="en-US" dirty="0"/>
              <a:t>Training error is lower than </a:t>
            </a:r>
            <a:r>
              <a:rPr lang="el-GR" dirty="0"/>
              <a:t>ε</a:t>
            </a:r>
            <a:endParaRPr lang="en-US" dirty="0"/>
          </a:p>
          <a:p>
            <a:pPr lvl="2"/>
            <a:r>
              <a:rPr lang="en-US" dirty="0"/>
              <a:t>Test error is greater than </a:t>
            </a:r>
            <a:r>
              <a:rPr lang="el-GR" dirty="0"/>
              <a:t>ε</a:t>
            </a:r>
            <a:endParaRPr lang="en-US" dirty="0"/>
          </a:p>
          <a:p>
            <a:pPr lvl="1"/>
            <a:r>
              <a:rPr lang="en-US" dirty="0"/>
              <a:t>Remedies:</a:t>
            </a:r>
          </a:p>
          <a:p>
            <a:pPr lvl="2"/>
            <a:r>
              <a:rPr lang="en-US" dirty="0"/>
              <a:t>Add more training data</a:t>
            </a:r>
          </a:p>
          <a:p>
            <a:pPr lvl="2"/>
            <a:r>
              <a:rPr lang="en-US" dirty="0"/>
              <a:t>Reduce model complexity</a:t>
            </a:r>
          </a:p>
          <a:p>
            <a:pPr lvl="2"/>
            <a:r>
              <a:rPr lang="en-US" dirty="0"/>
              <a:t>Bagging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3B311E93-3466-4BF3-9D7B-50AEBE2A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554" y="4737566"/>
            <a:ext cx="4113446" cy="212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07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1913-DFB1-4A02-A893-5553ECC0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</a:t>
            </a:r>
            <a:r>
              <a:rPr lang="en-US" i="1" dirty="0"/>
              <a:t>tradeoff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47A3B-77B7-4ACD-8EA8-FE7F7A90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Scenario/plan/regime #2 (high bias):</a:t>
            </a:r>
          </a:p>
          <a:p>
            <a:pPr lvl="1"/>
            <a:r>
              <a:rPr lang="en-US" b="1" dirty="0"/>
              <a:t>Bias</a:t>
            </a:r>
            <a:r>
              <a:rPr lang="en-US" dirty="0"/>
              <a:t>: What is the inherent error that you obtain from your classifier even with infinite training data? This is due to your classifier being "biased" to a particular kind of solution (e.g. linear classifier). In other words, bias is inherent to your model.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3B311E93-3466-4BF3-9D7B-50AEBE2A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554" y="4737566"/>
            <a:ext cx="4113446" cy="212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7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1913-DFB1-4A02-A893-5553ECC0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</a:t>
            </a:r>
            <a:r>
              <a:rPr lang="en-US" i="1" dirty="0"/>
              <a:t>tradeoff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47A3B-77B7-4ACD-8EA8-FE7F7A90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Scenario/plan/regime #2 (high bias):</a:t>
            </a:r>
          </a:p>
          <a:p>
            <a:pPr lvl="1"/>
            <a:r>
              <a:rPr lang="en-US" dirty="0"/>
              <a:t>Symptoms (well, symptom):</a:t>
            </a:r>
          </a:p>
          <a:p>
            <a:pPr lvl="2"/>
            <a:r>
              <a:rPr lang="en-US" dirty="0"/>
              <a:t>Training error is higher than </a:t>
            </a:r>
            <a:r>
              <a:rPr lang="el-GR" dirty="0"/>
              <a:t>ε</a:t>
            </a:r>
            <a:endParaRPr lang="en-US" dirty="0"/>
          </a:p>
          <a:p>
            <a:pPr lvl="1"/>
            <a:r>
              <a:rPr lang="en-US" dirty="0"/>
              <a:t>Remedies:</a:t>
            </a:r>
          </a:p>
          <a:p>
            <a:pPr lvl="2"/>
            <a:r>
              <a:rPr lang="en-US" dirty="0"/>
              <a:t>Use a more complex model (say, </a:t>
            </a:r>
            <a:r>
              <a:rPr lang="en-US" i="1" dirty="0"/>
              <a:t>non</a:t>
            </a:r>
            <a:r>
              <a:rPr lang="en-US" dirty="0"/>
              <a:t>-linear regression)</a:t>
            </a:r>
          </a:p>
          <a:p>
            <a:pPr lvl="2"/>
            <a:r>
              <a:rPr lang="en-US" dirty="0"/>
              <a:t>Add features</a:t>
            </a:r>
          </a:p>
          <a:p>
            <a:pPr lvl="2"/>
            <a:r>
              <a:rPr lang="en-US" dirty="0"/>
              <a:t>Boosting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3B311E93-3466-4BF3-9D7B-50AEBE2A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554" y="4737566"/>
            <a:ext cx="4113446" cy="212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50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84F1-38B7-4A8A-8AE4-48E6B615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3D5F-6A96-46C1-8581-584BFBB5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Say you have the following data…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F5E62-1A81-4F72-9664-9D47B48BA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88" y="2371186"/>
            <a:ext cx="6312082" cy="448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18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DF562B-D843-47A8-BADD-BC619C7F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642" y="1975188"/>
            <a:ext cx="6623999" cy="4882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7E84F1-38B7-4A8A-8AE4-48E6B615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3D5F-6A96-46C1-8581-584BFBB5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could fit it like this (0 degree polynomial)…</a:t>
            </a:r>
          </a:p>
        </p:txBody>
      </p:sp>
    </p:spTree>
    <p:extLst>
      <p:ext uri="{BB962C8B-B14F-4D97-AF65-F5344CB8AC3E}">
        <p14:creationId xmlns:p14="http://schemas.microsoft.com/office/powerpoint/2010/main" val="380815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3EE1FE-C198-4A6D-9F6E-09A75B4DF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809" y="1671918"/>
            <a:ext cx="6482603" cy="5186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7E84F1-38B7-4A8A-8AE4-48E6B615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3D5F-6A96-46C1-8581-584BFBB5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 like this (1</a:t>
            </a:r>
            <a:r>
              <a:rPr lang="en-US" baseline="30000" dirty="0"/>
              <a:t>st</a:t>
            </a:r>
            <a:r>
              <a:rPr lang="en-US" dirty="0"/>
              <a:t>)…</a:t>
            </a:r>
          </a:p>
        </p:txBody>
      </p:sp>
    </p:spTree>
    <p:extLst>
      <p:ext uri="{BB962C8B-B14F-4D97-AF65-F5344CB8AC3E}">
        <p14:creationId xmlns:p14="http://schemas.microsoft.com/office/powerpoint/2010/main" val="4079512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49D9A1-8235-401A-9C64-9B8AA5D3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91" y="1837288"/>
            <a:ext cx="6390654" cy="5020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7E84F1-38B7-4A8A-8AE4-48E6B615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3D5F-6A96-46C1-8581-584BFBB5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 like this (3</a:t>
            </a:r>
            <a:r>
              <a:rPr lang="en-US" baseline="30000" dirty="0"/>
              <a:t>rd</a:t>
            </a:r>
            <a:r>
              <a:rPr lang="en-US" dirty="0"/>
              <a:t>)…</a:t>
            </a:r>
          </a:p>
        </p:txBody>
      </p:sp>
    </p:spTree>
    <p:extLst>
      <p:ext uri="{BB962C8B-B14F-4D97-AF65-F5344CB8AC3E}">
        <p14:creationId xmlns:p14="http://schemas.microsoft.com/office/powerpoint/2010/main" val="78233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702F9-9622-41FC-95D4-09450D184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017" y="2306174"/>
            <a:ext cx="5578504" cy="4551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7E84F1-38B7-4A8A-8AE4-48E6B615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3D5F-6A96-46C1-8581-584BFBB5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 like this… (9</a:t>
            </a:r>
            <a:r>
              <a:rPr lang="en-US" baseline="30000" dirty="0"/>
              <a:t>th</a:t>
            </a:r>
            <a:r>
              <a:rPr lang="en-US" dirty="0"/>
              <a:t> degree polynomial)</a:t>
            </a:r>
          </a:p>
        </p:txBody>
      </p:sp>
    </p:spTree>
    <p:extLst>
      <p:ext uri="{BB962C8B-B14F-4D97-AF65-F5344CB8AC3E}">
        <p14:creationId xmlns:p14="http://schemas.microsoft.com/office/powerpoint/2010/main" val="139545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0431-43F2-4E1E-AF7A-5CA9AFFC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vs degree of polynomial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326728-0F74-4834-B258-573A81A17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9891" y="1440888"/>
            <a:ext cx="7592219" cy="534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06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D942-6B57-4ADC-A1B6-913741EC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5C128-5CE5-415E-8D6E-8AE135CD9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if you “fit” your training data too well (if you learn too much), you end up describing your training data </a:t>
            </a:r>
            <a:r>
              <a:rPr lang="en-US" i="1" dirty="0"/>
              <a:t>very</a:t>
            </a:r>
            <a:r>
              <a:rPr lang="en-US" dirty="0"/>
              <a:t> well, but at the cost of not describing your test data at all (“overfitting”)</a:t>
            </a:r>
          </a:p>
          <a:p>
            <a:r>
              <a:rPr lang="en-US" dirty="0"/>
              <a:t>The larger the training data, the less difference there tends to be between the training data and the test data (larger data set helps!)</a:t>
            </a:r>
          </a:p>
          <a:p>
            <a:r>
              <a:rPr lang="en-US" dirty="0"/>
              <a:t>The larger the hypothesis class (the more potential models that you allow), the easier it is to find a model that fits very well (and therefore predisposes you more to overfitting)</a:t>
            </a:r>
          </a:p>
        </p:txBody>
      </p:sp>
    </p:spTree>
    <p:extLst>
      <p:ext uri="{BB962C8B-B14F-4D97-AF65-F5344CB8AC3E}">
        <p14:creationId xmlns:p14="http://schemas.microsoft.com/office/powerpoint/2010/main" val="4084958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66E3-FEC6-4DF8-A61B-A8CADC05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 many possible models (hypotheses)?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C0A71-FCD3-4AAA-8B8E-387A991F5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larger the hypothesis class (the more potential models that you allow), the easier it is to find a model that fits very well (and therefore predisposes you more to overfitting)</a:t>
            </a:r>
          </a:p>
          <a:p>
            <a:r>
              <a:rPr lang="en-US" dirty="0"/>
              <a:t>Therefore, it often is not best to just learn from the data as we did with MLE, but to incorporate prior knowledge, as we did with Bayesian inference</a:t>
            </a:r>
          </a:p>
          <a:p>
            <a:pPr lvl="1"/>
            <a:r>
              <a:rPr lang="en-US" dirty="0"/>
              <a:t>But this can be overcome with more data!  And is a </a:t>
            </a:r>
            <a:r>
              <a:rPr lang="en-US" i="1" dirty="0"/>
              <a:t>good strategy</a:t>
            </a:r>
            <a:r>
              <a:rPr lang="en-US" dirty="0"/>
              <a:t> </a:t>
            </a:r>
            <a:r>
              <a:rPr lang="en-US" b="1" u="sng" dirty="0"/>
              <a:t>if you have no reliable prior knowledge</a:t>
            </a:r>
          </a:p>
          <a:p>
            <a:pPr lvl="1"/>
            <a:r>
              <a:rPr lang="en-US" dirty="0"/>
              <a:t>But throwing out useless hypotheses is always a good idea</a:t>
            </a:r>
          </a:p>
        </p:txBody>
      </p:sp>
    </p:spTree>
    <p:extLst>
      <p:ext uri="{BB962C8B-B14F-4D97-AF65-F5344CB8AC3E}">
        <p14:creationId xmlns:p14="http://schemas.microsoft.com/office/powerpoint/2010/main" val="4086156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AA70-20CC-48DA-BD11-87ED8C94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knowledge vs data?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A7A4D4-BF56-49AE-A944-2BDF8BAB3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start by looking at the extremes:</a:t>
            </a:r>
          </a:p>
          <a:p>
            <a:pPr lvl="1"/>
            <a:r>
              <a:rPr lang="en-US" dirty="0"/>
              <a:t>“Perfect” prior knowledge – you don’t need data, your model is equal to the true underlying distribution</a:t>
            </a:r>
          </a:p>
          <a:p>
            <a:pPr lvl="1"/>
            <a:r>
              <a:rPr lang="en-US" dirty="0"/>
              <a:t>“Perfect” data – you have infinite data, so your data </a:t>
            </a:r>
            <a:r>
              <a:rPr lang="en-US" i="1" dirty="0"/>
              <a:t>is</a:t>
            </a:r>
            <a:r>
              <a:rPr lang="en-US" dirty="0"/>
              <a:t> the underlying distribution</a:t>
            </a:r>
          </a:p>
          <a:p>
            <a:pPr lvl="1"/>
            <a:endParaRPr lang="en-US" dirty="0"/>
          </a:p>
          <a:p>
            <a:r>
              <a:rPr lang="en-US" dirty="0"/>
              <a:t>Practical scenarios: finite data, H, actual model function f</a:t>
            </a:r>
            <a:r>
              <a:rPr lang="en-US" baseline="30000" dirty="0"/>
              <a:t>*</a:t>
            </a:r>
            <a:r>
              <a:rPr lang="en-US" dirty="0"/>
              <a:t> (you don’t know this)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916582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D384-A774-4401-9204-DC20D9DA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baseline="30000" dirty="0"/>
              <a:t>*</a:t>
            </a:r>
            <a:r>
              <a:rPr lang="en-US" dirty="0"/>
              <a:t> in or not in 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C32F6D-A057-4FFA-81B0-5F5F11A35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5581" y="1825625"/>
            <a:ext cx="8960837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97C471-6187-4D57-A4A7-0E29491713C6}"/>
              </a:ext>
            </a:extLst>
          </p:cNvPr>
          <p:cNvSpPr txBox="1"/>
          <p:nvPr/>
        </p:nvSpPr>
        <p:spPr>
          <a:xfrm>
            <a:off x="0" y="615875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As you get more data, H</a:t>
            </a:r>
            <a:r>
              <a:rPr lang="en-US" sz="2400" baseline="-25000" dirty="0"/>
              <a:t>1</a:t>
            </a:r>
            <a:r>
              <a:rPr lang="en-US" sz="2400" dirty="0"/>
              <a:t> becomes H</a:t>
            </a:r>
            <a:r>
              <a:rPr lang="en-US" sz="2400" baseline="-25000" dirty="0"/>
              <a:t>2</a:t>
            </a:r>
            <a:r>
              <a:rPr lang="en-US" sz="2400" dirty="0"/>
              <a:t> and is more likely to encompass the actual model f</a:t>
            </a:r>
            <a:r>
              <a:rPr lang="en-US" sz="2400" baseline="300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458048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DDAA-9B26-402E-B3EA-C5C11DB4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knowledge vs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63CDF-7609-4CF0-B761-47D4CD3E5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scenarios lie between the two extreme cases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FD9F5-F437-41D8-AA7E-18FADD841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3970"/>
            <a:ext cx="12192000" cy="108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02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DDAA-9B26-402E-B3EA-C5C11DB4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knowledge vs data?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851566-B834-4554-8066-C8CFCF422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915" y="1367118"/>
            <a:ext cx="10984170" cy="545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90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8C79-5BDA-4189-97A8-853AC9C4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45090-21D6-4C7D-827D-EF9AFBBAD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select optimal capacity, for example, the best degree for polynomial curve fitting?</a:t>
            </a:r>
          </a:p>
          <a:p>
            <a:endParaRPr lang="en-US" dirty="0"/>
          </a:p>
          <a:p>
            <a:r>
              <a:rPr lang="en-US" dirty="0"/>
              <a:t>Cannot be done by training data alone (it will always look better to just overfit)</a:t>
            </a:r>
          </a:p>
          <a:p>
            <a:endParaRPr lang="en-US" dirty="0"/>
          </a:p>
          <a:p>
            <a:r>
              <a:rPr lang="en-US" dirty="0"/>
              <a:t>Solution is simple and easy to understand – </a:t>
            </a:r>
            <a:r>
              <a:rPr lang="en-US" dirty="0">
                <a:solidFill>
                  <a:srgbClr val="00B0F0"/>
                </a:solidFill>
              </a:rPr>
              <a:t>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1842527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2C43-D6C6-411F-9208-4814C4E09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6331B-A9C1-45E4-A6B0-656CA45F4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 your training data into several groups (number of groups varies, but usually at least 3)</a:t>
            </a:r>
          </a:p>
          <a:p>
            <a:endParaRPr lang="en-US" dirty="0"/>
          </a:p>
          <a:p>
            <a:r>
              <a:rPr lang="en-US" dirty="0"/>
              <a:t>Run your machine learning algorithm using all of the training data except for one of these groups</a:t>
            </a:r>
          </a:p>
          <a:p>
            <a:endParaRPr lang="en-US" dirty="0"/>
          </a:p>
          <a:p>
            <a:r>
              <a:rPr lang="en-US" dirty="0"/>
              <a:t>Then use the group that you left out as the “test set”</a:t>
            </a:r>
          </a:p>
          <a:p>
            <a:endParaRPr lang="en-US" dirty="0"/>
          </a:p>
          <a:p>
            <a:r>
              <a:rPr lang="en-US" dirty="0"/>
              <a:t>Then repeat but with a different group left out, etc., etc.</a:t>
            </a:r>
          </a:p>
        </p:txBody>
      </p:sp>
    </p:spTree>
    <p:extLst>
      <p:ext uri="{BB962C8B-B14F-4D97-AF65-F5344CB8AC3E}">
        <p14:creationId xmlns:p14="http://schemas.microsoft.com/office/powerpoint/2010/main" val="2082663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D263-F0DF-4A4C-A818-E1764D0D8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0B68-1FE1-4D7A-B6FC-26C5838DD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learn (many) other methods for dealing with how well models are working, but cross validation:</a:t>
            </a:r>
          </a:p>
          <a:p>
            <a:pPr lvl="1"/>
            <a:r>
              <a:rPr lang="en-US" dirty="0"/>
              <a:t>Is general (you can almost always partition training data)</a:t>
            </a:r>
          </a:p>
          <a:p>
            <a:pPr lvl="1"/>
            <a:r>
              <a:rPr lang="en-US" dirty="0"/>
              <a:t>Is simple</a:t>
            </a:r>
          </a:p>
          <a:p>
            <a:r>
              <a:rPr lang="en-US" dirty="0"/>
              <a:t>But…</a:t>
            </a:r>
          </a:p>
          <a:p>
            <a:pPr lvl="1"/>
            <a:r>
              <a:rPr lang="en-US" dirty="0"/>
              <a:t>Is computationally expensive, especially when there are a lot of parameters to learn</a:t>
            </a:r>
          </a:p>
        </p:txBody>
      </p:sp>
    </p:spTree>
    <p:extLst>
      <p:ext uri="{BB962C8B-B14F-4D97-AF65-F5344CB8AC3E}">
        <p14:creationId xmlns:p14="http://schemas.microsoft.com/office/powerpoint/2010/main" val="626102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879</Words>
  <Application>Microsoft Office PowerPoint</Application>
  <PresentationFormat>Widescreen</PresentationFormat>
  <Paragraphs>82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Lecture 6: Regression &amp; Overfitting</vt:lpstr>
      <vt:lpstr>Bias-variance tradeoff</vt:lpstr>
      <vt:lpstr>Bias-variance tradeoff</vt:lpstr>
      <vt:lpstr>Bias-variance tradeoff</vt:lpstr>
      <vt:lpstr>Bias-variance tradeoff</vt:lpstr>
      <vt:lpstr>Bias-variance tradeoff</vt:lpstr>
      <vt:lpstr>Bias-variance tradeoff</vt:lpstr>
      <vt:lpstr>Bias-variance tradeoff</vt:lpstr>
      <vt:lpstr>Overfitting</vt:lpstr>
      <vt:lpstr>Overfitting</vt:lpstr>
      <vt:lpstr>Overfitting</vt:lpstr>
      <vt:lpstr>Overfitting</vt:lpstr>
      <vt:lpstr>Overfitting</vt:lpstr>
      <vt:lpstr>Error vs degree of polynomial</vt:lpstr>
      <vt:lpstr>Recap</vt:lpstr>
      <vt:lpstr>Too many possible models (hypotheses)?</vt:lpstr>
      <vt:lpstr>Prior knowledge vs data?</vt:lpstr>
      <vt:lpstr>f* in or not in H</vt:lpstr>
      <vt:lpstr>Prior knowledge vs data?</vt:lpstr>
      <vt:lpstr>Prior knowledge vs data?</vt:lpstr>
      <vt:lpstr>Optimal capacity</vt:lpstr>
      <vt:lpstr>Cross validation</vt:lpstr>
      <vt:lpstr>Cross validation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Regression &amp; Overfitting</dc:title>
  <dc:creator>Stephen M Douglass</dc:creator>
  <cp:lastModifiedBy>Stephen M Douglass</cp:lastModifiedBy>
  <cp:revision>31</cp:revision>
  <dcterms:created xsi:type="dcterms:W3CDTF">2020-01-26T22:01:27Z</dcterms:created>
  <dcterms:modified xsi:type="dcterms:W3CDTF">2021-09-21T15:30:04Z</dcterms:modified>
</cp:coreProperties>
</file>