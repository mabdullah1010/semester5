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32" autoAdjust="0"/>
    <p:restoredTop sz="94660"/>
  </p:normalViewPr>
  <p:slideViewPr>
    <p:cSldViewPr snapToGrid="0">
      <p:cViewPr varScale="1">
        <p:scale>
          <a:sx n="85" d="100"/>
          <a:sy n="85" d="100"/>
        </p:scale>
        <p:origin x="586"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B64BB-ECAB-47AF-AD71-29CA005ECD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AB0E01-A92F-450E-A9F7-AC34C17CA9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7A2731-F7B3-4FDB-9A34-358D87897123}"/>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5" name="Footer Placeholder 4">
            <a:extLst>
              <a:ext uri="{FF2B5EF4-FFF2-40B4-BE49-F238E27FC236}">
                <a16:creationId xmlns:a16="http://schemas.microsoft.com/office/drawing/2014/main" id="{F1CE3CED-A8D0-45C8-A640-D9C56F6AD8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196AD6-CA07-4ED6-AC6A-2B9D1170252B}"/>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3666971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200B4-7B2C-488C-8B10-91D92FC1C1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55DB2E-96EE-43A4-A2CA-738A2C313A5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19BA0-6449-47E0-B4B9-0A446BE306AB}"/>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5" name="Footer Placeholder 4">
            <a:extLst>
              <a:ext uri="{FF2B5EF4-FFF2-40B4-BE49-F238E27FC236}">
                <a16:creationId xmlns:a16="http://schemas.microsoft.com/office/drawing/2014/main" id="{9F480180-00C9-424B-999E-580AF3775A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5A9DBD-6B88-43C3-9DE3-455466D91677}"/>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2850023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AD73-0D3E-46A0-8786-D281BCB4A9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4CE7AB-D873-405F-9D49-BC21043949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8A36E42-4357-4DCC-9AC9-AE7DF512D934}"/>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5" name="Footer Placeholder 4">
            <a:extLst>
              <a:ext uri="{FF2B5EF4-FFF2-40B4-BE49-F238E27FC236}">
                <a16:creationId xmlns:a16="http://schemas.microsoft.com/office/drawing/2014/main" id="{A584877E-0311-4FF7-BDCC-4064FFDB1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10D958-4176-4076-8CF0-3B3207604B98}"/>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133607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27AB-067D-4427-AF80-985D4EFA54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93BC9C-E79E-4E6A-817E-1AAA56B07B5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A40AB6-562A-4D73-9E25-14D3624782A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E4789F-E49F-4C35-A815-B60A7074F953}"/>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6" name="Footer Placeholder 5">
            <a:extLst>
              <a:ext uri="{FF2B5EF4-FFF2-40B4-BE49-F238E27FC236}">
                <a16:creationId xmlns:a16="http://schemas.microsoft.com/office/drawing/2014/main" id="{14CC5D5A-6420-4745-8A30-77FAC26990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A6D516-8F04-4147-AB8B-682EDCE9E95A}"/>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1216135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23AE-506E-494A-9DB5-D19F4FE6A5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053585-D0B4-46CC-BAE1-83A7678091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BB3B12-C388-4B56-ACED-0D898291A1B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3756FD-CC87-4025-ABD7-2C1326CAD1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2C1D07-62F9-4E54-BD49-4995C7B3A4D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DD0501-E854-49D0-8683-92F79D4EAF21}"/>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8" name="Footer Placeholder 7">
            <a:extLst>
              <a:ext uri="{FF2B5EF4-FFF2-40B4-BE49-F238E27FC236}">
                <a16:creationId xmlns:a16="http://schemas.microsoft.com/office/drawing/2014/main" id="{90ED1DB8-FC42-49ED-A8CC-D9DBB72876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DEBE48-7742-41FC-8C36-D9923E4335F9}"/>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1057520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DAECE-3841-4486-8AC6-B065848808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63CCF6-1DF4-45F7-9FC6-B24E6D6557E0}"/>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4" name="Footer Placeholder 3">
            <a:extLst>
              <a:ext uri="{FF2B5EF4-FFF2-40B4-BE49-F238E27FC236}">
                <a16:creationId xmlns:a16="http://schemas.microsoft.com/office/drawing/2014/main" id="{13303997-861B-4E3C-899E-AF1CFECEC25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401F32-987E-4E0A-8953-29052B604818}"/>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2243798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979CB3-ACBA-4CAC-A827-8E20D5F11721}"/>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3" name="Footer Placeholder 2">
            <a:extLst>
              <a:ext uri="{FF2B5EF4-FFF2-40B4-BE49-F238E27FC236}">
                <a16:creationId xmlns:a16="http://schemas.microsoft.com/office/drawing/2014/main" id="{12273896-F4E3-456C-A7DB-61641103BB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7BD128-2CB9-4F78-A8F7-7B20D8DC98B1}"/>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701253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02D89-E540-4BE5-AFC1-F75A6A6D3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AFE371-DF4E-4F6D-BE78-BF1127072B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E30449-07A0-44BB-8EC1-9F7F02A8C5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9995F55-DC8B-4B50-AA97-0B6F02C3C499}"/>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6" name="Footer Placeholder 5">
            <a:extLst>
              <a:ext uri="{FF2B5EF4-FFF2-40B4-BE49-F238E27FC236}">
                <a16:creationId xmlns:a16="http://schemas.microsoft.com/office/drawing/2014/main" id="{B479D933-FD40-4A3A-9415-8212ABBC5D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407C76-0F1A-4261-BAA9-65ADF24F3D7D}"/>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309233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6C3D9-D86B-487E-B019-297EC6FC8B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8D1A95-3A03-4E61-9709-FCD8ED704B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AA3BA0-B194-451F-AC61-D2B41BCD5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19BDF5-C47B-4356-96F5-BD02DDA02628}"/>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6" name="Footer Placeholder 5">
            <a:extLst>
              <a:ext uri="{FF2B5EF4-FFF2-40B4-BE49-F238E27FC236}">
                <a16:creationId xmlns:a16="http://schemas.microsoft.com/office/drawing/2014/main" id="{B02D52B5-C2A1-4D65-BDCD-72CDA7C0D0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3115B-72BD-4953-BF81-9898C2C23C98}"/>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73956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CDCF-7619-4901-AB86-4E5A85EE5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3FCF45-B4A6-40BB-A3EB-DE41AFFA08A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17DA9A-F4A7-47B5-8D73-2EBA0DBB3E56}"/>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5" name="Footer Placeholder 4">
            <a:extLst>
              <a:ext uri="{FF2B5EF4-FFF2-40B4-BE49-F238E27FC236}">
                <a16:creationId xmlns:a16="http://schemas.microsoft.com/office/drawing/2014/main" id="{6F61A0D1-E329-4911-8749-1C5F3517C0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10FE1-0887-4DED-9B3D-4DC48BCF653B}"/>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3050085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2B4CE5-B246-45F9-8768-5CF1DDDE6B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778625-779B-4A37-B671-F3A952AD365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B50785-7AFD-4330-A372-F7A185B2E195}"/>
              </a:ext>
            </a:extLst>
          </p:cNvPr>
          <p:cNvSpPr>
            <a:spLocks noGrp="1"/>
          </p:cNvSpPr>
          <p:nvPr>
            <p:ph type="dt" sz="half" idx="10"/>
          </p:nvPr>
        </p:nvSpPr>
        <p:spPr/>
        <p:txBody>
          <a:bodyPr/>
          <a:lstStyle/>
          <a:p>
            <a:fld id="{D0C6A5A3-908F-4F6A-A672-FA07D6A21068}" type="datetimeFigureOut">
              <a:rPr lang="en-US" smtClean="0"/>
              <a:t>2/9/2020</a:t>
            </a:fld>
            <a:endParaRPr lang="en-US"/>
          </a:p>
        </p:txBody>
      </p:sp>
      <p:sp>
        <p:nvSpPr>
          <p:cNvPr id="5" name="Footer Placeholder 4">
            <a:extLst>
              <a:ext uri="{FF2B5EF4-FFF2-40B4-BE49-F238E27FC236}">
                <a16:creationId xmlns:a16="http://schemas.microsoft.com/office/drawing/2014/main" id="{9284FFEA-FFDA-443E-ABA0-C8FECFED2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FA7B3-B724-49A0-8B73-0A7C165D701D}"/>
              </a:ext>
            </a:extLst>
          </p:cNvPr>
          <p:cNvSpPr>
            <a:spLocks noGrp="1"/>
          </p:cNvSpPr>
          <p:nvPr>
            <p:ph type="sldNum" sz="quarter" idx="12"/>
          </p:nvPr>
        </p:nvSpPr>
        <p:spPr/>
        <p:txBody>
          <a:bodyPr/>
          <a:lstStyle/>
          <a:p>
            <a:fld id="{A15EBB2B-E486-4408-B3A8-1FFEE7671EF8}" type="slidenum">
              <a:rPr lang="en-US" smtClean="0"/>
              <a:t>‹#›</a:t>
            </a:fld>
            <a:endParaRPr lang="en-US"/>
          </a:p>
        </p:txBody>
      </p:sp>
    </p:spTree>
    <p:extLst>
      <p:ext uri="{BB962C8B-B14F-4D97-AF65-F5344CB8AC3E}">
        <p14:creationId xmlns:p14="http://schemas.microsoft.com/office/powerpoint/2010/main" val="2177775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02A404-8515-4BD3-97D8-5C3FECF42D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6FA73E-E7AA-4C54-B81D-04DC946CC3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D748F-5205-42D3-B8D0-C176006C07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C6A5A3-908F-4F6A-A672-FA07D6A21068}" type="datetimeFigureOut">
              <a:rPr lang="en-US" smtClean="0"/>
              <a:t>2/9/2020</a:t>
            </a:fld>
            <a:endParaRPr lang="en-US"/>
          </a:p>
        </p:txBody>
      </p:sp>
      <p:sp>
        <p:nvSpPr>
          <p:cNvPr id="5" name="Footer Placeholder 4">
            <a:extLst>
              <a:ext uri="{FF2B5EF4-FFF2-40B4-BE49-F238E27FC236}">
                <a16:creationId xmlns:a16="http://schemas.microsoft.com/office/drawing/2014/main" id="{09A8855E-0243-4C5F-B07B-17A9392591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DCD0BB-8247-489B-902B-6911AC225D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5EBB2B-E486-4408-B3A8-1FFEE7671EF8}" type="slidenum">
              <a:rPr lang="en-US" smtClean="0"/>
              <a:t>‹#›</a:t>
            </a:fld>
            <a:endParaRPr lang="en-US"/>
          </a:p>
        </p:txBody>
      </p:sp>
    </p:spTree>
    <p:extLst>
      <p:ext uri="{BB962C8B-B14F-4D97-AF65-F5344CB8AC3E}">
        <p14:creationId xmlns:p14="http://schemas.microsoft.com/office/powerpoint/2010/main" val="1211549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30F86D-4B44-4DB1-93FD-37CE3241A13F}"/>
              </a:ext>
            </a:extLst>
          </p:cNvPr>
          <p:cNvSpPr>
            <a:spLocks noGrp="1"/>
          </p:cNvSpPr>
          <p:nvPr>
            <p:ph type="ctrTitle"/>
          </p:nvPr>
        </p:nvSpPr>
        <p:spPr>
          <a:xfrm>
            <a:off x="0" y="0"/>
            <a:ext cx="12192000" cy="1600200"/>
          </a:xfrm>
        </p:spPr>
        <p:txBody>
          <a:bodyPr anchor="ctr">
            <a:normAutofit/>
          </a:bodyPr>
          <a:lstStyle/>
          <a:p>
            <a:r>
              <a:rPr lang="en-US" dirty="0"/>
              <a:t>Lecture 12: Local Methods &amp; Kernels</a:t>
            </a:r>
          </a:p>
        </p:txBody>
      </p:sp>
    </p:spTree>
    <p:extLst>
      <p:ext uri="{BB962C8B-B14F-4D97-AF65-F5344CB8AC3E}">
        <p14:creationId xmlns:p14="http://schemas.microsoft.com/office/powerpoint/2010/main" val="25478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4CCC4-D92F-466F-8774-2BC5FE788952}"/>
              </a:ext>
            </a:extLst>
          </p:cNvPr>
          <p:cNvSpPr>
            <a:spLocks noGrp="1"/>
          </p:cNvSpPr>
          <p:nvPr>
            <p:ph type="title"/>
          </p:nvPr>
        </p:nvSpPr>
        <p:spPr/>
        <p:txBody>
          <a:bodyPr/>
          <a:lstStyle/>
          <a:p>
            <a:r>
              <a:rPr lang="en-US" dirty="0"/>
              <a:t>Nearest neighbor methods</a:t>
            </a:r>
          </a:p>
        </p:txBody>
      </p:sp>
      <p:sp>
        <p:nvSpPr>
          <p:cNvPr id="3" name="Content Placeholder 2">
            <a:extLst>
              <a:ext uri="{FF2B5EF4-FFF2-40B4-BE49-F238E27FC236}">
                <a16:creationId xmlns:a16="http://schemas.microsoft.com/office/drawing/2014/main" id="{394C45E0-3EFC-4CB3-BCBF-4987F7B04DE7}"/>
              </a:ext>
            </a:extLst>
          </p:cNvPr>
          <p:cNvSpPr>
            <a:spLocks noGrp="1"/>
          </p:cNvSpPr>
          <p:nvPr>
            <p:ph idx="1"/>
          </p:nvPr>
        </p:nvSpPr>
        <p:spPr/>
        <p:txBody>
          <a:bodyPr/>
          <a:lstStyle/>
          <a:p>
            <a:r>
              <a:rPr lang="en-US" dirty="0"/>
              <a:t>Imagine that you have points on an axis, and you want to categorize a new point (a piece of test data)</a:t>
            </a:r>
          </a:p>
          <a:p>
            <a:pPr lvl="1"/>
            <a:r>
              <a:rPr lang="en-US" dirty="0"/>
              <a:t>One strategy could just be: what data point are you closest to?  Well, then, you have the same category as that point</a:t>
            </a:r>
          </a:p>
        </p:txBody>
      </p:sp>
    </p:spTree>
    <p:extLst>
      <p:ext uri="{BB962C8B-B14F-4D97-AF65-F5344CB8AC3E}">
        <p14:creationId xmlns:p14="http://schemas.microsoft.com/office/powerpoint/2010/main" val="3568866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15EC-9A69-4237-B3BA-EC2D90DC2BE2}"/>
              </a:ext>
            </a:extLst>
          </p:cNvPr>
          <p:cNvSpPr>
            <a:spLocks noGrp="1"/>
          </p:cNvSpPr>
          <p:nvPr>
            <p:ph type="title"/>
          </p:nvPr>
        </p:nvSpPr>
        <p:spPr/>
        <p:txBody>
          <a:bodyPr/>
          <a:lstStyle/>
          <a:p>
            <a:r>
              <a:rPr lang="en-US" dirty="0"/>
              <a:t>Classification data: Bayes classifier</a:t>
            </a:r>
          </a:p>
        </p:txBody>
      </p:sp>
      <p:pic>
        <p:nvPicPr>
          <p:cNvPr id="4" name="Content Placeholder 3">
            <a:extLst>
              <a:ext uri="{FF2B5EF4-FFF2-40B4-BE49-F238E27FC236}">
                <a16:creationId xmlns:a16="http://schemas.microsoft.com/office/drawing/2014/main" id="{16519531-48BE-4B0C-BB75-2142B96B2DC9}"/>
              </a:ext>
            </a:extLst>
          </p:cNvPr>
          <p:cNvPicPr>
            <a:picLocks noGrp="1" noChangeAspect="1"/>
          </p:cNvPicPr>
          <p:nvPr>
            <p:ph idx="1"/>
          </p:nvPr>
        </p:nvPicPr>
        <p:blipFill>
          <a:blip r:embed="rId2"/>
          <a:stretch>
            <a:fillRect/>
          </a:stretch>
        </p:blipFill>
        <p:spPr>
          <a:xfrm>
            <a:off x="1233848" y="1376082"/>
            <a:ext cx="9724305" cy="5401235"/>
          </a:xfrm>
          <a:prstGeom prst="rect">
            <a:avLst/>
          </a:prstGeom>
        </p:spPr>
      </p:pic>
    </p:spTree>
    <p:extLst>
      <p:ext uri="{BB962C8B-B14F-4D97-AF65-F5344CB8AC3E}">
        <p14:creationId xmlns:p14="http://schemas.microsoft.com/office/powerpoint/2010/main" val="2790019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D434-1EF4-44B8-81FA-165B1463F2F8}"/>
              </a:ext>
            </a:extLst>
          </p:cNvPr>
          <p:cNvSpPr>
            <a:spLocks noGrp="1"/>
          </p:cNvSpPr>
          <p:nvPr>
            <p:ph type="title"/>
          </p:nvPr>
        </p:nvSpPr>
        <p:spPr/>
        <p:txBody>
          <a:bodyPr/>
          <a:lstStyle/>
          <a:p>
            <a:r>
              <a:rPr lang="en-US" dirty="0"/>
              <a:t>Classification data: linear decision boundary</a:t>
            </a:r>
          </a:p>
        </p:txBody>
      </p:sp>
      <p:pic>
        <p:nvPicPr>
          <p:cNvPr id="4" name="Content Placeholder 3">
            <a:extLst>
              <a:ext uri="{FF2B5EF4-FFF2-40B4-BE49-F238E27FC236}">
                <a16:creationId xmlns:a16="http://schemas.microsoft.com/office/drawing/2014/main" id="{BDCEE181-EBF8-46A4-A53B-8D560201C2D1}"/>
              </a:ext>
            </a:extLst>
          </p:cNvPr>
          <p:cNvPicPr>
            <a:picLocks noGrp="1" noChangeAspect="1"/>
          </p:cNvPicPr>
          <p:nvPr>
            <p:ph idx="1"/>
          </p:nvPr>
        </p:nvPicPr>
        <p:blipFill>
          <a:blip r:embed="rId2"/>
          <a:stretch>
            <a:fillRect/>
          </a:stretch>
        </p:blipFill>
        <p:spPr>
          <a:xfrm>
            <a:off x="1568824" y="1547141"/>
            <a:ext cx="9054353" cy="5276950"/>
          </a:xfrm>
          <a:prstGeom prst="rect">
            <a:avLst/>
          </a:prstGeom>
        </p:spPr>
      </p:pic>
    </p:spTree>
    <p:extLst>
      <p:ext uri="{BB962C8B-B14F-4D97-AF65-F5344CB8AC3E}">
        <p14:creationId xmlns:p14="http://schemas.microsoft.com/office/powerpoint/2010/main" val="1484768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74CE4-6FBD-4EB4-B53B-06B3F17CA301}"/>
              </a:ext>
            </a:extLst>
          </p:cNvPr>
          <p:cNvSpPr>
            <a:spLocks noGrp="1"/>
          </p:cNvSpPr>
          <p:nvPr>
            <p:ph type="title"/>
          </p:nvPr>
        </p:nvSpPr>
        <p:spPr/>
        <p:txBody>
          <a:bodyPr/>
          <a:lstStyle/>
          <a:p>
            <a:r>
              <a:rPr lang="en-US" dirty="0"/>
              <a:t>15 nearest neighbor boundary</a:t>
            </a:r>
          </a:p>
        </p:txBody>
      </p:sp>
      <p:pic>
        <p:nvPicPr>
          <p:cNvPr id="5" name="Picture 4">
            <a:extLst>
              <a:ext uri="{FF2B5EF4-FFF2-40B4-BE49-F238E27FC236}">
                <a16:creationId xmlns:a16="http://schemas.microsoft.com/office/drawing/2014/main" id="{61C5A578-2FE1-4BEF-ACBE-E0BA1DFF5D78}"/>
              </a:ext>
            </a:extLst>
          </p:cNvPr>
          <p:cNvPicPr>
            <a:picLocks noChangeAspect="1"/>
          </p:cNvPicPr>
          <p:nvPr/>
        </p:nvPicPr>
        <p:blipFill>
          <a:blip r:embed="rId2"/>
          <a:stretch>
            <a:fillRect/>
          </a:stretch>
        </p:blipFill>
        <p:spPr>
          <a:xfrm>
            <a:off x="1378324" y="1477299"/>
            <a:ext cx="9435353" cy="5299236"/>
          </a:xfrm>
          <a:prstGeom prst="rect">
            <a:avLst/>
          </a:prstGeom>
        </p:spPr>
      </p:pic>
    </p:spTree>
    <p:extLst>
      <p:ext uri="{BB962C8B-B14F-4D97-AF65-F5344CB8AC3E}">
        <p14:creationId xmlns:p14="http://schemas.microsoft.com/office/powerpoint/2010/main" val="1633377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74CE4-6FBD-4EB4-B53B-06B3F17CA301}"/>
              </a:ext>
            </a:extLst>
          </p:cNvPr>
          <p:cNvSpPr>
            <a:spLocks noGrp="1"/>
          </p:cNvSpPr>
          <p:nvPr>
            <p:ph type="title"/>
          </p:nvPr>
        </p:nvSpPr>
        <p:spPr/>
        <p:txBody>
          <a:bodyPr/>
          <a:lstStyle/>
          <a:p>
            <a:r>
              <a:rPr lang="en-US" dirty="0"/>
              <a:t>1 nearest neighbor boundary</a:t>
            </a:r>
          </a:p>
        </p:txBody>
      </p:sp>
      <p:pic>
        <p:nvPicPr>
          <p:cNvPr id="3" name="Picture 2">
            <a:extLst>
              <a:ext uri="{FF2B5EF4-FFF2-40B4-BE49-F238E27FC236}">
                <a16:creationId xmlns:a16="http://schemas.microsoft.com/office/drawing/2014/main" id="{33740834-36F5-4F57-98BB-FE8D38DCDA7E}"/>
              </a:ext>
            </a:extLst>
          </p:cNvPr>
          <p:cNvPicPr>
            <a:picLocks noChangeAspect="1"/>
          </p:cNvPicPr>
          <p:nvPr/>
        </p:nvPicPr>
        <p:blipFill>
          <a:blip r:embed="rId2"/>
          <a:stretch>
            <a:fillRect/>
          </a:stretch>
        </p:blipFill>
        <p:spPr>
          <a:xfrm>
            <a:off x="1547024" y="1583001"/>
            <a:ext cx="9097953" cy="5230175"/>
          </a:xfrm>
          <a:prstGeom prst="rect">
            <a:avLst/>
          </a:prstGeom>
        </p:spPr>
      </p:pic>
    </p:spTree>
    <p:extLst>
      <p:ext uri="{BB962C8B-B14F-4D97-AF65-F5344CB8AC3E}">
        <p14:creationId xmlns:p14="http://schemas.microsoft.com/office/powerpoint/2010/main" val="2490278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39B36-ADBA-4576-84A3-A926571A256E}"/>
              </a:ext>
            </a:extLst>
          </p:cNvPr>
          <p:cNvSpPr>
            <a:spLocks noGrp="1"/>
          </p:cNvSpPr>
          <p:nvPr>
            <p:ph type="title"/>
          </p:nvPr>
        </p:nvSpPr>
        <p:spPr/>
        <p:txBody>
          <a:bodyPr/>
          <a:lstStyle/>
          <a:p>
            <a:r>
              <a:rPr lang="en-US" dirty="0"/>
              <a:t>Nearest neighbor</a:t>
            </a:r>
          </a:p>
        </p:txBody>
      </p:sp>
      <p:sp>
        <p:nvSpPr>
          <p:cNvPr id="3" name="Content Placeholder 2">
            <a:extLst>
              <a:ext uri="{FF2B5EF4-FFF2-40B4-BE49-F238E27FC236}">
                <a16:creationId xmlns:a16="http://schemas.microsoft.com/office/drawing/2014/main" id="{59D6E6E2-9E92-4533-955A-B2C18AA27284}"/>
              </a:ext>
            </a:extLst>
          </p:cNvPr>
          <p:cNvSpPr>
            <a:spLocks noGrp="1"/>
          </p:cNvSpPr>
          <p:nvPr>
            <p:ph idx="1"/>
          </p:nvPr>
        </p:nvSpPr>
        <p:spPr/>
        <p:txBody>
          <a:bodyPr/>
          <a:lstStyle/>
          <a:p>
            <a:r>
              <a:rPr lang="en-US" dirty="0"/>
              <a:t>Nearest neighbor has tradeoffs (pros and cons)</a:t>
            </a:r>
          </a:p>
          <a:p>
            <a:pPr marL="0" indent="0" algn="ctr">
              <a:buNone/>
            </a:pPr>
            <a:endParaRPr lang="en-US" dirty="0"/>
          </a:p>
          <a:p>
            <a:pPr marL="0" indent="0" algn="ctr">
              <a:buNone/>
            </a:pPr>
            <a:endParaRPr lang="en-US" dirty="0"/>
          </a:p>
          <a:p>
            <a:r>
              <a:rPr lang="en-US" dirty="0"/>
              <a:t>And a decision point: we looked at 15 vs 1 nearest neighbor—what’s the difference and what’s the “best” number to use (if such a thing exists)</a:t>
            </a:r>
          </a:p>
        </p:txBody>
      </p:sp>
    </p:spTree>
    <p:extLst>
      <p:ext uri="{BB962C8B-B14F-4D97-AF65-F5344CB8AC3E}">
        <p14:creationId xmlns:p14="http://schemas.microsoft.com/office/powerpoint/2010/main" val="3207645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C203F-BA37-4C02-B81E-21FF7CAD60E3}"/>
              </a:ext>
            </a:extLst>
          </p:cNvPr>
          <p:cNvSpPr>
            <a:spLocks noGrp="1"/>
          </p:cNvSpPr>
          <p:nvPr>
            <p:ph type="title"/>
          </p:nvPr>
        </p:nvSpPr>
        <p:spPr/>
        <p:txBody>
          <a:bodyPr/>
          <a:lstStyle/>
          <a:p>
            <a:r>
              <a:rPr lang="en-US" dirty="0"/>
              <a:t>k-nearest neighbor &amp; error</a:t>
            </a:r>
          </a:p>
        </p:txBody>
      </p:sp>
      <p:pic>
        <p:nvPicPr>
          <p:cNvPr id="4" name="Content Placeholder 3">
            <a:extLst>
              <a:ext uri="{FF2B5EF4-FFF2-40B4-BE49-F238E27FC236}">
                <a16:creationId xmlns:a16="http://schemas.microsoft.com/office/drawing/2014/main" id="{64F85044-CA8D-4D9D-9178-F821553D8939}"/>
              </a:ext>
            </a:extLst>
          </p:cNvPr>
          <p:cNvPicPr>
            <a:picLocks noGrp="1" noChangeAspect="1"/>
          </p:cNvPicPr>
          <p:nvPr>
            <p:ph idx="1"/>
          </p:nvPr>
        </p:nvPicPr>
        <p:blipFill>
          <a:blip r:embed="rId2"/>
          <a:stretch>
            <a:fillRect/>
          </a:stretch>
        </p:blipFill>
        <p:spPr>
          <a:xfrm>
            <a:off x="1744134" y="1503028"/>
            <a:ext cx="8703733" cy="5065517"/>
          </a:xfrm>
          <a:prstGeom prst="rect">
            <a:avLst/>
          </a:prstGeom>
        </p:spPr>
      </p:pic>
    </p:spTree>
    <p:extLst>
      <p:ext uri="{BB962C8B-B14F-4D97-AF65-F5344CB8AC3E}">
        <p14:creationId xmlns:p14="http://schemas.microsoft.com/office/powerpoint/2010/main" val="2074258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14430-5D3B-40B0-96F4-FC2D5C28759A}"/>
              </a:ext>
            </a:extLst>
          </p:cNvPr>
          <p:cNvSpPr>
            <a:spLocks noGrp="1"/>
          </p:cNvSpPr>
          <p:nvPr>
            <p:ph type="title"/>
          </p:nvPr>
        </p:nvSpPr>
        <p:spPr/>
        <p:txBody>
          <a:bodyPr/>
          <a:lstStyle/>
          <a:p>
            <a:r>
              <a:rPr lang="en-US" dirty="0"/>
              <a:t>k-nearest neighbor &amp; error</a:t>
            </a:r>
          </a:p>
        </p:txBody>
      </p:sp>
      <p:sp>
        <p:nvSpPr>
          <p:cNvPr id="3" name="Content Placeholder 2">
            <a:extLst>
              <a:ext uri="{FF2B5EF4-FFF2-40B4-BE49-F238E27FC236}">
                <a16:creationId xmlns:a16="http://schemas.microsoft.com/office/drawing/2014/main" id="{478A1B3E-724C-469A-9DEC-B38CBEE073C3}"/>
              </a:ext>
            </a:extLst>
          </p:cNvPr>
          <p:cNvSpPr>
            <a:spLocks noGrp="1"/>
          </p:cNvSpPr>
          <p:nvPr>
            <p:ph idx="1"/>
          </p:nvPr>
        </p:nvSpPr>
        <p:spPr/>
        <p:txBody>
          <a:bodyPr/>
          <a:lstStyle/>
          <a:p>
            <a:r>
              <a:rPr lang="en-US" dirty="0"/>
              <a:t>As n-&gt;∞</a:t>
            </a:r>
          </a:p>
          <a:p>
            <a:pPr lvl="1"/>
            <a:r>
              <a:rPr lang="en-US" dirty="0"/>
              <a:t>Your data becomes </a:t>
            </a:r>
            <a:r>
              <a:rPr lang="en-US" i="1" dirty="0"/>
              <a:t>dense</a:t>
            </a:r>
          </a:p>
          <a:p>
            <a:pPr lvl="1"/>
            <a:r>
              <a:rPr lang="en-US" dirty="0"/>
              <a:t>Your error decreases</a:t>
            </a:r>
          </a:p>
          <a:p>
            <a:pPr lvl="1"/>
            <a:r>
              <a:rPr lang="en-US" dirty="0"/>
              <a:t>Your error remains roughly twice the Bayes error</a:t>
            </a:r>
          </a:p>
          <a:p>
            <a:endParaRPr lang="en-US" dirty="0"/>
          </a:p>
          <a:p>
            <a:r>
              <a:rPr lang="en-US" dirty="0"/>
              <a:t>Regardless of your n, method performance largely depends on how well your training data represents the overall data</a:t>
            </a:r>
          </a:p>
          <a:p>
            <a:pPr lvl="1"/>
            <a:r>
              <a:rPr lang="en-US" dirty="0"/>
              <a:t>Which is generally true of machine learning, but especially true here</a:t>
            </a:r>
          </a:p>
          <a:p>
            <a:pPr lvl="1"/>
            <a:r>
              <a:rPr lang="en-US" dirty="0"/>
              <a:t>Draw an example of when this is especially true</a:t>
            </a:r>
          </a:p>
        </p:txBody>
      </p:sp>
    </p:spTree>
    <p:extLst>
      <p:ext uri="{BB962C8B-B14F-4D97-AF65-F5344CB8AC3E}">
        <p14:creationId xmlns:p14="http://schemas.microsoft.com/office/powerpoint/2010/main" val="1189950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8DEE6-A75D-41DA-ACC7-D1B3845CCA12}"/>
              </a:ext>
            </a:extLst>
          </p:cNvPr>
          <p:cNvSpPr>
            <a:spLocks noGrp="1"/>
          </p:cNvSpPr>
          <p:nvPr>
            <p:ph type="title"/>
          </p:nvPr>
        </p:nvSpPr>
        <p:spPr/>
        <p:txBody>
          <a:bodyPr/>
          <a:lstStyle/>
          <a:p>
            <a:r>
              <a:rPr lang="en-US" dirty="0"/>
              <a:t>Nearest neighbor summary</a:t>
            </a:r>
          </a:p>
        </p:txBody>
      </p:sp>
      <p:sp>
        <p:nvSpPr>
          <p:cNvPr id="3" name="Content Placeholder 2">
            <a:extLst>
              <a:ext uri="{FF2B5EF4-FFF2-40B4-BE49-F238E27FC236}">
                <a16:creationId xmlns:a16="http://schemas.microsoft.com/office/drawing/2014/main" id="{7D7E7473-AD48-4FCE-842A-26E41D1A562D}"/>
              </a:ext>
            </a:extLst>
          </p:cNvPr>
          <p:cNvSpPr>
            <a:spLocks noGrp="1"/>
          </p:cNvSpPr>
          <p:nvPr>
            <p:ph idx="1"/>
          </p:nvPr>
        </p:nvSpPr>
        <p:spPr/>
        <p:txBody>
          <a:bodyPr/>
          <a:lstStyle/>
          <a:p>
            <a:r>
              <a:rPr lang="en-US" dirty="0"/>
              <a:t>Very simple to explain and implement</a:t>
            </a:r>
          </a:p>
          <a:p>
            <a:r>
              <a:rPr lang="en-US" dirty="0"/>
              <a:t>No training!  </a:t>
            </a:r>
            <a:r>
              <a:rPr lang="en-US" i="1" dirty="0"/>
              <a:t>Can</a:t>
            </a:r>
            <a:r>
              <a:rPr lang="en-US" dirty="0"/>
              <a:t> be computationally demanding depending on dataset size and k</a:t>
            </a:r>
          </a:p>
          <a:p>
            <a:r>
              <a:rPr lang="en-US" dirty="0"/>
              <a:t>Can use any form of distance (not just Euclidean, as we did)</a:t>
            </a:r>
          </a:p>
          <a:p>
            <a:r>
              <a:rPr lang="en-US" dirty="0"/>
              <a:t>Smoothing with kernels can improve performance</a:t>
            </a:r>
          </a:p>
          <a:p>
            <a:endParaRPr lang="en-US" dirty="0"/>
          </a:p>
          <a:p>
            <a:r>
              <a:rPr lang="en-US" dirty="0"/>
              <a:t>With a lot of data, “local methods” have strong, simple theoretical guarantees.  With not a lot of data, neighbors aren’t local and methods suffer for it</a:t>
            </a:r>
          </a:p>
        </p:txBody>
      </p:sp>
    </p:spTree>
    <p:extLst>
      <p:ext uri="{BB962C8B-B14F-4D97-AF65-F5344CB8AC3E}">
        <p14:creationId xmlns:p14="http://schemas.microsoft.com/office/powerpoint/2010/main" val="2269042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C8778-DB21-4CA2-8F09-27B791793A33}"/>
              </a:ext>
            </a:extLst>
          </p:cNvPr>
          <p:cNvSpPr>
            <a:spLocks noGrp="1"/>
          </p:cNvSpPr>
          <p:nvPr>
            <p:ph type="title"/>
          </p:nvPr>
        </p:nvSpPr>
        <p:spPr/>
        <p:txBody>
          <a:bodyPr/>
          <a:lstStyle/>
          <a:p>
            <a:r>
              <a:rPr lang="en-US" dirty="0"/>
              <a:t>Kernel methods</a:t>
            </a:r>
          </a:p>
        </p:txBody>
      </p:sp>
      <p:sp>
        <p:nvSpPr>
          <p:cNvPr id="3" name="Content Placeholder 2">
            <a:extLst>
              <a:ext uri="{FF2B5EF4-FFF2-40B4-BE49-F238E27FC236}">
                <a16:creationId xmlns:a16="http://schemas.microsoft.com/office/drawing/2014/main" id="{C1FDAFF9-A9C2-4D6E-9397-B122F49136A6}"/>
              </a:ext>
            </a:extLst>
          </p:cNvPr>
          <p:cNvSpPr>
            <a:spLocks noGrp="1"/>
          </p:cNvSpPr>
          <p:nvPr>
            <p:ph idx="1"/>
          </p:nvPr>
        </p:nvSpPr>
        <p:spPr/>
        <p:txBody>
          <a:bodyPr/>
          <a:lstStyle/>
          <a:p>
            <a:r>
              <a:rPr lang="en-US" dirty="0"/>
              <a:t>We’ve seen them before (SVM) and we’ll see them again (PCA)</a:t>
            </a:r>
          </a:p>
          <a:p>
            <a:r>
              <a:rPr lang="en-US" dirty="0"/>
              <a:t>Motivation: as the number of features increases, computational difficulty of learning can skyrocket</a:t>
            </a:r>
          </a:p>
          <a:p>
            <a:r>
              <a:rPr lang="en-US" dirty="0"/>
              <a:t>Problem in machine learning: Represent (often high-dimensional) data</a:t>
            </a:r>
          </a:p>
          <a:p>
            <a:r>
              <a:rPr lang="en-US" dirty="0"/>
              <a:t>Problem, re-framed:  Calculate a similarity measure in the feature space, then apply machine learning algorithm to this similarity measure</a:t>
            </a:r>
          </a:p>
        </p:txBody>
      </p:sp>
    </p:spTree>
    <p:extLst>
      <p:ext uri="{BB962C8B-B14F-4D97-AF65-F5344CB8AC3E}">
        <p14:creationId xmlns:p14="http://schemas.microsoft.com/office/powerpoint/2010/main" val="1213521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64D78-2E5F-4DB1-B85B-067DD14DE495}"/>
              </a:ext>
            </a:extLst>
          </p:cNvPr>
          <p:cNvSpPr>
            <a:spLocks noGrp="1"/>
          </p:cNvSpPr>
          <p:nvPr>
            <p:ph type="title"/>
          </p:nvPr>
        </p:nvSpPr>
        <p:spPr/>
        <p:txBody>
          <a:bodyPr/>
          <a:lstStyle/>
          <a:p>
            <a:r>
              <a:rPr lang="en-US" dirty="0"/>
              <a:t>What exactly is a kernel?</a:t>
            </a:r>
          </a:p>
        </p:txBody>
      </p:sp>
      <p:sp>
        <p:nvSpPr>
          <p:cNvPr id="3" name="Content Placeholder 2">
            <a:extLst>
              <a:ext uri="{FF2B5EF4-FFF2-40B4-BE49-F238E27FC236}">
                <a16:creationId xmlns:a16="http://schemas.microsoft.com/office/drawing/2014/main" id="{EE63EDC0-F2FD-4EAE-A5AE-E5619AA3F9D3}"/>
              </a:ext>
            </a:extLst>
          </p:cNvPr>
          <p:cNvSpPr>
            <a:spLocks noGrp="1"/>
          </p:cNvSpPr>
          <p:nvPr>
            <p:ph idx="1"/>
          </p:nvPr>
        </p:nvSpPr>
        <p:spPr/>
        <p:txBody>
          <a:bodyPr/>
          <a:lstStyle/>
          <a:p>
            <a:r>
              <a:rPr lang="en-US" dirty="0"/>
              <a:t>A function that takes as input vectors in the original space and returns vectors in the feature space.  This function is called a </a:t>
            </a:r>
            <a:r>
              <a:rPr lang="en-US" dirty="0">
                <a:solidFill>
                  <a:srgbClr val="00B0F0"/>
                </a:solidFill>
              </a:rPr>
              <a:t>kernel function</a:t>
            </a:r>
            <a:r>
              <a:rPr lang="en-US" dirty="0"/>
              <a:t>.</a:t>
            </a:r>
          </a:p>
          <a:p>
            <a:endParaRPr lang="en-US" dirty="0"/>
          </a:p>
          <a:p>
            <a:r>
              <a:rPr lang="en-US" dirty="0"/>
              <a:t>Can be thought of as modeling the difference between each individual pair of data and then modeling those differences rather than trying to learn how every feature interacts across all of the data</a:t>
            </a:r>
          </a:p>
        </p:txBody>
      </p:sp>
    </p:spTree>
    <p:extLst>
      <p:ext uri="{BB962C8B-B14F-4D97-AF65-F5344CB8AC3E}">
        <p14:creationId xmlns:p14="http://schemas.microsoft.com/office/powerpoint/2010/main" val="81291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9FC2A-AEDB-4C4B-9E32-136AD8F2EA5A}"/>
              </a:ext>
            </a:extLst>
          </p:cNvPr>
          <p:cNvSpPr>
            <a:spLocks noGrp="1"/>
          </p:cNvSpPr>
          <p:nvPr>
            <p:ph type="title"/>
          </p:nvPr>
        </p:nvSpPr>
        <p:spPr/>
        <p:txBody>
          <a:bodyPr/>
          <a:lstStyle/>
          <a:p>
            <a:r>
              <a:rPr lang="en-US" dirty="0"/>
              <a:t>Common kernels (you don’t need to know these)</a:t>
            </a:r>
          </a:p>
        </p:txBody>
      </p:sp>
      <p:pic>
        <p:nvPicPr>
          <p:cNvPr id="4" name="Content Placeholder 3">
            <a:extLst>
              <a:ext uri="{FF2B5EF4-FFF2-40B4-BE49-F238E27FC236}">
                <a16:creationId xmlns:a16="http://schemas.microsoft.com/office/drawing/2014/main" id="{F7F5ADC7-BF96-40C8-8109-6021263251C1}"/>
              </a:ext>
            </a:extLst>
          </p:cNvPr>
          <p:cNvPicPr>
            <a:picLocks noGrp="1" noChangeAspect="1"/>
          </p:cNvPicPr>
          <p:nvPr>
            <p:ph idx="1"/>
          </p:nvPr>
        </p:nvPicPr>
        <p:blipFill>
          <a:blip r:embed="rId2"/>
          <a:stretch>
            <a:fillRect/>
          </a:stretch>
        </p:blipFill>
        <p:spPr>
          <a:xfrm>
            <a:off x="2941921" y="1825625"/>
            <a:ext cx="6308159" cy="4578344"/>
          </a:xfrm>
          <a:prstGeom prst="rect">
            <a:avLst/>
          </a:prstGeom>
        </p:spPr>
      </p:pic>
    </p:spTree>
    <p:extLst>
      <p:ext uri="{BB962C8B-B14F-4D97-AF65-F5344CB8AC3E}">
        <p14:creationId xmlns:p14="http://schemas.microsoft.com/office/powerpoint/2010/main" val="2787330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406</Words>
  <Application>Microsoft Office PowerPoint</Application>
  <PresentationFormat>Widescreen</PresentationFormat>
  <Paragraphs>40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Lecture 12: Local Methods &amp; Kernels</vt:lpstr>
      <vt:lpstr>Nearest neighbor methods</vt:lpstr>
      <vt:lpstr>Classification data: Bayes classifier</vt:lpstr>
      <vt:lpstr>Classification data: linear decision boundary</vt:lpstr>
      <vt:lpstr>15 nearest neighbor boundary</vt:lpstr>
      <vt:lpstr>1 nearest neighbor boundary</vt:lpstr>
      <vt:lpstr>Nearest neighbor</vt:lpstr>
      <vt:lpstr>k-nearest neighbor &amp; error</vt:lpstr>
      <vt:lpstr>k-nearest neighbor &amp; error</vt:lpstr>
      <vt:lpstr>Nearest neighbor summary</vt:lpstr>
      <vt:lpstr>Kernel methods</vt:lpstr>
      <vt:lpstr>What exactly is a kernel?</vt:lpstr>
      <vt:lpstr>Common kernels (you don’t need to know these)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12: Local Methods &amp; Kernels</dc:title>
  <dc:creator>Stephen M Douglass</dc:creator>
  <cp:lastModifiedBy>Stephen M Douglass</cp:lastModifiedBy>
  <cp:revision>22</cp:revision>
  <dcterms:created xsi:type="dcterms:W3CDTF">2020-02-04T21:22:30Z</dcterms:created>
  <dcterms:modified xsi:type="dcterms:W3CDTF">2020-02-09T17:25:49Z</dcterms:modified>
</cp:coreProperties>
</file>