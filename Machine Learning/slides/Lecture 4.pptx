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7" r:id="rId3"/>
    <p:sldId id="345" r:id="rId4"/>
    <p:sldId id="346" r:id="rId5"/>
    <p:sldId id="348" r:id="rId6"/>
    <p:sldId id="349" r:id="rId7"/>
    <p:sldId id="351" r:id="rId8"/>
    <p:sldId id="352" r:id="rId9"/>
    <p:sldId id="354" r:id="rId10"/>
    <p:sldId id="355" r:id="rId11"/>
    <p:sldId id="356" r:id="rId12"/>
    <p:sldId id="35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8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78CAE-49C9-4493-99D2-FB56FB977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A0CEA-EDDE-4A7B-B1E7-7B39E974C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A5222-B2BB-4EDD-BE25-10CAB4D1E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DC79-FA4D-4C37-B1D3-52AE1B19389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E9A8D-64DC-4AC5-B566-521EB740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BE12D-8334-46F1-92AA-04023766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6B02-550F-4025-AD99-4E564DA22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58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E32F7-E499-4F78-9D20-08A1295D2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0E9A3-5645-43DB-A4A6-3262D459F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C3B85-5836-4AE5-872E-06088F91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DC79-FA4D-4C37-B1D3-52AE1B19389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8672-AC25-4287-A87A-A5C2CA98F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C5D21-1D9F-49DE-A0F4-32929ED7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6B02-550F-4025-AD99-4E564DA22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78286-F1FB-4620-9633-C802A51E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F3629-A48D-4BFD-8ECC-0B625FA89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7F204-60C4-4AD0-8574-3F25C690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DC79-FA4D-4C37-B1D3-52AE1B19389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7EB9A-8E5D-4CF8-A49E-B5878719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F9C12-EFEB-4F11-8677-95610010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6B02-550F-4025-AD99-4E564DA22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3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DB43E-8ABC-4B79-A138-42A864772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6C162-B1BE-4191-9629-21F49BD04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930DE1-295E-4456-BF94-790EA035C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523EE-4AAC-427D-B401-2B177A785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DC79-FA4D-4C37-B1D3-52AE1B19389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43759-2D00-40B1-BD9A-DDCC171E9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81827-C454-4253-97B4-07486205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6B02-550F-4025-AD99-4E564DA22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4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C9B3-BF3A-4CA8-888D-A860DFE5D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985AB-B7CA-4813-A0F8-6E66058EA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61D9F-80CD-4F5E-B673-D66775C74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D1B30D-2ECA-4782-8527-9095005E5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5414A-A213-43AB-8B96-AB45BB652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A8743-64A6-4ED4-965A-9B015184E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DC79-FA4D-4C37-B1D3-52AE1B19389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D1CB19-58B8-4D26-B0F3-F4401FCA8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6CA74E-B117-4032-829E-DC3C7435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6B02-550F-4025-AD99-4E564DA22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57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C015-43EA-475A-8BDD-CAB3356F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6C4310-04F8-4DA1-A7B9-4D314BC4F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DC79-FA4D-4C37-B1D3-52AE1B19389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495CF-9591-4059-81D1-AD735D01C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7F2D78-B4ED-4222-B208-1AC19A5A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6B02-550F-4025-AD99-4E564DA22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35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7517FF-BFA8-4728-8C8E-FE8837461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DC79-FA4D-4C37-B1D3-52AE1B19389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B17BEC-34A1-4D3A-906F-20F098FA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A2601-CC94-420A-8582-D0A9A6FE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6B02-550F-4025-AD99-4E564DA22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51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9B30-11F5-48C2-B612-FC9209FC1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105DD-31B3-4859-AB48-EB1B85A66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8378D-EECD-4829-882D-C94C5714C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1C261-67E0-4E49-B05E-F6B473072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DC79-FA4D-4C37-B1D3-52AE1B19389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450BC-CDAC-4EAF-9369-1F9DC33DC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D2494-B18C-48EC-A4A9-A59846438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6B02-550F-4025-AD99-4E564DA22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0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0B7C-65A8-42FC-B1E8-215BD1690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18DCA4-A33C-48F6-B26C-A6D9FFF56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944DB-8678-476F-A8AD-6A90FB566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A805A-4F72-4635-9CBA-CC831482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DC79-FA4D-4C37-B1D3-52AE1B19389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8951B-6173-4559-ACDD-8AD2B356F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1D55C-9CCB-4FB9-A451-9DF7865B4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6B02-550F-4025-AD99-4E564DA22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62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92552-F730-47D8-BD5F-DB9D7B66C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695E2-A8B1-4689-B8CD-9AF8E7ED6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A1313-487F-406A-B9FE-726D584AA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DC79-FA4D-4C37-B1D3-52AE1B19389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21C2A-D45A-40B2-BB80-9FBD3893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28CD3-464A-4EF2-8571-49BB5EF4F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6B02-550F-4025-AD99-4E564DA22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88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DB5278-8D57-45C0-8BCD-D51ABB4080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A1521D-2533-4016-995B-B0C1CA7A4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F9E12-BB05-469F-BC0A-1534DF97C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DC79-FA4D-4C37-B1D3-52AE1B19389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2A9AD-A6C1-413F-9EE8-061C049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F3EFC-1328-482A-90B2-B59F0CD5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6B02-550F-4025-AD99-4E564DA22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04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979455-F863-4487-A0D2-EBF4A127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AC5C1-422B-4525-9A87-3AC083C66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E15A3-E487-4966-A5FF-FD0BF10880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ADC79-FA4D-4C37-B1D3-52AE1B19389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7DBE7-0269-4234-B6EA-D4331242EE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D0C0-A77B-4EA5-ACC9-89B7EFE96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76B02-550F-4025-AD99-4E564DA22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30F86D-4B44-4DB1-93FD-37CE3241A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60020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Lecture 4: Maximum Likelihood Estimation (MLE)</a:t>
            </a:r>
          </a:p>
        </p:txBody>
      </p:sp>
    </p:spTree>
    <p:extLst>
      <p:ext uri="{BB962C8B-B14F-4D97-AF65-F5344CB8AC3E}">
        <p14:creationId xmlns:p14="http://schemas.microsoft.com/office/powerpoint/2010/main" val="2547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87581-A243-47D3-B9EF-0206BED06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statistics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03B0-8A31-40DD-A18F-827DB86E3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p(event) is the probability of that event</a:t>
            </a:r>
          </a:p>
          <a:p>
            <a:pPr lvl="1"/>
            <a:r>
              <a:rPr lang="en-US" dirty="0"/>
              <a:t>p(fair die lands on 1) = 1/6</a:t>
            </a:r>
          </a:p>
          <a:p>
            <a:pPr lvl="1"/>
            <a:r>
              <a:rPr lang="en-US" dirty="0"/>
              <a:t>p(fair coin lands on heads) = 1/2</a:t>
            </a:r>
          </a:p>
          <a:p>
            <a:pPr lvl="1"/>
            <a:r>
              <a:rPr lang="en-US" dirty="0"/>
              <a:t>p(two fair coins both land on heads) = 1/4</a:t>
            </a:r>
          </a:p>
          <a:p>
            <a:r>
              <a:rPr lang="en-US" dirty="0"/>
              <a:t>p(</a:t>
            </a:r>
            <a:r>
              <a:rPr lang="en-US" dirty="0" err="1"/>
              <a:t>event|fact</a:t>
            </a:r>
            <a:r>
              <a:rPr lang="en-US" dirty="0"/>
              <a:t>) is the probability of the event </a:t>
            </a:r>
            <a:r>
              <a:rPr lang="en-US" b="1" i="1" dirty="0"/>
              <a:t>given</a:t>
            </a:r>
            <a:r>
              <a:rPr lang="en-US" dirty="0"/>
              <a:t> the fact</a:t>
            </a:r>
          </a:p>
          <a:p>
            <a:pPr lvl="1"/>
            <a:r>
              <a:rPr lang="en-US" dirty="0"/>
              <a:t>p(2 fair dice equal 12|first die is 1) = 0</a:t>
            </a:r>
          </a:p>
          <a:p>
            <a:pPr lvl="1"/>
            <a:r>
              <a:rPr lang="en-US" dirty="0"/>
              <a:t>p(fair coin lands on </a:t>
            </a:r>
            <a:r>
              <a:rPr lang="en-US" dirty="0" err="1"/>
              <a:t>heads|it</a:t>
            </a:r>
            <a:r>
              <a:rPr lang="en-US" dirty="0"/>
              <a:t> landed on heads last time) = 1/2</a:t>
            </a:r>
          </a:p>
          <a:p>
            <a:pPr lvl="1"/>
            <a:r>
              <a:rPr lang="en-US" dirty="0"/>
              <a:t>p(two fair coins both land on </a:t>
            </a:r>
            <a:r>
              <a:rPr lang="en-US" dirty="0" err="1"/>
              <a:t>heads|the</a:t>
            </a:r>
            <a:r>
              <a:rPr lang="en-US" dirty="0"/>
              <a:t> first coin landed on heads) = ½</a:t>
            </a:r>
          </a:p>
          <a:p>
            <a:r>
              <a:rPr lang="en-US" dirty="0"/>
              <a:t>E(event) is the </a:t>
            </a:r>
            <a:r>
              <a:rPr lang="en-US" i="1" dirty="0"/>
              <a:t>expected value</a:t>
            </a:r>
            <a:r>
              <a:rPr lang="en-US" dirty="0"/>
              <a:t> of that event</a:t>
            </a:r>
          </a:p>
        </p:txBody>
      </p:sp>
    </p:spTree>
    <p:extLst>
      <p:ext uri="{BB962C8B-B14F-4D97-AF65-F5344CB8AC3E}">
        <p14:creationId xmlns:p14="http://schemas.microsoft.com/office/powerpoint/2010/main" val="1699965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84989-12FE-4DB8-B323-48F227F4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BB102-2E5C-4324-BEB8-546A6496F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buy a magical coin and want to know the probability of heads (or tails, for that matter) in the hopes that you can win coin flips more than 50% of the time.  How do you figure it out?</a:t>
            </a:r>
          </a:p>
          <a:p>
            <a:pPr lvl="1"/>
            <a:r>
              <a:rPr lang="en-US" dirty="0"/>
              <a:t>Flip it a few times:</a:t>
            </a:r>
          </a:p>
          <a:p>
            <a:pPr marL="914400" lvl="2" indent="0">
              <a:buNone/>
            </a:pPr>
            <a:r>
              <a:rPr lang="en-US" dirty="0"/>
              <a:t>Heads, heads, tails, heads, tails</a:t>
            </a:r>
          </a:p>
          <a:p>
            <a:pPr lvl="1"/>
            <a:r>
              <a:rPr lang="en-US" dirty="0"/>
              <a:t>What is the probability that a given flip will be heads?</a:t>
            </a:r>
          </a:p>
          <a:p>
            <a:pPr marL="914400" lvl="2" indent="0">
              <a:buNone/>
            </a:pPr>
            <a:r>
              <a:rPr lang="en-US" dirty="0"/>
              <a:t>Well, 3/5 or 60% based on what we’ve observed</a:t>
            </a:r>
          </a:p>
          <a:p>
            <a:pPr lvl="1"/>
            <a:r>
              <a:rPr lang="en-US" dirty="0"/>
              <a:t>Well, why is this?</a:t>
            </a:r>
          </a:p>
        </p:txBody>
      </p:sp>
    </p:spTree>
    <p:extLst>
      <p:ext uri="{BB962C8B-B14F-4D97-AF65-F5344CB8AC3E}">
        <p14:creationId xmlns:p14="http://schemas.microsoft.com/office/powerpoint/2010/main" val="4274518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03B0-9E6E-42A3-9FBB-125DB5456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-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EC89-7677-485F-96B5-88EC572B4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Sequence of events, D = (HHTHT…), k heads out of n flips</a:t>
            </a:r>
          </a:p>
          <a:p>
            <a:r>
              <a:rPr lang="en-US" dirty="0"/>
              <a:t>Flips are </a:t>
            </a:r>
            <a:r>
              <a:rPr lang="en-US" i="1" dirty="0"/>
              <a:t>independent</a:t>
            </a:r>
            <a:r>
              <a:rPr lang="en-US" dirty="0"/>
              <a:t> and </a:t>
            </a:r>
            <a:r>
              <a:rPr lang="en-US" i="1" dirty="0"/>
              <a:t>identically distributed</a:t>
            </a:r>
            <a:r>
              <a:rPr lang="en-US" dirty="0"/>
              <a:t> (</a:t>
            </a:r>
            <a:r>
              <a:rPr lang="en-US" dirty="0" err="1"/>
              <a:t>i.i.d</a:t>
            </a:r>
            <a:r>
              <a:rPr lang="en-US" dirty="0"/>
              <a:t>.)</a:t>
            </a:r>
          </a:p>
          <a:p>
            <a:pPr lvl="1"/>
            <a:r>
              <a:rPr lang="en-US" dirty="0"/>
              <a:t>This means, p(HHTHT) = p(H) * p(H) * p(T) * p(H) * p(T)</a:t>
            </a:r>
          </a:p>
          <a:p>
            <a:r>
              <a:rPr lang="en-US" dirty="0"/>
              <a:t>Hypothesis is that p(H) = </a:t>
            </a:r>
            <a:r>
              <a:rPr lang="el-GR" dirty="0"/>
              <a:t>θ</a:t>
            </a:r>
            <a:r>
              <a:rPr lang="en-US" dirty="0"/>
              <a:t>, therefore p(T) = 1-</a:t>
            </a:r>
            <a:r>
              <a:rPr lang="el-GR" dirty="0"/>
              <a:t>θ</a:t>
            </a:r>
            <a:endParaRPr lang="en-US" dirty="0"/>
          </a:p>
          <a:p>
            <a:pPr lvl="1"/>
            <a:r>
              <a:rPr lang="en-US" dirty="0"/>
              <a:t>p(HHTHT|</a:t>
            </a:r>
            <a:r>
              <a:rPr lang="el-GR" dirty="0"/>
              <a:t>θ</a:t>
            </a:r>
            <a:r>
              <a:rPr lang="en-US" dirty="0"/>
              <a:t>) = </a:t>
            </a:r>
            <a:r>
              <a:rPr lang="el-GR" dirty="0"/>
              <a:t>θ</a:t>
            </a:r>
            <a:r>
              <a:rPr lang="en-US" baseline="30000" dirty="0"/>
              <a:t>k</a:t>
            </a:r>
            <a:r>
              <a:rPr lang="en-US" dirty="0"/>
              <a:t> * (1-</a:t>
            </a:r>
            <a:r>
              <a:rPr lang="el-GR" dirty="0"/>
              <a:t>θ</a:t>
            </a:r>
            <a:r>
              <a:rPr lang="en-US" dirty="0"/>
              <a:t>)</a:t>
            </a:r>
            <a:r>
              <a:rPr lang="en-US" baseline="30000" dirty="0"/>
              <a:t>n-k</a:t>
            </a:r>
            <a:endParaRPr lang="en-US" dirty="0"/>
          </a:p>
          <a:p>
            <a:r>
              <a:rPr lang="en-US" dirty="0"/>
              <a:t>Generally, p(D|</a:t>
            </a:r>
            <a:r>
              <a:rPr lang="el-GR" dirty="0"/>
              <a:t>θ</a:t>
            </a:r>
            <a:r>
              <a:rPr lang="en-US" dirty="0"/>
              <a:t>) = </a:t>
            </a:r>
            <a:r>
              <a:rPr lang="el-GR" dirty="0"/>
              <a:t>θ</a:t>
            </a:r>
            <a:r>
              <a:rPr lang="en-US" baseline="30000" dirty="0"/>
              <a:t>k</a:t>
            </a:r>
            <a:r>
              <a:rPr lang="en-US" dirty="0"/>
              <a:t>(1-</a:t>
            </a:r>
            <a:r>
              <a:rPr lang="el-GR" dirty="0"/>
              <a:t>θ</a:t>
            </a:r>
            <a:r>
              <a:rPr lang="en-US" dirty="0"/>
              <a:t>)</a:t>
            </a:r>
            <a:r>
              <a:rPr lang="en-US" baseline="30000" dirty="0"/>
              <a:t>n-k</a:t>
            </a:r>
          </a:p>
        </p:txBody>
      </p:sp>
    </p:spTree>
    <p:extLst>
      <p:ext uri="{BB962C8B-B14F-4D97-AF65-F5344CB8AC3E}">
        <p14:creationId xmlns:p14="http://schemas.microsoft.com/office/powerpoint/2010/main" val="3542534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B8F7-932D-4E4C-8487-F76E27FB2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– </a:t>
            </a:r>
            <a:r>
              <a:rPr lang="en-US" b="1" dirty="0"/>
              <a:t>M</a:t>
            </a:r>
            <a:r>
              <a:rPr lang="en-US" dirty="0"/>
              <a:t>aximum </a:t>
            </a:r>
            <a:r>
              <a:rPr lang="en-US" b="1" dirty="0"/>
              <a:t>L</a:t>
            </a:r>
            <a:r>
              <a:rPr lang="en-US" dirty="0"/>
              <a:t>ikelihood </a:t>
            </a:r>
            <a:r>
              <a:rPr lang="en-US" b="1" dirty="0"/>
              <a:t>E</a:t>
            </a:r>
            <a:r>
              <a:rPr lang="en-US" dirty="0"/>
              <a:t>stimation (MLE)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AD5D8-57B7-462F-A5DE-1EEC73DB8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Maximum likelihood estimation: select </a:t>
            </a:r>
            <a:r>
              <a:rPr lang="el-GR" dirty="0"/>
              <a:t>θ</a:t>
            </a:r>
            <a:r>
              <a:rPr lang="en-US" dirty="0"/>
              <a:t> such that it </a:t>
            </a:r>
            <a:r>
              <a:rPr lang="en-US" i="1" dirty="0"/>
              <a:t>maximizes</a:t>
            </a:r>
            <a:r>
              <a:rPr lang="en-US" dirty="0"/>
              <a:t> the probability (</a:t>
            </a:r>
            <a:r>
              <a:rPr lang="en-US" i="1" dirty="0"/>
              <a:t>likelihood</a:t>
            </a:r>
            <a:r>
              <a:rPr lang="en-US" dirty="0"/>
              <a:t>) of your observed data</a:t>
            </a:r>
          </a:p>
          <a:p>
            <a:pPr lvl="1"/>
            <a:r>
              <a:rPr lang="en-US" dirty="0"/>
              <a:t>Bad example: Say probability of heads, p(H), or </a:t>
            </a:r>
            <a:r>
              <a:rPr lang="el-GR" dirty="0"/>
              <a:t>θ</a:t>
            </a:r>
            <a:r>
              <a:rPr lang="en-US" dirty="0"/>
              <a:t> is 1</a:t>
            </a:r>
          </a:p>
          <a:p>
            <a:pPr lvl="1"/>
            <a:r>
              <a:rPr lang="en-US" dirty="0"/>
              <a:t>This means that the probability of tails, p(T), or </a:t>
            </a:r>
            <a:r>
              <a:rPr lang="el-GR" dirty="0"/>
              <a:t>θ</a:t>
            </a:r>
            <a:r>
              <a:rPr lang="en-US" dirty="0"/>
              <a:t>-1 is 0</a:t>
            </a:r>
          </a:p>
          <a:p>
            <a:pPr lvl="1"/>
            <a:r>
              <a:rPr lang="en-US" dirty="0"/>
              <a:t>So p(HHTHT) would be 0</a:t>
            </a:r>
          </a:p>
          <a:p>
            <a:pPr lvl="1"/>
            <a:r>
              <a:rPr lang="en-US" dirty="0"/>
              <a:t>Obviously, the probability of your </a:t>
            </a:r>
            <a:r>
              <a:rPr lang="en-US" i="1" dirty="0"/>
              <a:t>observed</a:t>
            </a:r>
            <a:r>
              <a:rPr lang="en-US" dirty="0"/>
              <a:t> data shouldn’t be 0%...</a:t>
            </a:r>
          </a:p>
        </p:txBody>
      </p:sp>
    </p:spTree>
    <p:extLst>
      <p:ext uri="{BB962C8B-B14F-4D97-AF65-F5344CB8AC3E}">
        <p14:creationId xmlns:p14="http://schemas.microsoft.com/office/powerpoint/2010/main" val="1437625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B8F7-932D-4E4C-8487-F76E27FB2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– </a:t>
            </a:r>
            <a:r>
              <a:rPr lang="en-US" b="1" dirty="0"/>
              <a:t>M</a:t>
            </a:r>
            <a:r>
              <a:rPr lang="en-US" dirty="0"/>
              <a:t>aximum </a:t>
            </a:r>
            <a:r>
              <a:rPr lang="en-US" b="1" dirty="0"/>
              <a:t>L</a:t>
            </a:r>
            <a:r>
              <a:rPr lang="en-US" dirty="0"/>
              <a:t>ikelihood </a:t>
            </a:r>
            <a:r>
              <a:rPr lang="en-US" b="1" dirty="0"/>
              <a:t>E</a:t>
            </a:r>
            <a:r>
              <a:rPr lang="en-US" dirty="0"/>
              <a:t>stimation (MLE)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AD5D8-57B7-462F-A5DE-1EEC73DB8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Maximum likelihood estimation: select </a:t>
            </a:r>
            <a:r>
              <a:rPr lang="el-GR" dirty="0"/>
              <a:t>θ</a:t>
            </a:r>
            <a:r>
              <a:rPr lang="en-US" dirty="0"/>
              <a:t> such that it </a:t>
            </a:r>
            <a:r>
              <a:rPr lang="en-US" i="1" dirty="0"/>
              <a:t>maximizes</a:t>
            </a:r>
            <a:r>
              <a:rPr lang="en-US" dirty="0"/>
              <a:t> the probability (</a:t>
            </a:r>
            <a:r>
              <a:rPr lang="en-US" i="1" dirty="0"/>
              <a:t>likelihood</a:t>
            </a:r>
            <a:r>
              <a:rPr lang="en-US" dirty="0"/>
              <a:t>) of your observed data</a:t>
            </a:r>
          </a:p>
          <a:p>
            <a:pPr lvl="1"/>
            <a:r>
              <a:rPr lang="el-GR" dirty="0"/>
              <a:t>θ</a:t>
            </a:r>
            <a:r>
              <a:rPr lang="en-US" baseline="-25000" dirty="0"/>
              <a:t>MLE</a:t>
            </a:r>
            <a:r>
              <a:rPr lang="en-US" dirty="0"/>
              <a:t> = </a:t>
            </a:r>
            <a:r>
              <a:rPr lang="en-US" dirty="0" err="1"/>
              <a:t>arg</a:t>
            </a:r>
            <a:r>
              <a:rPr lang="en-US" dirty="0"/>
              <a:t> max(</a:t>
            </a:r>
            <a:r>
              <a:rPr lang="el-GR" dirty="0"/>
              <a:t>θ</a:t>
            </a:r>
            <a:r>
              <a:rPr lang="en-US" dirty="0"/>
              <a:t>) [p(D|</a:t>
            </a:r>
            <a:r>
              <a:rPr lang="el-GR" dirty="0"/>
              <a:t>θ</a:t>
            </a:r>
            <a:r>
              <a:rPr lang="en-US" dirty="0"/>
              <a:t>)]</a:t>
            </a:r>
          </a:p>
          <a:p>
            <a:pPr lvl="1"/>
            <a:r>
              <a:rPr lang="el-GR" dirty="0"/>
              <a:t>θ</a:t>
            </a:r>
            <a:r>
              <a:rPr lang="en-US" baseline="-25000" dirty="0"/>
              <a:t>MLE</a:t>
            </a:r>
            <a:r>
              <a:rPr lang="en-US" dirty="0"/>
              <a:t> = </a:t>
            </a:r>
            <a:r>
              <a:rPr lang="en-US" dirty="0" err="1"/>
              <a:t>arg</a:t>
            </a:r>
            <a:r>
              <a:rPr lang="en-US" dirty="0"/>
              <a:t> max(</a:t>
            </a:r>
            <a:r>
              <a:rPr lang="el-GR" dirty="0"/>
              <a:t>θ</a:t>
            </a:r>
            <a:r>
              <a:rPr lang="en-US" dirty="0"/>
              <a:t>) = [log[p(D|</a:t>
            </a:r>
            <a:r>
              <a:rPr lang="el-GR" dirty="0"/>
              <a:t>θ</a:t>
            </a:r>
            <a:r>
              <a:rPr lang="en-US" dirty="0"/>
              <a:t>)]]</a:t>
            </a:r>
          </a:p>
          <a:p>
            <a:pPr lvl="1"/>
            <a:r>
              <a:rPr lang="el-GR" dirty="0"/>
              <a:t>θ</a:t>
            </a:r>
            <a:r>
              <a:rPr lang="en-US" baseline="-25000" dirty="0"/>
              <a:t>MLE</a:t>
            </a:r>
            <a:r>
              <a:rPr lang="en-US" dirty="0"/>
              <a:t> = </a:t>
            </a:r>
            <a:r>
              <a:rPr lang="en-US" dirty="0" err="1"/>
              <a:t>arg</a:t>
            </a:r>
            <a:r>
              <a:rPr lang="en-US" dirty="0"/>
              <a:t> max(</a:t>
            </a:r>
            <a:r>
              <a:rPr lang="el-GR" dirty="0"/>
              <a:t>θ</a:t>
            </a:r>
            <a:r>
              <a:rPr lang="en-US" dirty="0"/>
              <a:t>) = [log[</a:t>
            </a:r>
            <a:r>
              <a:rPr lang="el-GR" dirty="0"/>
              <a:t>θ</a:t>
            </a:r>
            <a:r>
              <a:rPr lang="en-US" baseline="30000" dirty="0"/>
              <a:t>k</a:t>
            </a:r>
            <a:r>
              <a:rPr lang="en-US" dirty="0"/>
              <a:t>(1-</a:t>
            </a:r>
            <a:r>
              <a:rPr lang="el-GR" dirty="0"/>
              <a:t>θ</a:t>
            </a:r>
            <a:r>
              <a:rPr lang="en-US" dirty="0"/>
              <a:t>)</a:t>
            </a:r>
            <a:r>
              <a:rPr lang="en-US" baseline="30000" dirty="0"/>
              <a:t>n-k</a:t>
            </a:r>
            <a:r>
              <a:rPr lang="en-US" dirty="0"/>
              <a:t>]]</a:t>
            </a:r>
          </a:p>
          <a:p>
            <a:pPr lvl="1"/>
            <a:endParaRPr lang="en-US" dirty="0"/>
          </a:p>
          <a:p>
            <a:r>
              <a:rPr lang="en-US" dirty="0"/>
              <a:t>Set the derivative to zero: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12F26A-D631-4425-B006-436871FD0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882" y="4325280"/>
            <a:ext cx="4536701" cy="141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316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B8F7-932D-4E4C-8487-F76E27FB2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– </a:t>
            </a:r>
            <a:r>
              <a:rPr lang="en-US" b="1" dirty="0"/>
              <a:t>M</a:t>
            </a:r>
            <a:r>
              <a:rPr lang="en-US" dirty="0"/>
              <a:t>aximum </a:t>
            </a:r>
            <a:r>
              <a:rPr lang="en-US" b="1" dirty="0"/>
              <a:t>L</a:t>
            </a:r>
            <a:r>
              <a:rPr lang="en-US" dirty="0"/>
              <a:t>ikelihood </a:t>
            </a:r>
            <a:r>
              <a:rPr lang="en-US" b="1" dirty="0"/>
              <a:t>E</a:t>
            </a:r>
            <a:r>
              <a:rPr lang="en-US" dirty="0"/>
              <a:t>stimation (MLE)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AD5D8-57B7-462F-A5DE-1EEC73DB8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Maximum likelihood estimation: select </a:t>
            </a:r>
            <a:r>
              <a:rPr lang="el-GR" dirty="0"/>
              <a:t>θ</a:t>
            </a:r>
            <a:r>
              <a:rPr lang="en-US" dirty="0"/>
              <a:t> such that it </a:t>
            </a:r>
            <a:r>
              <a:rPr lang="en-US" i="1" dirty="0"/>
              <a:t>maximizes</a:t>
            </a:r>
            <a:r>
              <a:rPr lang="en-US" dirty="0"/>
              <a:t> the probability (</a:t>
            </a:r>
            <a:r>
              <a:rPr lang="en-US" i="1" dirty="0"/>
              <a:t>likelihood</a:t>
            </a:r>
            <a:r>
              <a:rPr lang="en-US" dirty="0"/>
              <a:t>) of your observed data</a:t>
            </a:r>
          </a:p>
          <a:p>
            <a:pPr marL="457200" lvl="1" indent="0">
              <a:buNone/>
            </a:pPr>
            <a:r>
              <a:rPr lang="en-US" dirty="0"/>
              <a:t>d/d</a:t>
            </a:r>
            <a:r>
              <a:rPr lang="el-GR" dirty="0"/>
              <a:t>θ</a:t>
            </a:r>
            <a:r>
              <a:rPr lang="en-US" dirty="0"/>
              <a:t>[log[p(D|</a:t>
            </a:r>
            <a:r>
              <a:rPr lang="el-GR" dirty="0"/>
              <a:t>θ</a:t>
            </a:r>
            <a:r>
              <a:rPr lang="en-US" dirty="0"/>
              <a:t>)] = 0</a:t>
            </a:r>
          </a:p>
          <a:p>
            <a:pPr marL="457200" lvl="1" indent="0">
              <a:buNone/>
            </a:pPr>
            <a:r>
              <a:rPr lang="en-US" dirty="0"/>
              <a:t>d/d</a:t>
            </a:r>
            <a:r>
              <a:rPr lang="el-GR" dirty="0"/>
              <a:t>θ</a:t>
            </a:r>
            <a:r>
              <a:rPr lang="en-US" dirty="0"/>
              <a:t>[k*log</a:t>
            </a:r>
            <a:r>
              <a:rPr lang="el-GR" dirty="0"/>
              <a:t>θ</a:t>
            </a:r>
            <a:r>
              <a:rPr lang="en-US" dirty="0"/>
              <a:t> + (n-k)*log(1-</a:t>
            </a:r>
            <a:r>
              <a:rPr lang="el-GR" dirty="0"/>
              <a:t>θ</a:t>
            </a:r>
            <a:r>
              <a:rPr lang="en-US" dirty="0"/>
              <a:t>)] = 0</a:t>
            </a:r>
          </a:p>
          <a:p>
            <a:pPr marL="457200" lvl="1" indent="0">
              <a:buNone/>
            </a:pPr>
            <a:r>
              <a:rPr lang="en-US" dirty="0"/>
              <a:t>k/</a:t>
            </a:r>
            <a:r>
              <a:rPr lang="el-GR" dirty="0"/>
              <a:t>θ</a:t>
            </a:r>
            <a:r>
              <a:rPr lang="en-US" dirty="0"/>
              <a:t> – (n-k)/(1-</a:t>
            </a:r>
            <a:r>
              <a:rPr lang="el-GR" dirty="0"/>
              <a:t>θ</a:t>
            </a:r>
            <a:r>
              <a:rPr lang="en-US" dirty="0"/>
              <a:t>) = 0</a:t>
            </a:r>
          </a:p>
          <a:p>
            <a:pPr marL="457200" lvl="1" indent="0">
              <a:buNone/>
            </a:pPr>
            <a:r>
              <a:rPr lang="en-US" dirty="0"/>
              <a:t>k/</a:t>
            </a:r>
            <a:r>
              <a:rPr lang="el-GR" dirty="0"/>
              <a:t>θ</a:t>
            </a:r>
            <a:r>
              <a:rPr lang="en-US" dirty="0"/>
              <a:t> = (n-k)/(1-</a:t>
            </a:r>
            <a:r>
              <a:rPr lang="el-GR" dirty="0"/>
              <a:t>θ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k*(1-</a:t>
            </a:r>
            <a:r>
              <a:rPr lang="el-GR" dirty="0"/>
              <a:t>θ</a:t>
            </a:r>
            <a:r>
              <a:rPr lang="en-US" dirty="0"/>
              <a:t>) = </a:t>
            </a:r>
            <a:r>
              <a:rPr lang="el-GR" dirty="0"/>
              <a:t>θ</a:t>
            </a:r>
            <a:r>
              <a:rPr lang="en-US" dirty="0"/>
              <a:t>*(n-k)</a:t>
            </a:r>
          </a:p>
          <a:p>
            <a:pPr marL="457200" lvl="1" indent="0">
              <a:buNone/>
            </a:pPr>
            <a:r>
              <a:rPr lang="en-US" dirty="0"/>
              <a:t>k*(1-</a:t>
            </a:r>
            <a:r>
              <a:rPr lang="el-GR" dirty="0"/>
              <a:t>θ</a:t>
            </a:r>
            <a:r>
              <a:rPr lang="en-US" dirty="0"/>
              <a:t>) – </a:t>
            </a:r>
            <a:r>
              <a:rPr lang="el-GR" dirty="0"/>
              <a:t>θ</a:t>
            </a:r>
            <a:r>
              <a:rPr lang="en-US" dirty="0"/>
              <a:t>*(n-k) = 0</a:t>
            </a:r>
          </a:p>
          <a:p>
            <a:pPr marL="457200" lvl="1" indent="0">
              <a:buNone/>
            </a:pPr>
            <a:r>
              <a:rPr lang="en-US" dirty="0"/>
              <a:t>k – </a:t>
            </a:r>
            <a:r>
              <a:rPr lang="el-GR" dirty="0"/>
              <a:t>θ</a:t>
            </a:r>
            <a:r>
              <a:rPr lang="en-US" dirty="0"/>
              <a:t>n = 0</a:t>
            </a:r>
          </a:p>
          <a:p>
            <a:pPr marL="457200" lvl="1" indent="0">
              <a:buNone/>
            </a:pPr>
            <a:r>
              <a:rPr lang="el-GR" dirty="0"/>
              <a:t>θ</a:t>
            </a:r>
            <a:r>
              <a:rPr lang="en-US" baseline="-25000" dirty="0"/>
              <a:t>MLE</a:t>
            </a:r>
            <a:r>
              <a:rPr lang="en-US" dirty="0"/>
              <a:t> = k/n</a:t>
            </a:r>
          </a:p>
        </p:txBody>
      </p:sp>
    </p:spTree>
    <p:extLst>
      <p:ext uri="{BB962C8B-B14F-4D97-AF65-F5344CB8AC3E}">
        <p14:creationId xmlns:p14="http://schemas.microsoft.com/office/powerpoint/2010/main" val="709419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3F92-C5BB-451E-BE8F-236DDDF3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– </a:t>
            </a:r>
            <a:r>
              <a:rPr lang="en-US" b="1" dirty="0"/>
              <a:t>M</a:t>
            </a:r>
            <a:r>
              <a:rPr lang="en-US" dirty="0"/>
              <a:t>aximum </a:t>
            </a:r>
            <a:r>
              <a:rPr lang="en-US" b="1" dirty="0"/>
              <a:t>L</a:t>
            </a:r>
            <a:r>
              <a:rPr lang="en-US" dirty="0"/>
              <a:t>ikelihood </a:t>
            </a:r>
            <a:r>
              <a:rPr lang="en-US" b="1" dirty="0"/>
              <a:t>E</a:t>
            </a:r>
            <a:r>
              <a:rPr lang="en-US" dirty="0"/>
              <a:t>stimation (MLE)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119E0-F35D-48EB-838B-B006A797E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θ</a:t>
            </a:r>
            <a:r>
              <a:rPr lang="en-US" baseline="-25000" dirty="0"/>
              <a:t>MLE</a:t>
            </a:r>
            <a:r>
              <a:rPr lang="en-US" dirty="0"/>
              <a:t> = k/n</a:t>
            </a:r>
          </a:p>
          <a:p>
            <a:r>
              <a:rPr lang="en-US" dirty="0"/>
              <a:t>Two experiments:</a:t>
            </a:r>
          </a:p>
          <a:p>
            <a:pPr lvl="1"/>
            <a:r>
              <a:rPr lang="en-US" dirty="0"/>
              <a:t>Flip a coin 5 times, get 3 heads</a:t>
            </a:r>
          </a:p>
          <a:p>
            <a:pPr lvl="1"/>
            <a:r>
              <a:rPr lang="en-US" dirty="0"/>
              <a:t>Flip a coin 50 times, get 20 heads</a:t>
            </a:r>
          </a:p>
          <a:p>
            <a:r>
              <a:rPr lang="en-US" dirty="0"/>
              <a:t>Results:</a:t>
            </a:r>
          </a:p>
          <a:p>
            <a:pPr lvl="1"/>
            <a:r>
              <a:rPr lang="en-US" dirty="0"/>
              <a:t>First experiment, </a:t>
            </a:r>
            <a:r>
              <a:rPr lang="el-GR" dirty="0"/>
              <a:t>θ</a:t>
            </a:r>
            <a:r>
              <a:rPr lang="en-US" baseline="-25000" dirty="0"/>
              <a:t>MLE</a:t>
            </a:r>
            <a:r>
              <a:rPr lang="en-US" dirty="0"/>
              <a:t> = k/n = 3/5 or 60%</a:t>
            </a:r>
          </a:p>
          <a:p>
            <a:pPr lvl="1"/>
            <a:r>
              <a:rPr lang="en-US" dirty="0"/>
              <a:t>Second experiment, </a:t>
            </a:r>
            <a:r>
              <a:rPr lang="el-GR" dirty="0"/>
              <a:t>θ</a:t>
            </a:r>
            <a:r>
              <a:rPr lang="en-US" baseline="-25000" dirty="0"/>
              <a:t>MLE</a:t>
            </a:r>
            <a:r>
              <a:rPr lang="en-US" dirty="0"/>
              <a:t> = k/n = 20/50 or 40%</a:t>
            </a:r>
          </a:p>
          <a:p>
            <a:pPr lvl="1"/>
            <a:endParaRPr lang="en-US" dirty="0"/>
          </a:p>
          <a:p>
            <a:r>
              <a:rPr lang="en-US" dirty="0"/>
              <a:t>Which is right?  Why?</a:t>
            </a:r>
          </a:p>
        </p:txBody>
      </p:sp>
    </p:spTree>
    <p:extLst>
      <p:ext uri="{BB962C8B-B14F-4D97-AF65-F5344CB8AC3E}">
        <p14:creationId xmlns:p14="http://schemas.microsoft.com/office/powerpoint/2010/main" val="552410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7FF19-74DF-4733-930E-C9B4E9826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MLE – more is better, but how much is needed?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85232-ED1C-4C25-839E-08CFC7C5C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θ</a:t>
            </a:r>
            <a:r>
              <a:rPr lang="en-US" baseline="-25000" dirty="0"/>
              <a:t>MLE</a:t>
            </a:r>
            <a:r>
              <a:rPr lang="en-US" dirty="0"/>
              <a:t> = k/n</a:t>
            </a:r>
          </a:p>
          <a:p>
            <a:r>
              <a:rPr lang="en-US" dirty="0"/>
              <a:t>If you go to infinity (flip the coin infinite times):</a:t>
            </a:r>
          </a:p>
          <a:p>
            <a:pPr marL="457200" lvl="1" indent="0">
              <a:buNone/>
            </a:pPr>
            <a:r>
              <a:rPr lang="en-US" dirty="0"/>
              <a:t>E(</a:t>
            </a:r>
            <a:r>
              <a:rPr lang="el-GR" dirty="0"/>
              <a:t>θ</a:t>
            </a:r>
            <a:r>
              <a:rPr lang="en-US" baseline="-25000" dirty="0"/>
              <a:t>MLE</a:t>
            </a:r>
            <a:r>
              <a:rPr lang="en-US" dirty="0"/>
              <a:t>) = actual, real </a:t>
            </a:r>
            <a:r>
              <a:rPr lang="el-GR" dirty="0"/>
              <a:t>θ</a:t>
            </a:r>
            <a:r>
              <a:rPr lang="en-US" dirty="0"/>
              <a:t>, which we’ll call </a:t>
            </a:r>
            <a:r>
              <a:rPr lang="el-GR" dirty="0"/>
              <a:t>θ</a:t>
            </a:r>
            <a:r>
              <a:rPr lang="en-US" baseline="30000" dirty="0"/>
              <a:t>*</a:t>
            </a:r>
          </a:p>
          <a:p>
            <a:endParaRPr lang="en-US" dirty="0"/>
          </a:p>
          <a:p>
            <a:r>
              <a:rPr lang="en-US" dirty="0" err="1"/>
              <a:t>Hoeffding’s</a:t>
            </a:r>
            <a:r>
              <a:rPr lang="en-US" dirty="0"/>
              <a:t> inequality says that for an epsilon, </a:t>
            </a:r>
            <a:r>
              <a:rPr lang="el-GR" dirty="0"/>
              <a:t>ε</a:t>
            </a:r>
            <a:r>
              <a:rPr lang="en-US" dirty="0"/>
              <a:t> &gt; 0:</a:t>
            </a:r>
          </a:p>
          <a:p>
            <a:pPr marL="457200" lvl="1" indent="0">
              <a:buNone/>
            </a:pPr>
            <a:r>
              <a:rPr lang="en-US" dirty="0"/>
              <a:t>p(abs[</a:t>
            </a:r>
            <a:r>
              <a:rPr lang="el-GR" dirty="0"/>
              <a:t>θ</a:t>
            </a:r>
            <a:r>
              <a:rPr lang="en-US" baseline="-25000" dirty="0"/>
              <a:t>MLE</a:t>
            </a:r>
            <a:r>
              <a:rPr lang="en-US" dirty="0"/>
              <a:t> – </a:t>
            </a:r>
            <a:r>
              <a:rPr lang="el-GR" dirty="0"/>
              <a:t>θ</a:t>
            </a:r>
            <a:r>
              <a:rPr lang="en-US" baseline="30000" dirty="0"/>
              <a:t>*</a:t>
            </a:r>
            <a:r>
              <a:rPr lang="en-US" dirty="0"/>
              <a:t>] ≥ </a:t>
            </a:r>
            <a:r>
              <a:rPr lang="el-GR" dirty="0"/>
              <a:t>ε</a:t>
            </a:r>
            <a:r>
              <a:rPr lang="en-US" dirty="0"/>
              <a:t>) ≤ 2e</a:t>
            </a:r>
            <a:r>
              <a:rPr lang="en-US" baseline="30000" dirty="0"/>
              <a:t>-2n</a:t>
            </a:r>
            <a:r>
              <a:rPr lang="el-GR" baseline="30000" dirty="0"/>
              <a:t>ε</a:t>
            </a:r>
            <a:r>
              <a:rPr lang="en-US" baseline="30000" dirty="0"/>
              <a:t>*</a:t>
            </a:r>
            <a:r>
              <a:rPr lang="el-GR" baseline="30000" dirty="0"/>
              <a:t>ε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where n is the number of trials (coin flips in this example)</a:t>
            </a:r>
          </a:p>
          <a:p>
            <a:pPr marL="457200" lvl="1" indent="0">
              <a:buNone/>
            </a:pPr>
            <a:r>
              <a:rPr lang="en-US" dirty="0"/>
              <a:t>As n increases, the right hand side gets very small (close to zero) and the probability that you’re close to the true </a:t>
            </a:r>
            <a:r>
              <a:rPr lang="el-GR" dirty="0"/>
              <a:t>θ</a:t>
            </a:r>
            <a:r>
              <a:rPr lang="en-US" dirty="0"/>
              <a:t>, </a:t>
            </a:r>
            <a:r>
              <a:rPr lang="el-GR" dirty="0"/>
              <a:t>θ</a:t>
            </a:r>
            <a:r>
              <a:rPr lang="en-US" baseline="30000" dirty="0"/>
              <a:t>*</a:t>
            </a:r>
            <a:r>
              <a:rPr lang="en-US" dirty="0"/>
              <a:t>, gets very close to one</a:t>
            </a:r>
          </a:p>
        </p:txBody>
      </p:sp>
    </p:spTree>
    <p:extLst>
      <p:ext uri="{BB962C8B-B14F-4D97-AF65-F5344CB8AC3E}">
        <p14:creationId xmlns:p14="http://schemas.microsoft.com/office/powerpoint/2010/main" val="1367140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56E6-5978-4012-955E-9A191F4F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</a:t>
            </a:r>
            <a:r>
              <a:rPr lang="el-GR" dirty="0"/>
              <a:t>θ</a:t>
            </a:r>
            <a:r>
              <a:rPr lang="en-US" baseline="30000" dirty="0"/>
              <a:t>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B3D40-3760-49EE-97B5-BDF8ECA51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0316"/>
          </a:xfrm>
        </p:spPr>
        <p:txBody>
          <a:bodyPr/>
          <a:lstStyle/>
          <a:p>
            <a:r>
              <a:rPr lang="en-US" dirty="0"/>
              <a:t>PAC (Probability Approximate Correct)</a:t>
            </a:r>
          </a:p>
          <a:p>
            <a:r>
              <a:rPr lang="en-US" dirty="0"/>
              <a:t>Example: I want to know </a:t>
            </a:r>
            <a:r>
              <a:rPr lang="el-GR" dirty="0"/>
              <a:t>θ</a:t>
            </a:r>
            <a:r>
              <a:rPr lang="en-US" baseline="30000" dirty="0"/>
              <a:t>*</a:t>
            </a:r>
            <a:r>
              <a:rPr lang="en-US" dirty="0"/>
              <a:t> within </a:t>
            </a:r>
            <a:r>
              <a:rPr lang="el-GR" dirty="0"/>
              <a:t>ε</a:t>
            </a:r>
            <a:r>
              <a:rPr lang="en-US" dirty="0"/>
              <a:t> = 0.1, with probability of at least 1-</a:t>
            </a:r>
            <a:r>
              <a:rPr lang="el-GR" dirty="0"/>
              <a:t>δ</a:t>
            </a:r>
            <a:r>
              <a:rPr lang="en-US" dirty="0"/>
              <a:t> = 0.95 (probability within at least 95%).  How many coin flips are needed for this?</a:t>
            </a:r>
          </a:p>
          <a:p>
            <a:pPr marL="0" indent="0">
              <a:buNone/>
            </a:pPr>
            <a:r>
              <a:rPr lang="en-US" dirty="0"/>
              <a:t>2e</a:t>
            </a:r>
            <a:r>
              <a:rPr lang="en-US" baseline="30000" dirty="0"/>
              <a:t>-2nε*ε</a:t>
            </a:r>
            <a:r>
              <a:rPr lang="en-US" dirty="0"/>
              <a:t> = </a:t>
            </a:r>
            <a:r>
              <a:rPr lang="el-GR" dirty="0"/>
              <a:t>δ</a:t>
            </a:r>
            <a:endParaRPr lang="en-US" dirty="0"/>
          </a:p>
          <a:p>
            <a:pPr marL="0" indent="0">
              <a:buNone/>
            </a:pPr>
            <a:r>
              <a:rPr lang="el-GR" dirty="0"/>
              <a:t>ε</a:t>
            </a:r>
            <a:r>
              <a:rPr lang="en-US" dirty="0"/>
              <a:t> = sqrt(log(2/</a:t>
            </a:r>
            <a:r>
              <a:rPr lang="el-GR" dirty="0"/>
              <a:t>δ</a:t>
            </a:r>
            <a:r>
              <a:rPr lang="en-US" dirty="0"/>
              <a:t>)/2n)</a:t>
            </a:r>
          </a:p>
          <a:p>
            <a:pPr marL="0" indent="0">
              <a:buNone/>
            </a:pPr>
            <a:r>
              <a:rPr lang="en-US" dirty="0"/>
              <a:t>abs(</a:t>
            </a:r>
            <a:r>
              <a:rPr lang="el-GR" dirty="0"/>
              <a:t>θ</a:t>
            </a:r>
            <a:r>
              <a:rPr lang="en-US" baseline="-25000" dirty="0"/>
              <a:t>MLE</a:t>
            </a:r>
            <a:r>
              <a:rPr lang="en-US" dirty="0"/>
              <a:t> – </a:t>
            </a:r>
            <a:r>
              <a:rPr lang="el-GR" dirty="0"/>
              <a:t>θ</a:t>
            </a:r>
            <a:r>
              <a:rPr lang="en-US" baseline="30000" dirty="0"/>
              <a:t>*</a:t>
            </a:r>
            <a:r>
              <a:rPr lang="en-US" dirty="0"/>
              <a:t>) ≤ sqrt(log(2/</a:t>
            </a:r>
            <a:r>
              <a:rPr lang="el-GR" dirty="0"/>
              <a:t>δ</a:t>
            </a:r>
            <a:r>
              <a:rPr lang="en-US" dirty="0"/>
              <a:t>)/2n) = 0.1</a:t>
            </a:r>
          </a:p>
          <a:p>
            <a:pPr marL="0" indent="0">
              <a:buNone/>
            </a:pPr>
            <a:r>
              <a:rPr lang="en-US" dirty="0"/>
              <a:t>log(2/</a:t>
            </a:r>
            <a:r>
              <a:rPr lang="el-GR" dirty="0"/>
              <a:t>δ</a:t>
            </a:r>
            <a:r>
              <a:rPr lang="en-US" dirty="0"/>
              <a:t>)/2n = 0.01</a:t>
            </a:r>
          </a:p>
          <a:p>
            <a:pPr marL="0" indent="0">
              <a:buNone/>
            </a:pPr>
            <a:r>
              <a:rPr lang="en-US" dirty="0"/>
              <a:t>log(2/</a:t>
            </a:r>
            <a:r>
              <a:rPr lang="el-GR" dirty="0"/>
              <a:t>δ</a:t>
            </a:r>
            <a:r>
              <a:rPr lang="en-US" dirty="0"/>
              <a:t>) = 0.02n</a:t>
            </a:r>
          </a:p>
          <a:p>
            <a:pPr marL="0" indent="0">
              <a:buNone/>
            </a:pPr>
            <a:r>
              <a:rPr lang="en-US" dirty="0"/>
              <a:t>n = log(2/</a:t>
            </a:r>
            <a:r>
              <a:rPr lang="el-GR" dirty="0"/>
              <a:t>δ</a:t>
            </a:r>
            <a:r>
              <a:rPr lang="en-US" dirty="0"/>
              <a:t>)/0.02</a:t>
            </a:r>
          </a:p>
        </p:txBody>
      </p:sp>
    </p:spTree>
    <p:extLst>
      <p:ext uri="{BB962C8B-B14F-4D97-AF65-F5344CB8AC3E}">
        <p14:creationId xmlns:p14="http://schemas.microsoft.com/office/powerpoint/2010/main" val="3129793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35AB-B3A0-4C56-9812-60FEF485D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for continuous variables?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48B11-2E02-4678-B20F-828A37BBE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you don’t have “heads” and “tails,” but 0.1234, 198.286, etc.?</a:t>
            </a:r>
          </a:p>
          <a:p>
            <a:r>
              <a:rPr lang="en-US" dirty="0"/>
              <a:t>Gaussian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21AE6F-B792-49FD-A0E2-B4829A7D0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2676"/>
            <a:ext cx="12192000" cy="385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73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35AB-B3A0-4C56-9812-60FEF485D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Gaussians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48B11-2E02-4678-B20F-828A37BBE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Affine transformation:</a:t>
            </a:r>
          </a:p>
          <a:p>
            <a:pPr lvl="1"/>
            <a:r>
              <a:rPr lang="en-US" dirty="0"/>
              <a:t>If X ~ N(μ, </a:t>
            </a:r>
            <a:r>
              <a:rPr lang="el-GR" dirty="0"/>
              <a:t>σ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Y = </a:t>
            </a:r>
            <a:r>
              <a:rPr lang="en-US" dirty="0" err="1"/>
              <a:t>aX</a:t>
            </a:r>
            <a:r>
              <a:rPr lang="en-US" dirty="0"/>
              <a:t> + b -&gt; Y ~N(</a:t>
            </a:r>
            <a:r>
              <a:rPr lang="en-US" dirty="0" err="1"/>
              <a:t>aμ</a:t>
            </a:r>
            <a:r>
              <a:rPr lang="en-US" dirty="0"/>
              <a:t> + b, a</a:t>
            </a:r>
            <a:r>
              <a:rPr lang="en-US" baseline="30000" dirty="0"/>
              <a:t>2</a:t>
            </a:r>
            <a:r>
              <a:rPr lang="el-GR" dirty="0"/>
              <a:t>σ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dirty="0"/>
              <a:t>Sum of Gaussians:</a:t>
            </a:r>
          </a:p>
          <a:p>
            <a:pPr lvl="1"/>
            <a:r>
              <a:rPr lang="en-US" dirty="0"/>
              <a:t>X ~ N(</a:t>
            </a:r>
            <a:r>
              <a:rPr lang="en-US" dirty="0" err="1"/>
              <a:t>μ</a:t>
            </a:r>
            <a:r>
              <a:rPr lang="en-US" baseline="-25000" dirty="0" err="1"/>
              <a:t>x</a:t>
            </a:r>
            <a:r>
              <a:rPr lang="en-US" dirty="0"/>
              <a:t>, </a:t>
            </a:r>
            <a:r>
              <a:rPr lang="el-GR" dirty="0"/>
              <a:t>σ</a:t>
            </a:r>
            <a:r>
              <a:rPr lang="en-US" baseline="-25000" dirty="0"/>
              <a:t>x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Y ~ N(</a:t>
            </a:r>
            <a:r>
              <a:rPr lang="en-US" dirty="0" err="1"/>
              <a:t>μ</a:t>
            </a:r>
            <a:r>
              <a:rPr lang="en-US" baseline="-25000" dirty="0" err="1"/>
              <a:t>y</a:t>
            </a:r>
            <a:r>
              <a:rPr lang="en-US" dirty="0"/>
              <a:t>, </a:t>
            </a:r>
            <a:r>
              <a:rPr lang="el-GR" dirty="0"/>
              <a:t>σ</a:t>
            </a:r>
            <a:r>
              <a:rPr lang="en-US" baseline="-25000" dirty="0"/>
              <a:t>y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Z = X + Y -&gt; Z ~ N(</a:t>
            </a:r>
            <a:r>
              <a:rPr lang="en-US" dirty="0" err="1"/>
              <a:t>μ</a:t>
            </a:r>
            <a:r>
              <a:rPr lang="en-US" baseline="-25000" dirty="0" err="1"/>
              <a:t>x</a:t>
            </a:r>
            <a:r>
              <a:rPr lang="en-US" dirty="0"/>
              <a:t> + </a:t>
            </a:r>
            <a:r>
              <a:rPr lang="en-US" dirty="0" err="1"/>
              <a:t>μ</a:t>
            </a:r>
            <a:r>
              <a:rPr lang="en-US" baseline="-25000" dirty="0" err="1"/>
              <a:t>y</a:t>
            </a:r>
            <a:r>
              <a:rPr lang="en-US" dirty="0"/>
              <a:t>, </a:t>
            </a:r>
            <a:r>
              <a:rPr lang="el-GR" dirty="0"/>
              <a:t>σ</a:t>
            </a:r>
            <a:r>
              <a:rPr lang="en-US" baseline="-25000" dirty="0"/>
              <a:t>x</a:t>
            </a:r>
            <a:r>
              <a:rPr lang="en-US" baseline="30000" dirty="0"/>
              <a:t>2</a:t>
            </a:r>
            <a:r>
              <a:rPr lang="el-GR" dirty="0"/>
              <a:t> </a:t>
            </a:r>
            <a:r>
              <a:rPr lang="en-US" dirty="0"/>
              <a:t>+ </a:t>
            </a:r>
            <a:r>
              <a:rPr lang="el-GR" dirty="0"/>
              <a:t>σ</a:t>
            </a:r>
            <a:r>
              <a:rPr lang="en-US" baseline="-25000" dirty="0"/>
              <a:t>y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21456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</TotalTime>
  <Words>1026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Lecture 4: Maximum Likelihood Estimation (MLE)</vt:lpstr>
      <vt:lpstr>Intro to statistics notation</vt:lpstr>
      <vt:lpstr>Experiment</vt:lpstr>
      <vt:lpstr>Experiment - data</vt:lpstr>
      <vt:lpstr>Experiment – Maximum Likelihood Estimation (MLE)</vt:lpstr>
      <vt:lpstr>Experiment – Maximum Likelihood Estimation (MLE)</vt:lpstr>
      <vt:lpstr>Experiment – Maximum Likelihood Estimation (MLE)</vt:lpstr>
      <vt:lpstr>Experiments – Maximum Likelihood Estimation (MLE)</vt:lpstr>
      <vt:lpstr>MLE – more is better, but how much is needed?</vt:lpstr>
      <vt:lpstr>Example with θ*</vt:lpstr>
      <vt:lpstr>What about for continuous variables?</vt:lpstr>
      <vt:lpstr>Properties of Gaussians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Maximum Likelihood Estimation (MLE)</dc:title>
  <dc:creator>Stephen M Douglass</dc:creator>
  <cp:lastModifiedBy>Stephen M Douglass</cp:lastModifiedBy>
  <cp:revision>37</cp:revision>
  <dcterms:created xsi:type="dcterms:W3CDTF">2020-01-21T23:41:45Z</dcterms:created>
  <dcterms:modified xsi:type="dcterms:W3CDTF">2021-09-14T14:07:46Z</dcterms:modified>
</cp:coreProperties>
</file>