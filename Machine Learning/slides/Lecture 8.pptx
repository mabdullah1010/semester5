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343" r:id="rId3"/>
    <p:sldId id="344" r:id="rId4"/>
    <p:sldId id="345" r:id="rId5"/>
    <p:sldId id="346" r:id="rId6"/>
    <p:sldId id="347" r:id="rId7"/>
    <p:sldId id="348" r:id="rId8"/>
    <p:sldId id="34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5" y="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576ED-E829-4860-94FF-924765B649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F710EE-C230-44F8-B136-F00F336644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FF1529-6AB0-44B6-A02E-496DA5616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9FD13-64AD-4D82-80EF-0F7A680012A7}" type="datetimeFigureOut">
              <a:rPr lang="en-US" smtClean="0"/>
              <a:t>2/17/2020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8F1B9-B93D-456C-A0A2-85C5EAB26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802DE-B797-4607-9CC9-9DC857E41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92B20-7736-4942-9766-CD9190AE4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588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D19F8-6654-40D9-9B1E-1B3B12179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41644-6E87-424F-ACC5-AD393B4856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08D2A-52C6-4C1C-AA92-19C6DB638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9FD13-64AD-4D82-80EF-0F7A680012A7}" type="datetimeFigureOut">
              <a:rPr lang="en-US" smtClean="0"/>
              <a:t>2/17/2020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2196AB-0EA7-4B74-98E2-81DE9C04D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42D9BA-E92C-47E8-A809-7ADFF30C4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92B20-7736-4942-9766-CD9190AE4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217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9C123-57D3-4E3C-AA4D-AF17937A2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A59749-CA9A-4537-B1BA-ED9E5800B3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B5540-D634-4797-BFAD-A3BEEA830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9FD13-64AD-4D82-80EF-0F7A680012A7}" type="datetimeFigureOut">
              <a:rPr lang="en-US" smtClean="0"/>
              <a:t>2/17/2020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065BA-AA18-48BC-83D4-9D014AEE9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DA3B96-E305-4D45-9B67-93FD1B196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92B20-7736-4942-9766-CD9190AE4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35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D1880-F5C4-4714-B4B3-D2105E805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A5262-0790-4B4A-B453-CD53573305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38A226-EA1D-49E8-B098-F18AF4408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742C4E-46ED-4C89-808B-A29C00DF4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9FD13-64AD-4D82-80EF-0F7A680012A7}" type="datetimeFigureOut">
              <a:rPr lang="en-US" smtClean="0"/>
              <a:t>2/17/2020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07D2C4-177E-45AA-988B-0E368B662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DA880-DBF3-4C92-AB4E-B62A4EF24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92B20-7736-4942-9766-CD9190AE4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601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9CD1D-599C-441C-A58E-853900BA1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1DCC1-B480-4AB1-AAD0-B311071D7A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ED3650-775A-4772-831B-C19AD15712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520E0C-65FA-4C06-8DF9-804A78F0A3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D0CF63-A523-4EA2-8D37-04AF892BC8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11BF04-2915-4796-85E5-B893D271B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9FD13-64AD-4D82-80EF-0F7A680012A7}" type="datetimeFigureOut">
              <a:rPr lang="en-US" smtClean="0"/>
              <a:t>2/17/2020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C2AD69-D5E1-4602-AECD-6765E2958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827CCC-8B03-445F-8E52-0811DCE63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92B20-7736-4942-9766-CD9190AE4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400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8B552-0B08-4758-9CEC-4BA52307E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4D1A15-BCF7-4EC9-A325-51E99EDDC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9FD13-64AD-4D82-80EF-0F7A680012A7}" type="datetimeFigureOut">
              <a:rPr lang="en-US" smtClean="0"/>
              <a:t>2/17/2020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DF20FB-F9FF-450D-81EA-8E2DE39FB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32D156-31C8-4C66-8176-2B8F18530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92B20-7736-4942-9766-CD9190AE4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331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EA073D-316D-42AA-AC48-552C0EB93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9FD13-64AD-4D82-80EF-0F7A680012A7}" type="datetimeFigureOut">
              <a:rPr lang="en-US" smtClean="0"/>
              <a:t>2/17/2020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B1D7F2-136C-4B02-80DE-69103EF78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653FA5-69BC-4E83-B912-F84E52C0F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92B20-7736-4942-9766-CD9190AE4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049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59410-4BEE-42AC-B625-E0DAC193D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F10D1-C2BD-4415-97C6-7EE4CF38E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534BD2-C125-466E-A2C4-1DADEF6E3A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1A278-B21B-4CFC-A3DC-4BB1793E4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9FD13-64AD-4D82-80EF-0F7A680012A7}" type="datetimeFigureOut">
              <a:rPr lang="en-US" smtClean="0"/>
              <a:t>2/17/2020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6DE3A8-1B17-41E5-B41F-E3BAC4670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001927-0B49-45C1-8A5C-412007C44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92B20-7736-4942-9766-CD9190AE4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30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60E0E-C0BD-49BC-8B28-7554125F3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070E89-6ADD-47E9-8AA5-F27D41E507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9F12BC-8EA0-4236-AAF0-47911322DD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1AB7CB-6D72-459D-AD41-8ED8FDB0E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9FD13-64AD-4D82-80EF-0F7A680012A7}" type="datetimeFigureOut">
              <a:rPr lang="en-US" smtClean="0"/>
              <a:t>2/17/2020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CC8EB5-1B4B-4E34-BEF8-290ABDB6E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1695A7-8F3E-4427-A229-7C4B52741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92B20-7736-4942-9766-CD9190AE4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895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C5A3A-C02F-4A73-98D4-1AB88FF20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E3A63C-C08B-4F62-90DC-2DACF4256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489DE5-3D36-4C22-B57D-73C6C7A6F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9FD13-64AD-4D82-80EF-0F7A680012A7}" type="datetimeFigureOut">
              <a:rPr lang="en-US" smtClean="0"/>
              <a:t>2/17/2020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56B48-0157-4287-A672-F4D06EC89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479E02-6EE6-4DE6-B3ED-D3FD62E6C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92B20-7736-4942-9766-CD9190AE4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678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47BFDA-3410-4FE9-A18C-6EF28AEDE8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F828BF-F4E4-4BD7-A1A2-EDD1E1CCFE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D6A2E3-427A-4F43-8306-B4E4737EB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9FD13-64AD-4D82-80EF-0F7A680012A7}" type="datetimeFigureOut">
              <a:rPr lang="en-US" smtClean="0"/>
              <a:t>2/17/2020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7C36A7-B863-4165-A43E-EDB5A4CD4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612F6-F45A-4384-BEEB-8A86F7D6C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92B20-7736-4942-9766-CD9190AE4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747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082EF5-C94B-4E2A-8576-F9F42E479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3AD3DD-B7C4-4A1A-9BE6-1C929FEF1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7B67C-B510-471D-B6D7-893743CDB0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79FD13-64AD-4D82-80EF-0F7A680012A7}" type="datetimeFigureOut">
              <a:rPr lang="en-US" smtClean="0"/>
              <a:t>2/17/2020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B081C-BAFB-4B28-BD0F-D1FC84CFF9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D574F-CF1D-4BBE-8974-D83B2E20E6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892B20-7736-4942-9766-CD9190AE4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103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030F86D-4B44-4DB1-93FD-37CE3241A1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600200"/>
          </a:xfrm>
        </p:spPr>
        <p:txBody>
          <a:bodyPr anchor="ctr">
            <a:normAutofit fontScale="90000"/>
          </a:bodyPr>
          <a:lstStyle/>
          <a:p>
            <a:r>
              <a:rPr lang="en-US" dirty="0"/>
              <a:t>Lecture 8: (Abbreviated) Lasso Regression &amp; Catch-up</a:t>
            </a:r>
          </a:p>
        </p:txBody>
      </p:sp>
    </p:spTree>
    <p:extLst>
      <p:ext uri="{BB962C8B-B14F-4D97-AF65-F5344CB8AC3E}">
        <p14:creationId xmlns:p14="http://schemas.microsoft.com/office/powerpoint/2010/main" val="25478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66A77-D284-4DA9-94FA-CCE667D51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</a:t>
            </a:r>
            <a:r>
              <a:rPr lang="en-US" dirty="0">
                <a:solidFill>
                  <a:srgbClr val="00B0F0"/>
                </a:solidFill>
              </a:rPr>
              <a:t>Sparsity</a:t>
            </a:r>
            <a:r>
              <a:rPr lang="en-US" dirty="0"/>
              <a:t>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02FCD-E955-456D-ACA5-5FDD6D9FDC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Vector w is sparse if many entries are zero</a:t>
            </a:r>
          </a:p>
          <a:p>
            <a:pPr lvl="1"/>
            <a:r>
              <a:rPr lang="en-US" dirty="0"/>
              <a:t>For example, if you roll a single die 3 times and record how many 1’s, 2’s, 3’s, 4’s, 5’s, and 6’s, you will have a sparse vector</a:t>
            </a:r>
          </a:p>
          <a:p>
            <a:pPr lvl="1"/>
            <a:r>
              <a:rPr lang="en-US" dirty="0"/>
              <a:t>In reality entries close to zero are sometimes considered “sparse”</a:t>
            </a:r>
          </a:p>
          <a:p>
            <a:pPr lvl="2"/>
            <a:r>
              <a:rPr lang="en-US" dirty="0"/>
              <a:t>Two definitions depending on context!!</a:t>
            </a:r>
          </a:p>
          <a:p>
            <a:endParaRPr lang="en-US" dirty="0"/>
          </a:p>
          <a:p>
            <a:r>
              <a:rPr lang="en-US" dirty="0"/>
              <a:t>Useful in many tasks</a:t>
            </a:r>
          </a:p>
          <a:p>
            <a:pPr lvl="1"/>
            <a:r>
              <a:rPr lang="en-US" dirty="0"/>
              <a:t>Efficiency: if size(w) is a billion, each prediction is expensive:</a:t>
            </a:r>
          </a:p>
          <a:p>
            <a:pPr lvl="2"/>
            <a:r>
              <a:rPr lang="en-US" dirty="0"/>
              <a:t>If part of an online system, this can be very slow</a:t>
            </a:r>
          </a:p>
          <a:p>
            <a:pPr lvl="2"/>
            <a:r>
              <a:rPr lang="en-US" dirty="0"/>
              <a:t>If w is sparse, prediction computation only depends on number of non-zeros</a:t>
            </a:r>
          </a:p>
        </p:txBody>
      </p:sp>
    </p:spTree>
    <p:extLst>
      <p:ext uri="{BB962C8B-B14F-4D97-AF65-F5344CB8AC3E}">
        <p14:creationId xmlns:p14="http://schemas.microsoft.com/office/powerpoint/2010/main" val="37892272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66A77-D284-4DA9-94FA-CCE667D51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</a:t>
            </a:r>
            <a:r>
              <a:rPr lang="en-US" dirty="0">
                <a:solidFill>
                  <a:srgbClr val="00B0F0"/>
                </a:solidFill>
              </a:rPr>
              <a:t>Sparsity</a:t>
            </a:r>
            <a:r>
              <a:rPr lang="en-US" dirty="0"/>
              <a:t>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02FCD-E955-456D-ACA5-5FDD6D9FDC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Useful in many tasks</a:t>
            </a:r>
          </a:p>
          <a:p>
            <a:pPr lvl="1"/>
            <a:r>
              <a:rPr lang="en-US" dirty="0"/>
              <a:t>Efficiency: if size(w) is a billion, each prediction is expensive:</a:t>
            </a:r>
          </a:p>
          <a:p>
            <a:pPr lvl="2"/>
            <a:r>
              <a:rPr lang="en-US" dirty="0"/>
              <a:t>If part of an online system, this can be very slow</a:t>
            </a:r>
          </a:p>
          <a:p>
            <a:pPr lvl="2"/>
            <a:r>
              <a:rPr lang="en-US" dirty="0"/>
              <a:t>If w is sparse, prediction computation only depends on number of non-zeros</a:t>
            </a:r>
          </a:p>
          <a:p>
            <a:pPr lvl="1"/>
            <a:r>
              <a:rPr lang="en-US" dirty="0"/>
              <a:t>Interpretability: what are the relevant dimensions to make a prediction?</a:t>
            </a:r>
          </a:p>
          <a:p>
            <a:pPr lvl="2"/>
            <a:r>
              <a:rPr lang="en-US" dirty="0"/>
              <a:t>What are the parts of the brain associated with particular words?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B79569-6535-49F0-84A7-B61F98CE8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1908" y="4155549"/>
            <a:ext cx="3628184" cy="269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445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71956D-6686-4360-BDEF-5AF480C551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>
            <a:normAutofit fontScale="90000"/>
          </a:bodyPr>
          <a:lstStyle/>
          <a:p>
            <a:r>
              <a:rPr lang="en-US" dirty="0"/>
              <a:t>Question: How do we find the “best” subset among all possible features?</a:t>
            </a:r>
          </a:p>
        </p:txBody>
      </p:sp>
    </p:spTree>
    <p:extLst>
      <p:ext uri="{BB962C8B-B14F-4D97-AF65-F5344CB8AC3E}">
        <p14:creationId xmlns:p14="http://schemas.microsoft.com/office/powerpoint/2010/main" val="3468812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B38DF-9AB2-4DD8-A51E-84B765A11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model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6C68F-8AE2-4CD6-86E4-ED09BC7BAD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Pick features</a:t>
            </a:r>
          </a:p>
          <a:p>
            <a:r>
              <a:rPr lang="en-US" dirty="0"/>
              <a:t>Greedy heuristic:</a:t>
            </a:r>
          </a:p>
          <a:p>
            <a:pPr lvl="1"/>
            <a:r>
              <a:rPr lang="en-US" dirty="0"/>
              <a:t>Start from an empty (or simple) set of features, F</a:t>
            </a:r>
            <a:r>
              <a:rPr lang="en-US" baseline="-25000" dirty="0"/>
              <a:t>0</a:t>
            </a:r>
            <a:r>
              <a:rPr lang="en-US" dirty="0"/>
              <a:t> = null</a:t>
            </a:r>
          </a:p>
          <a:p>
            <a:pPr lvl="1"/>
            <a:r>
              <a:rPr lang="en-US" dirty="0"/>
              <a:t>Run learning algorithm for current set of features, F</a:t>
            </a:r>
            <a:r>
              <a:rPr lang="en-US" baseline="-25000" dirty="0"/>
              <a:t>t</a:t>
            </a:r>
          </a:p>
          <a:p>
            <a:pPr lvl="2"/>
            <a:r>
              <a:rPr lang="en-US" dirty="0"/>
              <a:t>Obtain weights for these features</a:t>
            </a:r>
          </a:p>
          <a:p>
            <a:pPr lvl="1"/>
            <a:r>
              <a:rPr lang="en-US" dirty="0"/>
              <a:t>Select next best feature, h</a:t>
            </a:r>
            <a:r>
              <a:rPr lang="en-US" baseline="-25000" dirty="0"/>
              <a:t>i</a:t>
            </a:r>
            <a:r>
              <a:rPr lang="en-US" dirty="0"/>
              <a:t>(x)</a:t>
            </a:r>
            <a:r>
              <a:rPr lang="en-US" baseline="30000" dirty="0"/>
              <a:t>*</a:t>
            </a:r>
          </a:p>
          <a:p>
            <a:pPr lvl="2"/>
            <a:r>
              <a:rPr lang="en-US" dirty="0"/>
              <a:t>That is, </a:t>
            </a:r>
            <a:r>
              <a:rPr lang="en-US" dirty="0" err="1"/>
              <a:t>h</a:t>
            </a:r>
            <a:r>
              <a:rPr lang="en-US" baseline="-25000" dirty="0" err="1"/>
              <a:t>j</a:t>
            </a:r>
            <a:r>
              <a:rPr lang="en-US" dirty="0"/>
              <a:t>(x) that results in the lowest training error when using F</a:t>
            </a:r>
            <a:r>
              <a:rPr lang="en-US" baseline="-25000" dirty="0"/>
              <a:t>t</a:t>
            </a:r>
            <a:r>
              <a:rPr lang="en-US" dirty="0"/>
              <a:t> + {</a:t>
            </a:r>
            <a:r>
              <a:rPr lang="en-US" dirty="0" err="1"/>
              <a:t>h</a:t>
            </a:r>
            <a:r>
              <a:rPr lang="en-US" baseline="-25000" dirty="0" err="1"/>
              <a:t>j</a:t>
            </a:r>
            <a:r>
              <a:rPr lang="en-US" dirty="0"/>
              <a:t>(x)</a:t>
            </a:r>
            <a:r>
              <a:rPr lang="en-US" baseline="30000" dirty="0"/>
              <a:t>*</a:t>
            </a:r>
            <a:r>
              <a:rPr lang="en-US" dirty="0"/>
              <a:t>}</a:t>
            </a:r>
          </a:p>
          <a:p>
            <a:pPr lvl="1"/>
            <a:r>
              <a:rPr lang="en-US" dirty="0"/>
              <a:t>F</a:t>
            </a:r>
            <a:r>
              <a:rPr lang="en-US" baseline="-25000" dirty="0"/>
              <a:t>t+1</a:t>
            </a:r>
            <a:r>
              <a:rPr lang="en-US" dirty="0"/>
              <a:t> &lt;- F</a:t>
            </a:r>
            <a:r>
              <a:rPr lang="en-US" baseline="-25000" dirty="0"/>
              <a:t>t</a:t>
            </a:r>
            <a:r>
              <a:rPr lang="en-US" dirty="0"/>
              <a:t> + {h</a:t>
            </a:r>
            <a:r>
              <a:rPr lang="en-US" baseline="-25000" dirty="0"/>
              <a:t>i</a:t>
            </a:r>
            <a:r>
              <a:rPr lang="en-US" dirty="0"/>
              <a:t>(x)</a:t>
            </a:r>
            <a:r>
              <a:rPr lang="en-US" baseline="30000" dirty="0"/>
              <a:t>*</a:t>
            </a:r>
            <a:r>
              <a:rPr lang="en-US" dirty="0"/>
              <a:t>}</a:t>
            </a:r>
          </a:p>
          <a:p>
            <a:pPr lvl="1"/>
            <a:r>
              <a:rPr lang="en-US" dirty="0"/>
              <a:t>Recurse</a:t>
            </a:r>
          </a:p>
        </p:txBody>
      </p:sp>
    </p:spTree>
    <p:extLst>
      <p:ext uri="{BB962C8B-B14F-4D97-AF65-F5344CB8AC3E}">
        <p14:creationId xmlns:p14="http://schemas.microsoft.com/office/powerpoint/2010/main" val="3368948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B38DF-9AB2-4DD8-A51E-84B765A11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model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6C68F-8AE2-4CD6-86E4-ED09BC7BAD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Applicable in many situations (some of which we’ll talk about later in this course):</a:t>
            </a:r>
          </a:p>
          <a:p>
            <a:pPr lvl="1"/>
            <a:r>
              <a:rPr lang="en-US" dirty="0"/>
              <a:t>Logistic regression: selecting features (basis functions)</a:t>
            </a:r>
          </a:p>
          <a:p>
            <a:pPr lvl="1"/>
            <a:r>
              <a:rPr lang="en-US" dirty="0"/>
              <a:t>Naïve Bayes: selecting (independent) features p(</a:t>
            </a:r>
            <a:r>
              <a:rPr lang="en-US" dirty="0" err="1"/>
              <a:t>X</a:t>
            </a:r>
            <a:r>
              <a:rPr lang="en-US" baseline="-25000" dirty="0" err="1"/>
              <a:t>i</a:t>
            </a:r>
            <a:r>
              <a:rPr lang="en-US" dirty="0" err="1"/>
              <a:t>|Y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Decision trees: selecting leaves to expand</a:t>
            </a:r>
          </a:p>
          <a:p>
            <a:r>
              <a:rPr lang="en-US" dirty="0"/>
              <a:t>Only a heuristic</a:t>
            </a:r>
          </a:p>
          <a:p>
            <a:pPr lvl="1"/>
            <a:r>
              <a:rPr lang="en-US" dirty="0"/>
              <a:t>Finding the best set of k features is computationally intractable!</a:t>
            </a:r>
          </a:p>
        </p:txBody>
      </p:sp>
    </p:spTree>
    <p:extLst>
      <p:ext uri="{BB962C8B-B14F-4D97-AF65-F5344CB8AC3E}">
        <p14:creationId xmlns:p14="http://schemas.microsoft.com/office/powerpoint/2010/main" val="336473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B38DF-9AB2-4DD8-A51E-84B765A11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model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6C68F-8AE2-4CD6-86E4-ED09BC7BAD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Recurse until???  When do you stop?</a:t>
            </a:r>
          </a:p>
          <a:p>
            <a:pPr lvl="1"/>
            <a:r>
              <a:rPr lang="en-US" dirty="0"/>
              <a:t>When training error is low enough?</a:t>
            </a:r>
          </a:p>
          <a:p>
            <a:pPr lvl="1"/>
            <a:r>
              <a:rPr lang="en-US" dirty="0"/>
              <a:t>When test set error is low enough?</a:t>
            </a:r>
          </a:p>
          <a:p>
            <a:pPr lvl="1"/>
            <a:r>
              <a:rPr lang="en-US" dirty="0"/>
              <a:t>Using cross validation?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 algn="ctr">
              <a:buNone/>
            </a:pPr>
            <a:r>
              <a:rPr lang="en-US" dirty="0"/>
              <a:t>Is there a set solution that makes sense?</a:t>
            </a:r>
          </a:p>
        </p:txBody>
      </p:sp>
    </p:spTree>
    <p:extLst>
      <p:ext uri="{BB962C8B-B14F-4D97-AF65-F5344CB8AC3E}">
        <p14:creationId xmlns:p14="http://schemas.microsoft.com/office/powerpoint/2010/main" val="418809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26BD2-48A4-48A9-A6C1-60D111A38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Lasso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836D2-2522-4A6D-B1C2-35ADA555DB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</a:t>
            </a:r>
            <a:r>
              <a:rPr lang="en-US" dirty="0"/>
              <a:t>east </a:t>
            </a:r>
            <a:r>
              <a:rPr lang="en-US" b="1" dirty="0"/>
              <a:t>A</a:t>
            </a:r>
            <a:r>
              <a:rPr lang="en-US" dirty="0"/>
              <a:t>bsolute </a:t>
            </a:r>
            <a:r>
              <a:rPr lang="en-US" b="1" dirty="0"/>
              <a:t>S</a:t>
            </a:r>
            <a:r>
              <a:rPr lang="en-US" dirty="0"/>
              <a:t>hrinkage and </a:t>
            </a:r>
            <a:r>
              <a:rPr lang="en-US" b="1" dirty="0"/>
              <a:t>S</a:t>
            </a:r>
            <a:r>
              <a:rPr lang="en-US" dirty="0"/>
              <a:t>election </a:t>
            </a:r>
            <a:r>
              <a:rPr lang="en-US" b="1" dirty="0"/>
              <a:t>O</a:t>
            </a:r>
            <a:r>
              <a:rPr lang="en-US" dirty="0"/>
              <a:t>perator</a:t>
            </a:r>
          </a:p>
          <a:p>
            <a:r>
              <a:rPr lang="en-US" dirty="0"/>
              <a:t>Finds the coefficients that should be used (like linear regression)</a:t>
            </a:r>
          </a:p>
          <a:p>
            <a:r>
              <a:rPr lang="en-US" dirty="0"/>
              <a:t>Also provides best subset selection, which indicates the most valuable variables for using for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2891478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526</TotalTime>
  <Words>428</Words>
  <Application>Microsoft Office PowerPoint</Application>
  <PresentationFormat>Widescreen</PresentationFormat>
  <Paragraphs>48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Lecture 8: (Abbreviated) Lasso Regression &amp; Catch-up</vt:lpstr>
      <vt:lpstr>“Sparsity”</vt:lpstr>
      <vt:lpstr>“Sparsity”</vt:lpstr>
      <vt:lpstr>Question: How do we find the “best” subset among all possible features?</vt:lpstr>
      <vt:lpstr>Greedy model selection</vt:lpstr>
      <vt:lpstr>Greedy model selection</vt:lpstr>
      <vt:lpstr>Greedy model selection</vt:lpstr>
      <vt:lpstr>Lasso regression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8: Lasso Regression</dc:title>
  <dc:creator>Stephen M Douglass</dc:creator>
  <cp:lastModifiedBy>Stephen M Douglass</cp:lastModifiedBy>
  <cp:revision>16</cp:revision>
  <dcterms:created xsi:type="dcterms:W3CDTF">2020-01-31T21:48:56Z</dcterms:created>
  <dcterms:modified xsi:type="dcterms:W3CDTF">2020-02-17T13:42:31Z</dcterms:modified>
</cp:coreProperties>
</file>