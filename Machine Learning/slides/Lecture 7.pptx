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45" r:id="rId3"/>
    <p:sldId id="344" r:id="rId4"/>
    <p:sldId id="346" r:id="rId5"/>
    <p:sldId id="347" r:id="rId6"/>
    <p:sldId id="348" r:id="rId7"/>
    <p:sldId id="350" r:id="rId8"/>
    <p:sldId id="351" r:id="rId9"/>
    <p:sldId id="352" r:id="rId10"/>
    <p:sldId id="353" r:id="rId11"/>
    <p:sldId id="355" r:id="rId12"/>
    <p:sldId id="356" r:id="rId13"/>
    <p:sldId id="358" r:id="rId14"/>
    <p:sldId id="360" r:id="rId15"/>
    <p:sldId id="361" r:id="rId16"/>
    <p:sldId id="362" r:id="rId17"/>
    <p:sldId id="3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85" d="100"/>
          <a:sy n="85" d="100"/>
        </p:scale>
        <p:origin x="595"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44DA8-F222-400D-901A-7C6266F78F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25F2D9-7697-487D-ABBB-02A6CD077F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03AC41-078F-4AA4-927C-F04B2D696477}"/>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5" name="Footer Placeholder 4">
            <a:extLst>
              <a:ext uri="{FF2B5EF4-FFF2-40B4-BE49-F238E27FC236}">
                <a16:creationId xmlns:a16="http://schemas.microsoft.com/office/drawing/2014/main" id="{3D31685E-64F9-4C2B-BEB3-16CB7C0A1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7BECA0-2C2D-4E97-8BFA-5B7A30458EB5}"/>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3609051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62197-6103-46D3-8918-8A7A26AAB9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77D3A5-114E-4C3F-9A92-ED573045568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D80034-492B-401F-9EE3-268DB784ADB4}"/>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5" name="Footer Placeholder 4">
            <a:extLst>
              <a:ext uri="{FF2B5EF4-FFF2-40B4-BE49-F238E27FC236}">
                <a16:creationId xmlns:a16="http://schemas.microsoft.com/office/drawing/2014/main" id="{8B1A5A97-6F16-48BD-8D6D-5760813A0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351F69-4057-4158-A970-04D31013C6A6}"/>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733318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5009-319E-4E65-A84A-0E829E5547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2B686C-78D2-4447-B6B1-5076716D6A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E04BBD4-7D95-4303-8A5C-19C365DFE432}"/>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5" name="Footer Placeholder 4">
            <a:extLst>
              <a:ext uri="{FF2B5EF4-FFF2-40B4-BE49-F238E27FC236}">
                <a16:creationId xmlns:a16="http://schemas.microsoft.com/office/drawing/2014/main" id="{F6A7DF9E-A6DD-4D4E-800E-6C4CCEDF07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CA30A2-C338-45D7-85DD-B21C43F05A66}"/>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2730294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2B47-0D0F-4BFE-ADE4-46770BB0ED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60934C-70C9-4DF9-AC82-F5396E1BF82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240971-E738-477B-AF07-47DC02D4CFF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409BAE-42D6-4094-B14D-57F6486EA24E}"/>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6" name="Footer Placeholder 5">
            <a:extLst>
              <a:ext uri="{FF2B5EF4-FFF2-40B4-BE49-F238E27FC236}">
                <a16:creationId xmlns:a16="http://schemas.microsoft.com/office/drawing/2014/main" id="{2DB3E0A7-A64C-41AF-9C8A-DF21EA99F7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6810D-1C3C-4101-A61A-1D0A856E3E11}"/>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273249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D621-8255-41A8-965F-4399823755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6EC0EC-8EDB-436C-A425-6104BC2CA9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C613307-A7D7-4240-905C-7A0F895C0FB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EF14CB-AD04-474C-B2F2-0A87B89647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1F7B248-82C7-4E34-93E0-73CADCC6B2D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0A2721-8B9C-4CD6-963C-B7AFCC61E972}"/>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8" name="Footer Placeholder 7">
            <a:extLst>
              <a:ext uri="{FF2B5EF4-FFF2-40B4-BE49-F238E27FC236}">
                <a16:creationId xmlns:a16="http://schemas.microsoft.com/office/drawing/2014/main" id="{AFA01B9E-C4B4-4EDA-AA02-8DECE8B0F0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72B093-A7BB-4100-B318-1F12D3624271}"/>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2549745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49B3-7EF2-4927-8340-19E5C3FBAC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C081B7-ACF3-4043-B728-CED68EB0A4E9}"/>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4" name="Footer Placeholder 3">
            <a:extLst>
              <a:ext uri="{FF2B5EF4-FFF2-40B4-BE49-F238E27FC236}">
                <a16:creationId xmlns:a16="http://schemas.microsoft.com/office/drawing/2014/main" id="{DA300777-CF27-45AC-B47B-AE9A51E4EB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1DE8A6-B452-4B7E-8E8C-1A81E502A01B}"/>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56407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FF9B7C-9C99-47DF-B28C-B99F30F76107}"/>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3" name="Footer Placeholder 2">
            <a:extLst>
              <a:ext uri="{FF2B5EF4-FFF2-40B4-BE49-F238E27FC236}">
                <a16:creationId xmlns:a16="http://schemas.microsoft.com/office/drawing/2014/main" id="{410576F2-51F4-45D3-B1A2-8EC0DA06B7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674B25-78C9-4854-96CB-D2878E777B55}"/>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135517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DF80E-6197-4D93-A708-DB6CECFD8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299526-3F11-4BD8-B15D-4F997FA949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CF27E6-9733-4410-B125-7886855F0F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C90053C-97C7-42DA-A687-FA1E81E88779}"/>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6" name="Footer Placeholder 5">
            <a:extLst>
              <a:ext uri="{FF2B5EF4-FFF2-40B4-BE49-F238E27FC236}">
                <a16:creationId xmlns:a16="http://schemas.microsoft.com/office/drawing/2014/main" id="{76F85D1E-90C0-488E-977D-EF3DDDD168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63B23C-DD83-45C0-9E56-86DCCB5422D0}"/>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26192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56500-1DB0-4CDE-B536-3171193856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0B10555-D998-4C22-9D8D-53A0A85F81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04EBE6-3D21-4F26-B43B-437DDB9CB3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E30ECA-E45D-4352-8540-E486927184C6}"/>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6" name="Footer Placeholder 5">
            <a:extLst>
              <a:ext uri="{FF2B5EF4-FFF2-40B4-BE49-F238E27FC236}">
                <a16:creationId xmlns:a16="http://schemas.microsoft.com/office/drawing/2014/main" id="{22A86084-B37E-488F-A7AC-5662A47210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E9522E-A424-4EAA-A01D-E9D93032E571}"/>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90906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51E57-73A8-4F43-9B8D-B95E36FE9B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568C0D-5044-4121-A364-41B820E3097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375073-4F0C-40E2-9CA1-DE0CE8A93E3A}"/>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5" name="Footer Placeholder 4">
            <a:extLst>
              <a:ext uri="{FF2B5EF4-FFF2-40B4-BE49-F238E27FC236}">
                <a16:creationId xmlns:a16="http://schemas.microsoft.com/office/drawing/2014/main" id="{CD7C74BB-17B5-4123-B9F1-9A48300D9F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7B8FC-CAF8-47FF-BA4A-C24B4CF69509}"/>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3415055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D21B44-F897-47F3-AD43-F83F717DA8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329466-7804-4BA7-9915-6CB3289DCF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593D6D-2BBB-4A36-B5F8-762E96968F43}"/>
              </a:ext>
            </a:extLst>
          </p:cNvPr>
          <p:cNvSpPr>
            <a:spLocks noGrp="1"/>
          </p:cNvSpPr>
          <p:nvPr>
            <p:ph type="dt" sz="half" idx="10"/>
          </p:nvPr>
        </p:nvSpPr>
        <p:spPr/>
        <p:txBody>
          <a:bodyPr/>
          <a:lstStyle/>
          <a:p>
            <a:fld id="{5A1B57DC-203B-4982-ADE3-05F2CADB3980}" type="datetimeFigureOut">
              <a:rPr lang="en-US" smtClean="0"/>
              <a:t>1/31/2020</a:t>
            </a:fld>
            <a:endParaRPr lang="en-US"/>
          </a:p>
        </p:txBody>
      </p:sp>
      <p:sp>
        <p:nvSpPr>
          <p:cNvPr id="5" name="Footer Placeholder 4">
            <a:extLst>
              <a:ext uri="{FF2B5EF4-FFF2-40B4-BE49-F238E27FC236}">
                <a16:creationId xmlns:a16="http://schemas.microsoft.com/office/drawing/2014/main" id="{470F02CA-E729-4B39-AC29-41C9D3FA0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802E2-2F97-4515-9B0D-51EF70B28CD4}"/>
              </a:ext>
            </a:extLst>
          </p:cNvPr>
          <p:cNvSpPr>
            <a:spLocks noGrp="1"/>
          </p:cNvSpPr>
          <p:nvPr>
            <p:ph type="sldNum" sz="quarter" idx="12"/>
          </p:nvPr>
        </p:nvSpPr>
        <p:spPr/>
        <p:txBody>
          <a:bodyPr/>
          <a:lstStyle/>
          <a:p>
            <a:fld id="{B947316D-441A-44D1-A5A1-38848D400C0B}" type="slidenum">
              <a:rPr lang="en-US" smtClean="0"/>
              <a:t>‹#›</a:t>
            </a:fld>
            <a:endParaRPr lang="en-US"/>
          </a:p>
        </p:txBody>
      </p:sp>
    </p:spTree>
    <p:extLst>
      <p:ext uri="{BB962C8B-B14F-4D97-AF65-F5344CB8AC3E}">
        <p14:creationId xmlns:p14="http://schemas.microsoft.com/office/powerpoint/2010/main" val="865870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C670EF-DFBC-4AE9-84E8-BDAB1D7DC6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A9E10C-F263-4737-A443-FD76034877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0511D2-7267-443A-A490-8A08FFD97C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1B57DC-203B-4982-ADE3-05F2CADB3980}" type="datetimeFigureOut">
              <a:rPr lang="en-US" smtClean="0"/>
              <a:t>1/31/2020</a:t>
            </a:fld>
            <a:endParaRPr lang="en-US"/>
          </a:p>
        </p:txBody>
      </p:sp>
      <p:sp>
        <p:nvSpPr>
          <p:cNvPr id="5" name="Footer Placeholder 4">
            <a:extLst>
              <a:ext uri="{FF2B5EF4-FFF2-40B4-BE49-F238E27FC236}">
                <a16:creationId xmlns:a16="http://schemas.microsoft.com/office/drawing/2014/main" id="{CE90EDA9-D15C-47AD-AF88-8738C86F1D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04B6B4-41F9-4A65-943A-8F24610CF9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47316D-441A-44D1-A5A1-38848D400C0B}" type="slidenum">
              <a:rPr lang="en-US" smtClean="0"/>
              <a:t>‹#›</a:t>
            </a:fld>
            <a:endParaRPr lang="en-US"/>
          </a:p>
        </p:txBody>
      </p:sp>
    </p:spTree>
    <p:extLst>
      <p:ext uri="{BB962C8B-B14F-4D97-AF65-F5344CB8AC3E}">
        <p14:creationId xmlns:p14="http://schemas.microsoft.com/office/powerpoint/2010/main" val="2540464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30F86D-4B44-4DB1-93FD-37CE3241A13F}"/>
              </a:ext>
            </a:extLst>
          </p:cNvPr>
          <p:cNvSpPr>
            <a:spLocks noGrp="1"/>
          </p:cNvSpPr>
          <p:nvPr>
            <p:ph type="ctrTitle"/>
          </p:nvPr>
        </p:nvSpPr>
        <p:spPr>
          <a:xfrm>
            <a:off x="0" y="0"/>
            <a:ext cx="12192000" cy="1600200"/>
          </a:xfrm>
        </p:spPr>
        <p:txBody>
          <a:bodyPr anchor="ctr">
            <a:normAutofit fontScale="90000"/>
          </a:bodyPr>
          <a:lstStyle/>
          <a:p>
            <a:r>
              <a:rPr lang="en-US" dirty="0"/>
              <a:t>Lecture 7: Model Selection &amp; Assessment</a:t>
            </a:r>
          </a:p>
        </p:txBody>
      </p:sp>
    </p:spTree>
    <p:extLst>
      <p:ext uri="{BB962C8B-B14F-4D97-AF65-F5344CB8AC3E}">
        <p14:creationId xmlns:p14="http://schemas.microsoft.com/office/powerpoint/2010/main" val="25478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CF9D9-2861-40F2-ABD8-76C92B1356B7}"/>
              </a:ext>
            </a:extLst>
          </p:cNvPr>
          <p:cNvSpPr>
            <a:spLocks noGrp="1"/>
          </p:cNvSpPr>
          <p:nvPr>
            <p:ph type="title"/>
          </p:nvPr>
        </p:nvSpPr>
        <p:spPr/>
        <p:txBody>
          <a:bodyPr/>
          <a:lstStyle/>
          <a:p>
            <a:r>
              <a:rPr lang="en-US" dirty="0"/>
              <a:t>New terminology</a:t>
            </a:r>
          </a:p>
        </p:txBody>
      </p:sp>
      <p:sp>
        <p:nvSpPr>
          <p:cNvPr id="3" name="Content Placeholder 2">
            <a:extLst>
              <a:ext uri="{FF2B5EF4-FFF2-40B4-BE49-F238E27FC236}">
                <a16:creationId xmlns:a16="http://schemas.microsoft.com/office/drawing/2014/main" id="{35C1EA32-CDC9-44F2-BD93-40D6D02A4DD4}"/>
              </a:ext>
            </a:extLst>
          </p:cNvPr>
          <p:cNvSpPr>
            <a:spLocks noGrp="1"/>
          </p:cNvSpPr>
          <p:nvPr>
            <p:ph idx="1"/>
          </p:nvPr>
        </p:nvSpPr>
        <p:spPr/>
        <p:txBody>
          <a:bodyPr/>
          <a:lstStyle/>
          <a:p>
            <a:r>
              <a:rPr lang="en-US" dirty="0"/>
              <a:t>“</a:t>
            </a:r>
            <a:r>
              <a:rPr lang="en-US" dirty="0">
                <a:solidFill>
                  <a:srgbClr val="00B0F0"/>
                </a:solidFill>
              </a:rPr>
              <a:t>Validation set</a:t>
            </a:r>
            <a:r>
              <a:rPr lang="en-US" dirty="0"/>
              <a:t>” – a data set, like the training and test sets, but that’s used to evaluate the model/algorithm used</a:t>
            </a:r>
          </a:p>
          <a:p>
            <a:pPr lvl="1"/>
            <a:r>
              <a:rPr lang="en-US" dirty="0"/>
              <a:t>Can be a subset of the training set (as we saw last time)</a:t>
            </a:r>
          </a:p>
          <a:p>
            <a:pPr lvl="1"/>
            <a:r>
              <a:rPr lang="en-US" dirty="0"/>
              <a:t>Could also be a former test set:</a:t>
            </a:r>
          </a:p>
          <a:p>
            <a:pPr lvl="2"/>
            <a:r>
              <a:rPr lang="en-US" dirty="0"/>
              <a:t>You make a self-driving car using a bunch of training data</a:t>
            </a:r>
          </a:p>
          <a:p>
            <a:pPr lvl="2"/>
            <a:r>
              <a:rPr lang="en-US" dirty="0"/>
              <a:t>You set the car up on a course, and how it behaves on this course is the test data</a:t>
            </a:r>
          </a:p>
          <a:p>
            <a:pPr lvl="2"/>
            <a:r>
              <a:rPr lang="en-US" dirty="0"/>
              <a:t>Now, take that test data to evaluate your car, it’s the validation set</a:t>
            </a:r>
          </a:p>
          <a:p>
            <a:pPr lvl="2"/>
            <a:r>
              <a:rPr lang="en-US" dirty="0"/>
              <a:t>If it passes validation, toss the validation set and put it on the road with the user experience being the new test sets</a:t>
            </a:r>
          </a:p>
        </p:txBody>
      </p:sp>
    </p:spTree>
    <p:extLst>
      <p:ext uri="{BB962C8B-B14F-4D97-AF65-F5344CB8AC3E}">
        <p14:creationId xmlns:p14="http://schemas.microsoft.com/office/powerpoint/2010/main" val="4160737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D800D-27D9-4EA2-A60A-5DA9A1A26104}"/>
              </a:ext>
            </a:extLst>
          </p:cNvPr>
          <p:cNvSpPr>
            <a:spLocks noGrp="1"/>
          </p:cNvSpPr>
          <p:nvPr>
            <p:ph type="title"/>
          </p:nvPr>
        </p:nvSpPr>
        <p:spPr/>
        <p:txBody>
          <a:bodyPr/>
          <a:lstStyle/>
          <a:p>
            <a:r>
              <a:rPr lang="en-US" dirty="0"/>
              <a:t>Cross validation</a:t>
            </a:r>
          </a:p>
        </p:txBody>
      </p:sp>
      <p:sp>
        <p:nvSpPr>
          <p:cNvPr id="3" name="Content Placeholder 2">
            <a:extLst>
              <a:ext uri="{FF2B5EF4-FFF2-40B4-BE49-F238E27FC236}">
                <a16:creationId xmlns:a16="http://schemas.microsoft.com/office/drawing/2014/main" id="{99D5BC4A-4DA7-41AC-98C5-8A72DF6EDBCD}"/>
              </a:ext>
            </a:extLst>
          </p:cNvPr>
          <p:cNvSpPr>
            <a:spLocks noGrp="1"/>
          </p:cNvSpPr>
          <p:nvPr>
            <p:ph idx="1"/>
          </p:nvPr>
        </p:nvSpPr>
        <p:spPr/>
        <p:txBody>
          <a:bodyPr/>
          <a:lstStyle/>
          <a:p>
            <a:r>
              <a:rPr lang="en-US" dirty="0"/>
              <a:t>As we talked about last time, cross validation (or cross-validation) is a way to get example test data by using a fraction of training data as test data (while removing that fraction from your training data)</a:t>
            </a:r>
          </a:p>
          <a:p>
            <a:endParaRPr lang="en-US" dirty="0"/>
          </a:p>
          <a:p>
            <a:r>
              <a:rPr lang="en-US" dirty="0"/>
              <a:t>It works by separating the data into “groups” and evaluating by training on all groups except one and then testing on that one.  You would then switch the “one” that is being used as the test until all groups have been test groups</a:t>
            </a:r>
          </a:p>
        </p:txBody>
      </p:sp>
    </p:spTree>
    <p:extLst>
      <p:ext uri="{BB962C8B-B14F-4D97-AF65-F5344CB8AC3E}">
        <p14:creationId xmlns:p14="http://schemas.microsoft.com/office/powerpoint/2010/main" val="3585482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5F07F2-560E-47A4-8530-442BB3D42020}"/>
              </a:ext>
            </a:extLst>
          </p:cNvPr>
          <p:cNvSpPr>
            <a:spLocks noGrp="1"/>
          </p:cNvSpPr>
          <p:nvPr>
            <p:ph type="ctrTitle"/>
          </p:nvPr>
        </p:nvSpPr>
        <p:spPr>
          <a:xfrm>
            <a:off x="1524000" y="0"/>
            <a:ext cx="9144000" cy="6858000"/>
          </a:xfrm>
        </p:spPr>
        <p:txBody>
          <a:bodyPr anchor="ctr">
            <a:normAutofit/>
          </a:bodyPr>
          <a:lstStyle/>
          <a:p>
            <a:r>
              <a:rPr lang="en-US" dirty="0"/>
              <a:t>How many groups should you have?  Or, put another way, how many “pieces” of data should be in each group?</a:t>
            </a:r>
          </a:p>
        </p:txBody>
      </p:sp>
    </p:spTree>
    <p:extLst>
      <p:ext uri="{BB962C8B-B14F-4D97-AF65-F5344CB8AC3E}">
        <p14:creationId xmlns:p14="http://schemas.microsoft.com/office/powerpoint/2010/main" val="2223315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A2BEF-BD33-43D2-B163-19A908401D8D}"/>
              </a:ext>
            </a:extLst>
          </p:cNvPr>
          <p:cNvSpPr>
            <a:spLocks noGrp="1"/>
          </p:cNvSpPr>
          <p:nvPr>
            <p:ph type="title"/>
          </p:nvPr>
        </p:nvSpPr>
        <p:spPr/>
        <p:txBody>
          <a:bodyPr/>
          <a:lstStyle/>
          <a:p>
            <a:r>
              <a:rPr lang="en-US" dirty="0"/>
              <a:t>Well, let’s take the extremes</a:t>
            </a:r>
          </a:p>
        </p:txBody>
      </p:sp>
      <p:sp>
        <p:nvSpPr>
          <p:cNvPr id="3" name="Content Placeholder 2">
            <a:extLst>
              <a:ext uri="{FF2B5EF4-FFF2-40B4-BE49-F238E27FC236}">
                <a16:creationId xmlns:a16="http://schemas.microsoft.com/office/drawing/2014/main" id="{8BFA627A-776A-4A40-9705-0247819F50DA}"/>
              </a:ext>
            </a:extLst>
          </p:cNvPr>
          <p:cNvSpPr>
            <a:spLocks noGrp="1"/>
          </p:cNvSpPr>
          <p:nvPr>
            <p:ph idx="1"/>
          </p:nvPr>
        </p:nvSpPr>
        <p:spPr/>
        <p:txBody>
          <a:bodyPr/>
          <a:lstStyle/>
          <a:p>
            <a:r>
              <a:rPr lang="en-US" dirty="0"/>
              <a:t>Have the training set be a single piece of data, validation set will be all the other pieces.  Then, repeat by switching what the one piece is and averaging.</a:t>
            </a:r>
          </a:p>
          <a:p>
            <a:pPr lvl="1"/>
            <a:r>
              <a:rPr lang="en-US" dirty="0"/>
              <a:t>Is this good?  Why or why not?</a:t>
            </a:r>
          </a:p>
          <a:p>
            <a:endParaRPr lang="en-US" dirty="0"/>
          </a:p>
          <a:p>
            <a:r>
              <a:rPr lang="en-US" dirty="0"/>
              <a:t>Have the training set by all data except a single piece, validation set will be a single piece of data.  Then, repeat by switching what the one piece is and averaging.</a:t>
            </a:r>
          </a:p>
          <a:p>
            <a:pPr lvl="1"/>
            <a:r>
              <a:rPr lang="en-US" dirty="0"/>
              <a:t>Is this good?  Why or why not?</a:t>
            </a:r>
          </a:p>
        </p:txBody>
      </p:sp>
    </p:spTree>
    <p:extLst>
      <p:ext uri="{BB962C8B-B14F-4D97-AF65-F5344CB8AC3E}">
        <p14:creationId xmlns:p14="http://schemas.microsoft.com/office/powerpoint/2010/main" val="211603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640-C169-4360-A318-24986542EEA9}"/>
              </a:ext>
            </a:extLst>
          </p:cNvPr>
          <p:cNvSpPr>
            <a:spLocks noGrp="1"/>
          </p:cNvSpPr>
          <p:nvPr>
            <p:ph type="title"/>
          </p:nvPr>
        </p:nvSpPr>
        <p:spPr/>
        <p:txBody>
          <a:bodyPr/>
          <a:lstStyle/>
          <a:p>
            <a:r>
              <a:rPr lang="en-US" dirty="0"/>
              <a:t>Leave-one-out (LOO) cross validation</a:t>
            </a:r>
          </a:p>
        </p:txBody>
      </p:sp>
      <p:sp>
        <p:nvSpPr>
          <p:cNvPr id="3" name="Content Placeholder 2">
            <a:extLst>
              <a:ext uri="{FF2B5EF4-FFF2-40B4-BE49-F238E27FC236}">
                <a16:creationId xmlns:a16="http://schemas.microsoft.com/office/drawing/2014/main" id="{869A6F86-CDE4-4A94-A1BD-9EE6C73A4F9E}"/>
              </a:ext>
            </a:extLst>
          </p:cNvPr>
          <p:cNvSpPr>
            <a:spLocks noGrp="1"/>
          </p:cNvSpPr>
          <p:nvPr>
            <p:ph idx="1"/>
          </p:nvPr>
        </p:nvSpPr>
        <p:spPr/>
        <p:txBody>
          <a:bodyPr/>
          <a:lstStyle/>
          <a:p>
            <a:r>
              <a:rPr lang="en-US" dirty="0"/>
              <a:t>Consider a validation set with 1 example:</a:t>
            </a:r>
          </a:p>
          <a:p>
            <a:pPr lvl="1"/>
            <a:r>
              <a:rPr lang="en-US" dirty="0"/>
              <a:t>D – training data</a:t>
            </a:r>
          </a:p>
          <a:p>
            <a:pPr lvl="1"/>
            <a:r>
              <a:rPr lang="en-US" dirty="0" err="1"/>
              <a:t>D</a:t>
            </a:r>
            <a:r>
              <a:rPr lang="en-US" baseline="-25000" dirty="0" err="1"/>
              <a:t>j</a:t>
            </a:r>
            <a:r>
              <a:rPr lang="en-US" dirty="0"/>
              <a:t> – training data with the </a:t>
            </a:r>
            <a:r>
              <a:rPr lang="en-US" dirty="0" err="1"/>
              <a:t>jth</a:t>
            </a:r>
            <a:r>
              <a:rPr lang="en-US" dirty="0"/>
              <a:t> data point (</a:t>
            </a:r>
            <a:r>
              <a:rPr lang="en-US" dirty="0" err="1"/>
              <a:t>x</a:t>
            </a:r>
            <a:r>
              <a:rPr lang="en-US" baseline="-25000" dirty="0" err="1"/>
              <a:t>j</a:t>
            </a:r>
            <a:r>
              <a:rPr lang="en-US" dirty="0"/>
              <a:t>, </a:t>
            </a:r>
            <a:r>
              <a:rPr lang="en-US" dirty="0" err="1"/>
              <a:t>y</a:t>
            </a:r>
            <a:r>
              <a:rPr lang="en-US" baseline="-25000" dirty="0" err="1"/>
              <a:t>j</a:t>
            </a:r>
            <a:r>
              <a:rPr lang="en-US" dirty="0"/>
              <a:t>) moved to the validation set</a:t>
            </a:r>
          </a:p>
          <a:p>
            <a:r>
              <a:rPr lang="en-US" dirty="0"/>
              <a:t>Learn classifier </a:t>
            </a:r>
            <a:r>
              <a:rPr lang="en-US" dirty="0" err="1"/>
              <a:t>f</a:t>
            </a:r>
            <a:r>
              <a:rPr lang="en-US" baseline="-25000" dirty="0" err="1"/>
              <a:t>Dj</a:t>
            </a:r>
            <a:r>
              <a:rPr lang="en-US" dirty="0"/>
              <a:t> with </a:t>
            </a:r>
            <a:r>
              <a:rPr lang="en-US" dirty="0" err="1"/>
              <a:t>D</a:t>
            </a:r>
            <a:r>
              <a:rPr lang="en-US" baseline="-25000" dirty="0" err="1"/>
              <a:t>j</a:t>
            </a:r>
            <a:r>
              <a:rPr lang="en-US" dirty="0"/>
              <a:t> dataset</a:t>
            </a:r>
          </a:p>
          <a:p>
            <a:r>
              <a:rPr lang="en-US" dirty="0"/>
              <a:t>Estimate the error based on predicting </a:t>
            </a:r>
            <a:r>
              <a:rPr lang="en-US" dirty="0" err="1"/>
              <a:t>y</a:t>
            </a:r>
            <a:r>
              <a:rPr lang="en-US" baseline="-25000" dirty="0" err="1"/>
              <a:t>j</a:t>
            </a:r>
            <a:endParaRPr lang="en-US" baseline="-25000" dirty="0"/>
          </a:p>
          <a:p>
            <a:pPr lvl="1"/>
            <a:r>
              <a:rPr lang="en-US" dirty="0"/>
              <a:t>This is an unbiased estimate of the true error of </a:t>
            </a:r>
            <a:r>
              <a:rPr lang="en-US" dirty="0" err="1"/>
              <a:t>f</a:t>
            </a:r>
            <a:r>
              <a:rPr lang="en-US" baseline="-25000" dirty="0" err="1"/>
              <a:t>Dj</a:t>
            </a:r>
            <a:r>
              <a:rPr lang="en-US" dirty="0"/>
              <a:t>, which should be ~</a:t>
            </a:r>
            <a:r>
              <a:rPr lang="en-US" dirty="0" err="1"/>
              <a:t>f</a:t>
            </a:r>
            <a:r>
              <a:rPr lang="en-US" baseline="-25000" dirty="0" err="1"/>
              <a:t>D</a:t>
            </a:r>
            <a:endParaRPr lang="en-US" baseline="-25000" dirty="0"/>
          </a:p>
        </p:txBody>
      </p:sp>
    </p:spTree>
    <p:extLst>
      <p:ext uri="{BB962C8B-B14F-4D97-AF65-F5344CB8AC3E}">
        <p14:creationId xmlns:p14="http://schemas.microsoft.com/office/powerpoint/2010/main" val="43733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640-C169-4360-A318-24986542EEA9}"/>
              </a:ext>
            </a:extLst>
          </p:cNvPr>
          <p:cNvSpPr>
            <a:spLocks noGrp="1"/>
          </p:cNvSpPr>
          <p:nvPr>
            <p:ph type="title"/>
          </p:nvPr>
        </p:nvSpPr>
        <p:spPr/>
        <p:txBody>
          <a:bodyPr/>
          <a:lstStyle/>
          <a:p>
            <a:r>
              <a:rPr lang="en-US" dirty="0"/>
              <a:t>Leave-one-out (LOO) cross validation</a:t>
            </a:r>
          </a:p>
        </p:txBody>
      </p:sp>
      <p:sp>
        <p:nvSpPr>
          <p:cNvPr id="3" name="Content Placeholder 2">
            <a:extLst>
              <a:ext uri="{FF2B5EF4-FFF2-40B4-BE49-F238E27FC236}">
                <a16:creationId xmlns:a16="http://schemas.microsoft.com/office/drawing/2014/main" id="{869A6F86-CDE4-4A94-A1BD-9EE6C73A4F9E}"/>
              </a:ext>
            </a:extLst>
          </p:cNvPr>
          <p:cNvSpPr>
            <a:spLocks noGrp="1"/>
          </p:cNvSpPr>
          <p:nvPr>
            <p:ph idx="1"/>
          </p:nvPr>
        </p:nvSpPr>
        <p:spPr/>
        <p:txBody>
          <a:bodyPr/>
          <a:lstStyle/>
          <a:p>
            <a:r>
              <a:rPr lang="en-US" dirty="0"/>
              <a:t>Okay, I’ve got an estimate based on a nearly complete training dataset, but the estimate is based on a validation set of size 1, </a:t>
            </a:r>
            <a:r>
              <a:rPr lang="en-US" dirty="0" err="1"/>
              <a:t>soo</a:t>
            </a:r>
            <a:r>
              <a:rPr lang="en-US" dirty="0"/>
              <a:t>…</a:t>
            </a:r>
          </a:p>
          <a:p>
            <a:r>
              <a:rPr lang="en-US" dirty="0"/>
              <a:t>LOO cross validation – average over all possible data points, j:</a:t>
            </a:r>
          </a:p>
          <a:p>
            <a:pPr lvl="1"/>
            <a:r>
              <a:rPr lang="en-US" dirty="0"/>
              <a:t>For each j left out, build a new classifier/algorithm </a:t>
            </a:r>
            <a:r>
              <a:rPr lang="en-US" dirty="0" err="1"/>
              <a:t>f</a:t>
            </a:r>
            <a:r>
              <a:rPr lang="en-US" baseline="-25000" dirty="0" err="1"/>
              <a:t>Dj</a:t>
            </a:r>
            <a:endParaRPr lang="en-US" baseline="-25000" dirty="0"/>
          </a:p>
          <a:p>
            <a:pPr lvl="1"/>
            <a:r>
              <a:rPr lang="en-US" dirty="0"/>
              <a:t>Estimate the error as:</a:t>
            </a:r>
          </a:p>
          <a:p>
            <a:pPr lvl="1"/>
            <a:endParaRPr lang="en-US" dirty="0"/>
          </a:p>
          <a:p>
            <a:pPr lvl="1"/>
            <a:endParaRPr lang="en-US" dirty="0"/>
          </a:p>
          <a:p>
            <a:pPr lvl="1"/>
            <a:endParaRPr lang="en-US" dirty="0"/>
          </a:p>
          <a:p>
            <a:pPr marL="457200" lvl="1" indent="0" algn="ctr">
              <a:buNone/>
            </a:pPr>
            <a:r>
              <a:rPr lang="en-US" dirty="0"/>
              <a:t>Or, the average squared difference between the measurement and the prediction</a:t>
            </a:r>
          </a:p>
        </p:txBody>
      </p:sp>
      <p:pic>
        <p:nvPicPr>
          <p:cNvPr id="8" name="Picture 7">
            <a:extLst>
              <a:ext uri="{FF2B5EF4-FFF2-40B4-BE49-F238E27FC236}">
                <a16:creationId xmlns:a16="http://schemas.microsoft.com/office/drawing/2014/main" id="{0D5386C4-6141-4901-BECB-FECFAF8E9C55}"/>
              </a:ext>
            </a:extLst>
          </p:cNvPr>
          <p:cNvPicPr>
            <a:picLocks noChangeAspect="1"/>
          </p:cNvPicPr>
          <p:nvPr/>
        </p:nvPicPr>
        <p:blipFill>
          <a:blip r:embed="rId2"/>
          <a:stretch>
            <a:fillRect/>
          </a:stretch>
        </p:blipFill>
        <p:spPr>
          <a:xfrm>
            <a:off x="3173507" y="4224796"/>
            <a:ext cx="3496235" cy="730557"/>
          </a:xfrm>
          <a:prstGeom prst="rect">
            <a:avLst/>
          </a:prstGeom>
        </p:spPr>
      </p:pic>
    </p:spTree>
    <p:extLst>
      <p:ext uri="{BB962C8B-B14F-4D97-AF65-F5344CB8AC3E}">
        <p14:creationId xmlns:p14="http://schemas.microsoft.com/office/powerpoint/2010/main" val="1118138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640-C169-4360-A318-24986542EEA9}"/>
              </a:ext>
            </a:extLst>
          </p:cNvPr>
          <p:cNvSpPr>
            <a:spLocks noGrp="1"/>
          </p:cNvSpPr>
          <p:nvPr>
            <p:ph type="title"/>
          </p:nvPr>
        </p:nvSpPr>
        <p:spPr/>
        <p:txBody>
          <a:bodyPr/>
          <a:lstStyle/>
          <a:p>
            <a:r>
              <a:rPr lang="en-US" dirty="0"/>
              <a:t>Leave-one-out (LOO) cross validation</a:t>
            </a:r>
          </a:p>
        </p:txBody>
      </p:sp>
      <p:sp>
        <p:nvSpPr>
          <p:cNvPr id="3" name="Content Placeholder 2">
            <a:extLst>
              <a:ext uri="{FF2B5EF4-FFF2-40B4-BE49-F238E27FC236}">
                <a16:creationId xmlns:a16="http://schemas.microsoft.com/office/drawing/2014/main" id="{869A6F86-CDE4-4A94-A1BD-9EE6C73A4F9E}"/>
              </a:ext>
            </a:extLst>
          </p:cNvPr>
          <p:cNvSpPr>
            <a:spLocks noGrp="1"/>
          </p:cNvSpPr>
          <p:nvPr>
            <p:ph idx="1"/>
          </p:nvPr>
        </p:nvSpPr>
        <p:spPr/>
        <p:txBody>
          <a:bodyPr/>
          <a:lstStyle/>
          <a:p>
            <a:r>
              <a:rPr lang="en-US" dirty="0"/>
              <a:t>LOO cross validation (LOOCV) is an </a:t>
            </a:r>
            <a:r>
              <a:rPr lang="en-US" i="1" dirty="0"/>
              <a:t>almost</a:t>
            </a:r>
            <a:r>
              <a:rPr lang="en-US" dirty="0"/>
              <a:t> unbiased estimate of the true error (very, </a:t>
            </a:r>
            <a:r>
              <a:rPr lang="en-US" i="1" dirty="0"/>
              <a:t>very</a:t>
            </a:r>
            <a:r>
              <a:rPr lang="en-US" dirty="0"/>
              <a:t> close in most cases)</a:t>
            </a:r>
          </a:p>
          <a:p>
            <a:pPr lvl="1"/>
            <a:r>
              <a:rPr lang="en-US" dirty="0"/>
              <a:t>You are measuring your error in an unbiased way for </a:t>
            </a:r>
            <a:r>
              <a:rPr lang="en-US" dirty="0" err="1"/>
              <a:t>f</a:t>
            </a:r>
            <a:r>
              <a:rPr lang="en-US" baseline="-25000" dirty="0" err="1"/>
              <a:t>Dj</a:t>
            </a:r>
            <a:r>
              <a:rPr lang="en-US" dirty="0"/>
              <a:t>, but it isn’t exactly equal to your error for </a:t>
            </a:r>
            <a:r>
              <a:rPr lang="en-US" dirty="0" err="1"/>
              <a:t>f</a:t>
            </a:r>
            <a:r>
              <a:rPr lang="en-US" baseline="-25000" dirty="0" err="1"/>
              <a:t>D</a:t>
            </a:r>
            <a:endParaRPr lang="en-US" baseline="-25000" dirty="0"/>
          </a:p>
          <a:p>
            <a:pPr lvl="1"/>
            <a:r>
              <a:rPr lang="en-US" dirty="0"/>
              <a:t>So, it isn’t an estimate of the true error if you had all N data points (but if N is large, it is very, </a:t>
            </a:r>
            <a:r>
              <a:rPr lang="en-US" i="1" dirty="0"/>
              <a:t>very</a:t>
            </a:r>
            <a:r>
              <a:rPr lang="en-US" dirty="0"/>
              <a:t> close)</a:t>
            </a:r>
          </a:p>
          <a:p>
            <a:pPr lvl="1"/>
            <a:endParaRPr lang="en-US" dirty="0"/>
          </a:p>
          <a:p>
            <a:r>
              <a:rPr lang="en-US" dirty="0"/>
              <a:t>LOO is an extremely powerful, virtually unbiased method for model selection.  Feel free to use it for almost any application!</a:t>
            </a:r>
          </a:p>
        </p:txBody>
      </p:sp>
    </p:spTree>
    <p:extLst>
      <p:ext uri="{BB962C8B-B14F-4D97-AF65-F5344CB8AC3E}">
        <p14:creationId xmlns:p14="http://schemas.microsoft.com/office/powerpoint/2010/main" val="1116781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0115-5455-490B-B20A-24BCF01A9B55}"/>
              </a:ext>
            </a:extLst>
          </p:cNvPr>
          <p:cNvSpPr>
            <a:spLocks noGrp="1"/>
          </p:cNvSpPr>
          <p:nvPr>
            <p:ph type="title"/>
          </p:nvPr>
        </p:nvSpPr>
        <p:spPr/>
        <p:txBody>
          <a:bodyPr/>
          <a:lstStyle/>
          <a:p>
            <a:r>
              <a:rPr lang="en-US" dirty="0"/>
              <a:t>Too good to be true…</a:t>
            </a:r>
          </a:p>
        </p:txBody>
      </p:sp>
      <p:sp>
        <p:nvSpPr>
          <p:cNvPr id="3" name="Content Placeholder 2">
            <a:extLst>
              <a:ext uri="{FF2B5EF4-FFF2-40B4-BE49-F238E27FC236}">
                <a16:creationId xmlns:a16="http://schemas.microsoft.com/office/drawing/2014/main" id="{0CBF4E13-D6BD-4D99-85B9-AE58E75F23BC}"/>
              </a:ext>
            </a:extLst>
          </p:cNvPr>
          <p:cNvSpPr>
            <a:spLocks noGrp="1"/>
          </p:cNvSpPr>
          <p:nvPr>
            <p:ph idx="1"/>
          </p:nvPr>
        </p:nvSpPr>
        <p:spPr/>
        <p:txBody>
          <a:bodyPr/>
          <a:lstStyle/>
          <a:p>
            <a:r>
              <a:rPr lang="en-US" dirty="0"/>
              <a:t>What’s the computational cost of LOO/LOOCV?</a:t>
            </a:r>
          </a:p>
          <a:p>
            <a:r>
              <a:rPr lang="en-US" dirty="0"/>
              <a:t>Suppose you:</a:t>
            </a:r>
          </a:p>
          <a:p>
            <a:pPr lvl="1"/>
            <a:r>
              <a:rPr lang="en-US" dirty="0"/>
              <a:t>Have  100,000 data points</a:t>
            </a:r>
          </a:p>
          <a:p>
            <a:pPr lvl="1"/>
            <a:r>
              <a:rPr lang="en-US" dirty="0"/>
              <a:t>Have an efficient machine learning algorithm that only takes 1 second</a:t>
            </a:r>
          </a:p>
          <a:p>
            <a:pPr lvl="1"/>
            <a:r>
              <a:rPr lang="en-US" dirty="0"/>
              <a:t>How long would the validation take?</a:t>
            </a:r>
          </a:p>
        </p:txBody>
      </p:sp>
    </p:spTree>
    <p:extLst>
      <p:ext uri="{BB962C8B-B14F-4D97-AF65-F5344CB8AC3E}">
        <p14:creationId xmlns:p14="http://schemas.microsoft.com/office/powerpoint/2010/main" val="54074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15AF-9D78-4CEF-BBE9-54243BB54C17}"/>
              </a:ext>
            </a:extLst>
          </p:cNvPr>
          <p:cNvSpPr>
            <a:spLocks noGrp="1"/>
          </p:cNvSpPr>
          <p:nvPr>
            <p:ph type="title"/>
          </p:nvPr>
        </p:nvSpPr>
        <p:spPr/>
        <p:txBody>
          <a:bodyPr/>
          <a:lstStyle/>
          <a:p>
            <a:r>
              <a:rPr lang="en-US" dirty="0"/>
              <a:t>LOOCV</a:t>
            </a:r>
          </a:p>
        </p:txBody>
      </p:sp>
      <p:sp>
        <p:nvSpPr>
          <p:cNvPr id="3" name="Content Placeholder 2">
            <a:extLst>
              <a:ext uri="{FF2B5EF4-FFF2-40B4-BE49-F238E27FC236}">
                <a16:creationId xmlns:a16="http://schemas.microsoft.com/office/drawing/2014/main" id="{215E8962-E760-44B8-B4B5-BB9E82F2B297}"/>
              </a:ext>
            </a:extLst>
          </p:cNvPr>
          <p:cNvSpPr>
            <a:spLocks noGrp="1"/>
          </p:cNvSpPr>
          <p:nvPr>
            <p:ph idx="1"/>
          </p:nvPr>
        </p:nvSpPr>
        <p:spPr/>
        <p:txBody>
          <a:bodyPr/>
          <a:lstStyle/>
          <a:p>
            <a:r>
              <a:rPr lang="en-US" dirty="0"/>
              <a:t>A lot of this class will be:</a:t>
            </a:r>
          </a:p>
          <a:p>
            <a:pPr lvl="1"/>
            <a:r>
              <a:rPr lang="en-US" dirty="0"/>
              <a:t>“Wow, this is great!”</a:t>
            </a:r>
          </a:p>
          <a:p>
            <a:pPr lvl="1"/>
            <a:r>
              <a:rPr lang="en-US" dirty="0"/>
              <a:t>“Well, it doesn’t actually work that well with real data, is slow, etc.”</a:t>
            </a:r>
          </a:p>
          <a:p>
            <a:pPr lvl="1"/>
            <a:r>
              <a:rPr lang="en-US" dirty="0"/>
              <a:t>Cross validation is powerful but slow, and as such has many, many potential applications, particularly:</a:t>
            </a:r>
          </a:p>
          <a:p>
            <a:pPr lvl="2"/>
            <a:r>
              <a:rPr lang="en-US" dirty="0"/>
              <a:t>Not that much data</a:t>
            </a:r>
          </a:p>
          <a:p>
            <a:pPr lvl="2"/>
            <a:r>
              <a:rPr lang="en-US" dirty="0"/>
              <a:t>You don’t care about the time to test your algorithm (say, you want to publish your algorithm)</a:t>
            </a:r>
          </a:p>
        </p:txBody>
      </p:sp>
    </p:spTree>
    <p:extLst>
      <p:ext uri="{BB962C8B-B14F-4D97-AF65-F5344CB8AC3E}">
        <p14:creationId xmlns:p14="http://schemas.microsoft.com/office/powerpoint/2010/main" val="1279419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8D00-88D0-40CB-8B0E-4DF370C610B9}"/>
              </a:ext>
            </a:extLst>
          </p:cNvPr>
          <p:cNvSpPr>
            <a:spLocks noGrp="1"/>
          </p:cNvSpPr>
          <p:nvPr>
            <p:ph type="title"/>
          </p:nvPr>
        </p:nvSpPr>
        <p:spPr/>
        <p:txBody>
          <a:bodyPr/>
          <a:lstStyle/>
          <a:p>
            <a:r>
              <a:rPr lang="en-US" dirty="0"/>
              <a:t>k-fold Cross Validation</a:t>
            </a:r>
          </a:p>
        </p:txBody>
      </p:sp>
      <p:sp>
        <p:nvSpPr>
          <p:cNvPr id="3" name="Content Placeholder 2">
            <a:extLst>
              <a:ext uri="{FF2B5EF4-FFF2-40B4-BE49-F238E27FC236}">
                <a16:creationId xmlns:a16="http://schemas.microsoft.com/office/drawing/2014/main" id="{54259E67-8B9B-4CA8-B175-BA6533511E7D}"/>
              </a:ext>
            </a:extLst>
          </p:cNvPr>
          <p:cNvSpPr>
            <a:spLocks noGrp="1"/>
          </p:cNvSpPr>
          <p:nvPr>
            <p:ph idx="1"/>
          </p:nvPr>
        </p:nvSpPr>
        <p:spPr/>
        <p:txBody>
          <a:bodyPr/>
          <a:lstStyle/>
          <a:p>
            <a:r>
              <a:rPr lang="en-US" i="1" dirty="0"/>
              <a:t>Randomly</a:t>
            </a:r>
            <a:r>
              <a:rPr lang="en-US" dirty="0"/>
              <a:t> divide data into </a:t>
            </a:r>
            <a:r>
              <a:rPr lang="en-US" i="1" dirty="0"/>
              <a:t>k</a:t>
            </a:r>
            <a:r>
              <a:rPr lang="en-US" dirty="0"/>
              <a:t> equal parts</a:t>
            </a:r>
          </a:p>
          <a:p>
            <a:pPr lvl="1"/>
            <a:r>
              <a:rPr lang="en-US" dirty="0"/>
              <a:t>D</a:t>
            </a:r>
            <a:r>
              <a:rPr lang="en-US" baseline="-25000" dirty="0"/>
              <a:t>1</a:t>
            </a:r>
            <a:r>
              <a:rPr lang="en-US" dirty="0"/>
              <a:t>, D</a:t>
            </a:r>
            <a:r>
              <a:rPr lang="en-US" baseline="-25000" dirty="0"/>
              <a:t>2</a:t>
            </a:r>
            <a:r>
              <a:rPr lang="en-US" dirty="0"/>
              <a:t>, …, D</a:t>
            </a:r>
            <a:r>
              <a:rPr lang="en-US" baseline="-25000" dirty="0"/>
              <a:t>k</a:t>
            </a:r>
          </a:p>
          <a:p>
            <a:r>
              <a:rPr lang="en-US" dirty="0"/>
              <a:t>For each </a:t>
            </a:r>
            <a:r>
              <a:rPr lang="en-US" dirty="0" err="1"/>
              <a:t>i</a:t>
            </a:r>
            <a:r>
              <a:rPr lang="en-US" dirty="0"/>
              <a:t> from 1 to k:</a:t>
            </a:r>
          </a:p>
          <a:p>
            <a:pPr lvl="1"/>
            <a:r>
              <a:rPr lang="en-US" dirty="0"/>
              <a:t>Learn classifier </a:t>
            </a:r>
            <a:r>
              <a:rPr lang="en-US" dirty="0" err="1"/>
              <a:t>f</a:t>
            </a:r>
            <a:r>
              <a:rPr lang="en-US" baseline="-25000" dirty="0" err="1"/>
              <a:t>D</a:t>
            </a:r>
            <a:r>
              <a:rPr lang="en-US" baseline="-25000" dirty="0"/>
              <a:t>\Di</a:t>
            </a:r>
            <a:r>
              <a:rPr lang="en-US" dirty="0"/>
              <a:t> using all data except data in D</a:t>
            </a:r>
            <a:r>
              <a:rPr lang="en-US" baseline="-25000" dirty="0"/>
              <a:t>i</a:t>
            </a:r>
          </a:p>
          <a:p>
            <a:pPr lvl="1"/>
            <a:r>
              <a:rPr lang="en-US" dirty="0"/>
              <a:t>Estimate error of </a:t>
            </a:r>
            <a:r>
              <a:rPr lang="en-US" dirty="0" err="1"/>
              <a:t>f</a:t>
            </a:r>
            <a:r>
              <a:rPr lang="en-US" baseline="-25000" dirty="0" err="1"/>
              <a:t>D</a:t>
            </a:r>
            <a:r>
              <a:rPr lang="en-US" baseline="-25000" dirty="0"/>
              <a:t>\Di</a:t>
            </a:r>
            <a:r>
              <a:rPr lang="en-US" dirty="0"/>
              <a:t> on the validation set, D</a:t>
            </a:r>
            <a:r>
              <a:rPr lang="en-US" baseline="-25000" dirty="0"/>
              <a:t>i</a:t>
            </a:r>
            <a:r>
              <a:rPr lang="en-US" dirty="0"/>
              <a:t>:</a:t>
            </a:r>
          </a:p>
        </p:txBody>
      </p:sp>
      <p:pic>
        <p:nvPicPr>
          <p:cNvPr id="4" name="Picture 3">
            <a:extLst>
              <a:ext uri="{FF2B5EF4-FFF2-40B4-BE49-F238E27FC236}">
                <a16:creationId xmlns:a16="http://schemas.microsoft.com/office/drawing/2014/main" id="{D9227276-2FA6-433D-A7C6-66C4606F53AE}"/>
              </a:ext>
            </a:extLst>
          </p:cNvPr>
          <p:cNvPicPr>
            <a:picLocks noChangeAspect="1"/>
          </p:cNvPicPr>
          <p:nvPr/>
        </p:nvPicPr>
        <p:blipFill>
          <a:blip r:embed="rId2"/>
          <a:stretch>
            <a:fillRect/>
          </a:stretch>
        </p:blipFill>
        <p:spPr>
          <a:xfrm>
            <a:off x="2506195" y="4327450"/>
            <a:ext cx="5835463" cy="1138498"/>
          </a:xfrm>
          <a:prstGeom prst="rect">
            <a:avLst/>
          </a:prstGeom>
        </p:spPr>
      </p:pic>
      <p:pic>
        <p:nvPicPr>
          <p:cNvPr id="5" name="Picture 4">
            <a:extLst>
              <a:ext uri="{FF2B5EF4-FFF2-40B4-BE49-F238E27FC236}">
                <a16:creationId xmlns:a16="http://schemas.microsoft.com/office/drawing/2014/main" id="{AD5AF7C2-5072-4F7A-87F7-FFF36B093B63}"/>
              </a:ext>
            </a:extLst>
          </p:cNvPr>
          <p:cNvPicPr>
            <a:picLocks noChangeAspect="1"/>
          </p:cNvPicPr>
          <p:nvPr/>
        </p:nvPicPr>
        <p:blipFill>
          <a:blip r:embed="rId3"/>
          <a:stretch>
            <a:fillRect/>
          </a:stretch>
        </p:blipFill>
        <p:spPr>
          <a:xfrm>
            <a:off x="3587284" y="5746024"/>
            <a:ext cx="3122800" cy="861877"/>
          </a:xfrm>
          <a:prstGeom prst="rect">
            <a:avLst/>
          </a:prstGeom>
        </p:spPr>
      </p:pic>
    </p:spTree>
    <p:extLst>
      <p:ext uri="{BB962C8B-B14F-4D97-AF65-F5344CB8AC3E}">
        <p14:creationId xmlns:p14="http://schemas.microsoft.com/office/powerpoint/2010/main" val="2071264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8D00-88D0-40CB-8B0E-4DF370C610B9}"/>
              </a:ext>
            </a:extLst>
          </p:cNvPr>
          <p:cNvSpPr>
            <a:spLocks noGrp="1"/>
          </p:cNvSpPr>
          <p:nvPr>
            <p:ph type="title"/>
          </p:nvPr>
        </p:nvSpPr>
        <p:spPr/>
        <p:txBody>
          <a:bodyPr/>
          <a:lstStyle/>
          <a:p>
            <a:r>
              <a:rPr lang="en-US" dirty="0"/>
              <a:t>k-fold Cross Validation</a:t>
            </a:r>
          </a:p>
        </p:txBody>
      </p:sp>
      <p:sp>
        <p:nvSpPr>
          <p:cNvPr id="3" name="Content Placeholder 2">
            <a:extLst>
              <a:ext uri="{FF2B5EF4-FFF2-40B4-BE49-F238E27FC236}">
                <a16:creationId xmlns:a16="http://schemas.microsoft.com/office/drawing/2014/main" id="{54259E67-8B9B-4CA8-B175-BA6533511E7D}"/>
              </a:ext>
            </a:extLst>
          </p:cNvPr>
          <p:cNvSpPr>
            <a:spLocks noGrp="1"/>
          </p:cNvSpPr>
          <p:nvPr>
            <p:ph idx="1"/>
          </p:nvPr>
        </p:nvSpPr>
        <p:spPr/>
        <p:txBody>
          <a:bodyPr/>
          <a:lstStyle/>
          <a:p>
            <a:r>
              <a:rPr lang="en-US" i="1" dirty="0"/>
              <a:t>k</a:t>
            </a:r>
            <a:r>
              <a:rPr lang="en-US" dirty="0"/>
              <a:t>-fold cross validation is:</a:t>
            </a:r>
          </a:p>
          <a:p>
            <a:pPr lvl="1"/>
            <a:r>
              <a:rPr lang="en-US" dirty="0"/>
              <a:t>Much faster to compute than LOO</a:t>
            </a:r>
          </a:p>
          <a:p>
            <a:pPr lvl="1"/>
            <a:r>
              <a:rPr lang="en-US" dirty="0"/>
              <a:t>More biased (uses much less data)</a:t>
            </a:r>
          </a:p>
          <a:p>
            <a:pPr lvl="1"/>
            <a:r>
              <a:rPr lang="en-US" dirty="0"/>
              <a:t>Depends on user to select </a:t>
            </a:r>
            <a:r>
              <a:rPr lang="en-US" i="1" dirty="0"/>
              <a:t>k</a:t>
            </a:r>
            <a:r>
              <a:rPr lang="en-US" dirty="0"/>
              <a:t> (10 is pretty standard but can vary quite a bit)</a:t>
            </a:r>
          </a:p>
        </p:txBody>
      </p:sp>
    </p:spTree>
    <p:extLst>
      <p:ext uri="{BB962C8B-B14F-4D97-AF65-F5344CB8AC3E}">
        <p14:creationId xmlns:p14="http://schemas.microsoft.com/office/powerpoint/2010/main" val="2038123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7B4B1-B26F-4337-910B-804253C9D53A}"/>
              </a:ext>
            </a:extLst>
          </p:cNvPr>
          <p:cNvSpPr>
            <a:spLocks noGrp="1"/>
          </p:cNvSpPr>
          <p:nvPr>
            <p:ph type="title"/>
          </p:nvPr>
        </p:nvSpPr>
        <p:spPr/>
        <p:txBody>
          <a:bodyPr/>
          <a:lstStyle/>
          <a:p>
            <a:r>
              <a:rPr lang="en-US" dirty="0"/>
              <a:t>Limitations of cross validation</a:t>
            </a:r>
          </a:p>
        </p:txBody>
      </p:sp>
      <p:sp>
        <p:nvSpPr>
          <p:cNvPr id="3" name="Content Placeholder 2">
            <a:extLst>
              <a:ext uri="{FF2B5EF4-FFF2-40B4-BE49-F238E27FC236}">
                <a16:creationId xmlns:a16="http://schemas.microsoft.com/office/drawing/2014/main" id="{E096A9DA-BA25-42A3-87CE-E28000BD4DFF}"/>
              </a:ext>
            </a:extLst>
          </p:cNvPr>
          <p:cNvSpPr>
            <a:spLocks noGrp="1"/>
          </p:cNvSpPr>
          <p:nvPr>
            <p:ph idx="1"/>
          </p:nvPr>
        </p:nvSpPr>
        <p:spPr/>
        <p:txBody>
          <a:bodyPr/>
          <a:lstStyle/>
          <a:p>
            <a:r>
              <a:rPr lang="en-US" dirty="0"/>
              <a:t>You have relatively little data, say 20 examples</a:t>
            </a:r>
          </a:p>
          <a:p>
            <a:pPr lvl="1"/>
            <a:r>
              <a:rPr lang="en-US" i="1" dirty="0"/>
              <a:t>k</a:t>
            </a:r>
            <a:r>
              <a:rPr lang="en-US" dirty="0"/>
              <a:t>-fold cross validation is a bad choice since there won’t be much validation data in any one error test</a:t>
            </a:r>
          </a:p>
          <a:p>
            <a:pPr lvl="1"/>
            <a:r>
              <a:rPr lang="en-US" dirty="0"/>
              <a:t>LOO would work, but what if you want to know the error for a </a:t>
            </a:r>
            <a:r>
              <a:rPr lang="en-US" i="1" dirty="0"/>
              <a:t>particular example x</a:t>
            </a:r>
            <a:r>
              <a:rPr lang="en-US" dirty="0"/>
              <a:t> instead of the whole data?</a:t>
            </a:r>
          </a:p>
        </p:txBody>
      </p:sp>
    </p:spTree>
    <p:extLst>
      <p:ext uri="{BB962C8B-B14F-4D97-AF65-F5344CB8AC3E}">
        <p14:creationId xmlns:p14="http://schemas.microsoft.com/office/powerpoint/2010/main" val="4256501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158E1-9828-4742-8A0E-C73898BD6EB2}"/>
              </a:ext>
            </a:extLst>
          </p:cNvPr>
          <p:cNvSpPr>
            <a:spLocks noGrp="1"/>
          </p:cNvSpPr>
          <p:nvPr>
            <p:ph type="title"/>
          </p:nvPr>
        </p:nvSpPr>
        <p:spPr/>
        <p:txBody>
          <a:bodyPr/>
          <a:lstStyle/>
          <a:p>
            <a:r>
              <a:rPr lang="en-US" dirty="0"/>
              <a:t>Bootstrapping</a:t>
            </a:r>
          </a:p>
        </p:txBody>
      </p:sp>
      <p:sp>
        <p:nvSpPr>
          <p:cNvPr id="3" name="Content Placeholder 2">
            <a:extLst>
              <a:ext uri="{FF2B5EF4-FFF2-40B4-BE49-F238E27FC236}">
                <a16:creationId xmlns:a16="http://schemas.microsoft.com/office/drawing/2014/main" id="{EABF80B9-3D39-4B90-8A30-6EF2267A61C4}"/>
              </a:ext>
            </a:extLst>
          </p:cNvPr>
          <p:cNvSpPr>
            <a:spLocks noGrp="1"/>
          </p:cNvSpPr>
          <p:nvPr>
            <p:ph idx="1"/>
          </p:nvPr>
        </p:nvSpPr>
        <p:spPr/>
        <p:txBody>
          <a:bodyPr/>
          <a:lstStyle/>
          <a:p>
            <a:r>
              <a:rPr lang="en-US" dirty="0"/>
              <a:t>Given a set of data that are independent and identically distributed (</a:t>
            </a:r>
            <a:r>
              <a:rPr lang="en-US" dirty="0" err="1"/>
              <a:t>i.i.d</a:t>
            </a:r>
            <a:r>
              <a:rPr lang="en-US" dirty="0"/>
              <a:t>.) samples, D = {Z</a:t>
            </a:r>
            <a:r>
              <a:rPr lang="en-US" baseline="-25000" dirty="0"/>
              <a:t>1</a:t>
            </a:r>
            <a:r>
              <a:rPr lang="en-US" dirty="0"/>
              <a:t>, Z</a:t>
            </a:r>
            <a:r>
              <a:rPr lang="en-US" baseline="-25000" dirty="0"/>
              <a:t>2</a:t>
            </a:r>
            <a:r>
              <a:rPr lang="en-US" dirty="0"/>
              <a:t>,…Z</a:t>
            </a:r>
            <a:r>
              <a:rPr lang="en-US" baseline="-25000" dirty="0"/>
              <a:t>n</a:t>
            </a:r>
            <a:r>
              <a:rPr lang="en-US" dirty="0"/>
              <a:t>}, we want to compute θ</a:t>
            </a:r>
          </a:p>
          <a:p>
            <a:endParaRPr lang="en-US" dirty="0"/>
          </a:p>
          <a:p>
            <a:r>
              <a:rPr lang="en-US" dirty="0"/>
              <a:t>For b=1, 2,…B, we define the </a:t>
            </a:r>
            <a:r>
              <a:rPr lang="en-US" i="1" dirty="0" err="1"/>
              <a:t>b</a:t>
            </a:r>
            <a:r>
              <a:rPr lang="en-US" dirty="0" err="1"/>
              <a:t>th</a:t>
            </a:r>
            <a:r>
              <a:rPr lang="en-US" dirty="0"/>
              <a:t> bootstrapped dataset as drawing n samples </a:t>
            </a:r>
            <a:r>
              <a:rPr lang="en-US" b="1" i="1" dirty="0"/>
              <a:t>with replacement</a:t>
            </a:r>
            <a:r>
              <a:rPr lang="en-US" dirty="0"/>
              <a:t> from D</a:t>
            </a:r>
          </a:p>
        </p:txBody>
      </p:sp>
      <p:pic>
        <p:nvPicPr>
          <p:cNvPr id="4" name="Picture 3">
            <a:extLst>
              <a:ext uri="{FF2B5EF4-FFF2-40B4-BE49-F238E27FC236}">
                <a16:creationId xmlns:a16="http://schemas.microsoft.com/office/drawing/2014/main" id="{1E27C9A8-B9C2-4820-86D6-298FFA9A6A64}"/>
              </a:ext>
            </a:extLst>
          </p:cNvPr>
          <p:cNvPicPr>
            <a:picLocks noChangeAspect="1"/>
          </p:cNvPicPr>
          <p:nvPr/>
        </p:nvPicPr>
        <p:blipFill>
          <a:blip r:embed="rId2"/>
          <a:stretch>
            <a:fillRect/>
          </a:stretch>
        </p:blipFill>
        <p:spPr>
          <a:xfrm>
            <a:off x="1685365" y="4443372"/>
            <a:ext cx="7651376" cy="897357"/>
          </a:xfrm>
          <a:prstGeom prst="rect">
            <a:avLst/>
          </a:prstGeom>
        </p:spPr>
      </p:pic>
      <p:pic>
        <p:nvPicPr>
          <p:cNvPr id="5" name="Picture 4">
            <a:extLst>
              <a:ext uri="{FF2B5EF4-FFF2-40B4-BE49-F238E27FC236}">
                <a16:creationId xmlns:a16="http://schemas.microsoft.com/office/drawing/2014/main" id="{BBEB8BE9-4C72-4721-9914-99C700E05E1F}"/>
              </a:ext>
            </a:extLst>
          </p:cNvPr>
          <p:cNvPicPr>
            <a:picLocks noChangeAspect="1"/>
          </p:cNvPicPr>
          <p:nvPr/>
        </p:nvPicPr>
        <p:blipFill>
          <a:blip r:embed="rId3"/>
          <a:stretch>
            <a:fillRect/>
          </a:stretch>
        </p:blipFill>
        <p:spPr>
          <a:xfrm>
            <a:off x="1775013" y="5564900"/>
            <a:ext cx="7409329" cy="623074"/>
          </a:xfrm>
          <a:prstGeom prst="rect">
            <a:avLst/>
          </a:prstGeom>
        </p:spPr>
      </p:pic>
    </p:spTree>
    <p:extLst>
      <p:ext uri="{BB962C8B-B14F-4D97-AF65-F5344CB8AC3E}">
        <p14:creationId xmlns:p14="http://schemas.microsoft.com/office/powerpoint/2010/main" val="1699785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701F5-A91B-40A8-ADE3-531318C0DFCF}"/>
              </a:ext>
            </a:extLst>
          </p:cNvPr>
          <p:cNvSpPr>
            <a:spLocks noGrp="1"/>
          </p:cNvSpPr>
          <p:nvPr>
            <p:ph type="title"/>
          </p:nvPr>
        </p:nvSpPr>
        <p:spPr/>
        <p:txBody>
          <a:bodyPr/>
          <a:lstStyle/>
          <a:p>
            <a:r>
              <a:rPr lang="en-US" dirty="0"/>
              <a:t>Bootstrap applications</a:t>
            </a:r>
          </a:p>
        </p:txBody>
      </p:sp>
      <p:sp>
        <p:nvSpPr>
          <p:cNvPr id="3" name="Content Placeholder 2">
            <a:extLst>
              <a:ext uri="{FF2B5EF4-FFF2-40B4-BE49-F238E27FC236}">
                <a16:creationId xmlns:a16="http://schemas.microsoft.com/office/drawing/2014/main" id="{521CEA06-6A87-4E36-8186-E98C996E9F17}"/>
              </a:ext>
            </a:extLst>
          </p:cNvPr>
          <p:cNvSpPr>
            <a:spLocks noGrp="1"/>
          </p:cNvSpPr>
          <p:nvPr>
            <p:ph idx="1"/>
          </p:nvPr>
        </p:nvSpPr>
        <p:spPr/>
        <p:txBody>
          <a:bodyPr/>
          <a:lstStyle/>
          <a:p>
            <a:r>
              <a:rPr lang="en-US" dirty="0"/>
              <a:t>Common applications of the bootstrap:</a:t>
            </a:r>
          </a:p>
          <a:p>
            <a:pPr lvl="1"/>
            <a:r>
              <a:rPr lang="en-US" dirty="0"/>
              <a:t>Estimate parameters that escape simple analysis like the variance or median of an estimate</a:t>
            </a:r>
          </a:p>
          <a:p>
            <a:pPr lvl="1"/>
            <a:r>
              <a:rPr lang="en-US" dirty="0"/>
              <a:t>Confidence intervals</a:t>
            </a:r>
          </a:p>
          <a:p>
            <a:pPr lvl="1"/>
            <a:r>
              <a:rPr lang="en-US" dirty="0"/>
              <a:t>Estimates of error for a particular example:</a:t>
            </a:r>
          </a:p>
        </p:txBody>
      </p:sp>
      <p:pic>
        <p:nvPicPr>
          <p:cNvPr id="4" name="Picture 3">
            <a:extLst>
              <a:ext uri="{FF2B5EF4-FFF2-40B4-BE49-F238E27FC236}">
                <a16:creationId xmlns:a16="http://schemas.microsoft.com/office/drawing/2014/main" id="{A9490B09-2D98-4E80-B434-F65DB5A24706}"/>
              </a:ext>
            </a:extLst>
          </p:cNvPr>
          <p:cNvPicPr>
            <a:picLocks noChangeAspect="1"/>
          </p:cNvPicPr>
          <p:nvPr/>
        </p:nvPicPr>
        <p:blipFill>
          <a:blip r:embed="rId2"/>
          <a:stretch>
            <a:fillRect/>
          </a:stretch>
        </p:blipFill>
        <p:spPr>
          <a:xfrm>
            <a:off x="2158253" y="3774330"/>
            <a:ext cx="7875494" cy="3034299"/>
          </a:xfrm>
          <a:prstGeom prst="rect">
            <a:avLst/>
          </a:prstGeom>
        </p:spPr>
      </p:pic>
    </p:spTree>
    <p:extLst>
      <p:ext uri="{BB962C8B-B14F-4D97-AF65-F5344CB8AC3E}">
        <p14:creationId xmlns:p14="http://schemas.microsoft.com/office/powerpoint/2010/main" val="1155193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D3D51-CCCB-402A-8537-DA4D0E733FCE}"/>
              </a:ext>
            </a:extLst>
          </p:cNvPr>
          <p:cNvSpPr>
            <a:spLocks noGrp="1"/>
          </p:cNvSpPr>
          <p:nvPr>
            <p:ph type="title"/>
          </p:nvPr>
        </p:nvSpPr>
        <p:spPr/>
        <p:txBody>
          <a:bodyPr/>
          <a:lstStyle/>
          <a:p>
            <a:r>
              <a:rPr lang="en-US" dirty="0"/>
              <a:t>Bootstrap takeaways</a:t>
            </a:r>
          </a:p>
        </p:txBody>
      </p:sp>
      <p:sp>
        <p:nvSpPr>
          <p:cNvPr id="3" name="Content Placeholder 2">
            <a:extLst>
              <a:ext uri="{FF2B5EF4-FFF2-40B4-BE49-F238E27FC236}">
                <a16:creationId xmlns:a16="http://schemas.microsoft.com/office/drawing/2014/main" id="{2F0D7C77-B111-45C8-9B3F-660553B38242}"/>
              </a:ext>
            </a:extLst>
          </p:cNvPr>
          <p:cNvSpPr>
            <a:spLocks noGrp="1"/>
          </p:cNvSpPr>
          <p:nvPr>
            <p:ph idx="1"/>
          </p:nvPr>
        </p:nvSpPr>
        <p:spPr/>
        <p:txBody>
          <a:bodyPr/>
          <a:lstStyle/>
          <a:p>
            <a:r>
              <a:rPr lang="en-US" dirty="0"/>
              <a:t>Advantages:</a:t>
            </a:r>
          </a:p>
          <a:p>
            <a:pPr lvl="1"/>
            <a:r>
              <a:rPr lang="en-US" dirty="0"/>
              <a:t>Bootstrap is very generally applicable. Build a confidence interval around anything</a:t>
            </a:r>
          </a:p>
          <a:p>
            <a:pPr lvl="1"/>
            <a:r>
              <a:rPr lang="en-US" dirty="0"/>
              <a:t>Very simple to use</a:t>
            </a:r>
          </a:p>
          <a:p>
            <a:pPr lvl="1"/>
            <a:r>
              <a:rPr lang="en-US" dirty="0"/>
              <a:t>Appears to give meaningful results even when the amount of data is very small</a:t>
            </a:r>
          </a:p>
          <a:p>
            <a:pPr lvl="1"/>
            <a:r>
              <a:rPr lang="en-US" dirty="0"/>
              <a:t>Very strong asymptotic theory (as num. examples goes to infinity)</a:t>
            </a:r>
          </a:p>
        </p:txBody>
      </p:sp>
    </p:spTree>
    <p:extLst>
      <p:ext uri="{BB962C8B-B14F-4D97-AF65-F5344CB8AC3E}">
        <p14:creationId xmlns:p14="http://schemas.microsoft.com/office/powerpoint/2010/main" val="3305436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D3D51-CCCB-402A-8537-DA4D0E733FCE}"/>
              </a:ext>
            </a:extLst>
          </p:cNvPr>
          <p:cNvSpPr>
            <a:spLocks noGrp="1"/>
          </p:cNvSpPr>
          <p:nvPr>
            <p:ph type="title"/>
          </p:nvPr>
        </p:nvSpPr>
        <p:spPr/>
        <p:txBody>
          <a:bodyPr/>
          <a:lstStyle/>
          <a:p>
            <a:r>
              <a:rPr lang="en-US" dirty="0"/>
              <a:t>Bootstrap takeaways</a:t>
            </a:r>
          </a:p>
        </p:txBody>
      </p:sp>
      <p:sp>
        <p:nvSpPr>
          <p:cNvPr id="3" name="Content Placeholder 2">
            <a:extLst>
              <a:ext uri="{FF2B5EF4-FFF2-40B4-BE49-F238E27FC236}">
                <a16:creationId xmlns:a16="http://schemas.microsoft.com/office/drawing/2014/main" id="{2F0D7C77-B111-45C8-9B3F-660553B38242}"/>
              </a:ext>
            </a:extLst>
          </p:cNvPr>
          <p:cNvSpPr>
            <a:spLocks noGrp="1"/>
          </p:cNvSpPr>
          <p:nvPr>
            <p:ph idx="1"/>
          </p:nvPr>
        </p:nvSpPr>
        <p:spPr/>
        <p:txBody>
          <a:bodyPr/>
          <a:lstStyle/>
          <a:p>
            <a:r>
              <a:rPr lang="en-US" dirty="0"/>
              <a:t>Disadvantages:</a:t>
            </a:r>
          </a:p>
          <a:p>
            <a:pPr lvl="1"/>
            <a:r>
              <a:rPr lang="en-US" dirty="0"/>
              <a:t>Very few meaningful finite-sample guarantees</a:t>
            </a:r>
          </a:p>
          <a:p>
            <a:pPr lvl="1"/>
            <a:r>
              <a:rPr lang="en-US" dirty="0"/>
              <a:t>Potentially computationally intensive </a:t>
            </a:r>
          </a:p>
          <a:p>
            <a:pPr lvl="1"/>
            <a:r>
              <a:rPr lang="en-US" dirty="0"/>
              <a:t>Reliability relies on test statistic and rate of convergence of empirical CDF to true CDF, which is unknown</a:t>
            </a:r>
          </a:p>
          <a:p>
            <a:pPr lvl="1"/>
            <a:r>
              <a:rPr lang="en-US" dirty="0"/>
              <a:t>Poor performance on “extreme statistics” (e.g., the max)</a:t>
            </a:r>
          </a:p>
        </p:txBody>
      </p:sp>
    </p:spTree>
    <p:extLst>
      <p:ext uri="{BB962C8B-B14F-4D97-AF65-F5344CB8AC3E}">
        <p14:creationId xmlns:p14="http://schemas.microsoft.com/office/powerpoint/2010/main" val="1426402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1594</TotalTime>
  <Words>1033</Words>
  <Application>Microsoft Office PowerPoint</Application>
  <PresentationFormat>Widescreen</PresentationFormat>
  <Paragraphs>91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Lecture 7: Model Selection &amp; Assessment</vt:lpstr>
      <vt:lpstr>New terminology</vt:lpstr>
      <vt:lpstr>Cross validation</vt:lpstr>
      <vt:lpstr>How many groups should you have?  Or, put another way, how many “pieces” of data should be in each group?</vt:lpstr>
      <vt:lpstr>Well, let’s take the extremes</vt:lpstr>
      <vt:lpstr>Leave-one-out (LOO) cross validation</vt:lpstr>
      <vt:lpstr>Leave-one-out (LOO) cross validation</vt:lpstr>
      <vt:lpstr>Leave-one-out (LOO) cross validation</vt:lpstr>
      <vt:lpstr>Too good to be true…</vt:lpstr>
      <vt:lpstr>LOOCV</vt:lpstr>
      <vt:lpstr>k-fold Cross Validation</vt:lpstr>
      <vt:lpstr>k-fold Cross Validation</vt:lpstr>
      <vt:lpstr>Limitations of cross validation</vt:lpstr>
      <vt:lpstr>Bootstrapping</vt:lpstr>
      <vt:lpstr>Bootstrap applications</vt:lpstr>
      <vt:lpstr>Bootstrap takeaways</vt:lpstr>
      <vt:lpstr>Bootstrap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Model Selection &amp; Assessment</dc:title>
  <dc:creator>Stephen M Douglass</dc:creator>
  <cp:lastModifiedBy>Stephen M Douglass</cp:lastModifiedBy>
  <cp:revision>32</cp:revision>
  <dcterms:created xsi:type="dcterms:W3CDTF">2020-01-30T19:12:59Z</dcterms:created>
  <dcterms:modified xsi:type="dcterms:W3CDTF">2020-01-31T21:48:46Z</dcterms:modified>
</cp:coreProperties>
</file>