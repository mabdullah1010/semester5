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19A9-0338-4E39-A0AF-9F1726D2E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0EC81-77B8-4287-B822-817AC55DC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7BEF1-204C-497E-B479-EF15E2C2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189C3-63CB-4EC1-BA21-5BBF700F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D6A45-C36D-453C-A2E4-E2624B72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7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E154-BF92-452A-B8AC-BB005EF8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8B850-BE12-4F7A-9E18-1701D4A9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57478-557F-4589-A003-7DF9C9CD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31B93-D4C1-4917-A2D4-178BE9F6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816E-07DD-41CF-99BD-269E7DE8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6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299F-056E-4BFA-9C27-9D35FCC9E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4D69D-C6A4-423B-8406-4AA5E8667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F4DEE-BA8B-4B58-899E-074A1634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0569B-0A4A-4589-8041-D0C75294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B248-84E2-4381-AFDA-0B56A69F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0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F29B-3E4A-4DB1-980C-233A4F03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6B3FA-E4DB-49AD-9625-A2D0B962B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BCF05-29D8-4484-9AED-F782FD834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6D417-E5E3-48F0-AD62-1A285AC2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A17B0-B0AF-4783-997A-07C46BBD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2EB5B-0936-4198-B7E9-E0C61C5A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A2A6-6871-4436-B243-575071ED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E6A1B-233F-4407-8086-C903CAC92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B64AE-AD8E-429C-92E6-F1B572634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C8330-BFA3-4E2E-976B-158B32F8D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31BB7-1A5E-4A10-A8EE-8ABDCDC52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DD0FC-908B-49F4-89DD-020F5216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F744D-7BC0-46CB-A665-75A9A8F41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8317D-DAA0-4D83-B467-046C393A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6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82D2-BAF4-43A7-BF75-224E169E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4DD01-BBF6-4B01-BCE3-3EE5B97B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9E061-4B71-4835-87D9-E8F41D50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39E33-665C-4F7A-BD7E-3499CE97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2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C7700-DC03-4F84-8E4C-6538D6D3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7417C-9D34-4543-AAC1-7F5B51B4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FDA5-41BE-4895-B32E-18858ABA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3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DD9E-F5E8-42B1-AFF9-F1F6A198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6472-49B5-4175-9F0D-0D70ED07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49FCE-0E3B-43F7-A520-0471CA66B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AFE80-15A8-455D-8338-06F05CB9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DF6B2-66FD-4725-AB92-74F0DB3D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8345F-DF75-4BA8-B7D4-33E2F762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78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8FC8-85AD-441E-8898-406C9294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FD557-F1FF-4F46-B7A6-9C8259FA0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9139A-9BA7-459D-9722-FF35E2D62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876B-F76B-4665-8367-0E19A1F7B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6101B-F2A2-47C9-8BB1-24FF9FAB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8AF4E-AA7F-473D-B0F3-2F99494B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8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7C18-08F2-4124-851E-9FDD4BAA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4E927-38A9-4212-94EF-E4664A62E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E2F6-C931-434B-A133-B9857953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DD40E-91BC-4EC1-85A6-DFA158F4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274CF-A21F-4593-832E-9D16869D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3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320CB-EC48-427A-9851-573050541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463D8-AB01-4FB8-978D-3389E6296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1F03-1BD7-4A71-AB7D-B756F512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D7A80-4FE2-42EB-9917-95A4D82F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2759B-02F9-4213-930C-2D30F372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8DB05-3537-4675-A0E3-41667CA2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5A902-DFE1-42EA-8A4D-14F1D2E42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DFB5E-7A1B-409F-8DB2-1B1E9E42C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80EE5-BE85-4F82-B6DA-50651FF00AE1}" type="datetimeFigureOut">
              <a:rPr lang="en-US" smtClean="0"/>
              <a:t>2/13/2020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99293-B920-4A30-8AAD-638A9B63C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3F79-0D5F-49C1-8C78-6155DA575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A53EC-6524-441C-B32D-93B79188A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6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/>
          </a:bodyPr>
          <a:lstStyle/>
          <a:p>
            <a:r>
              <a:rPr lang="en-US" dirty="0"/>
              <a:t>Lecture 13: Trees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461E-850A-4593-8A1F-C24A436C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vs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3F7A-6314-47E7-B1C6-34830C864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“Trees” are common</a:t>
            </a:r>
          </a:p>
          <a:p>
            <a:pPr lvl="1"/>
            <a:r>
              <a:rPr lang="en-US" dirty="0"/>
              <a:t>You have likely heard about trees as the things growing outside</a:t>
            </a:r>
          </a:p>
          <a:p>
            <a:pPr lvl="1"/>
            <a:r>
              <a:rPr lang="en-US" dirty="0"/>
              <a:t>You may have heard about decision trees</a:t>
            </a:r>
          </a:p>
          <a:p>
            <a:pPr lvl="1"/>
            <a:r>
              <a:rPr lang="en-US" dirty="0"/>
              <a:t>You have probably not heard of the 2014 Slovenian film</a:t>
            </a:r>
          </a:p>
          <a:p>
            <a:pPr lvl="1"/>
            <a:r>
              <a:rPr lang="en-US" dirty="0"/>
              <a:t>You have also likely heard about computer science trees as a data structure</a:t>
            </a:r>
          </a:p>
          <a:p>
            <a:pPr lvl="2"/>
            <a:r>
              <a:rPr lang="en-US" dirty="0"/>
              <a:t>The trees that we will discuss today are related to, </a:t>
            </a:r>
            <a:r>
              <a:rPr lang="en-US" i="1" dirty="0"/>
              <a:t>but quite distinct from</a:t>
            </a:r>
            <a:r>
              <a:rPr lang="en-US" dirty="0"/>
              <a:t>, these trees</a:t>
            </a:r>
          </a:p>
        </p:txBody>
      </p:sp>
    </p:spTree>
    <p:extLst>
      <p:ext uri="{BB962C8B-B14F-4D97-AF65-F5344CB8AC3E}">
        <p14:creationId xmlns:p14="http://schemas.microsoft.com/office/powerpoint/2010/main" val="53944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F63D-7AF0-4636-9080-3DCBA4EB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F48D7-4AB1-41A0-A9F6-2B0300DB8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Represented in a similar way to how phylogenetic trees are represented in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4BE47-8A3F-4F66-91AF-6CFE5E76B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377" y="2678052"/>
            <a:ext cx="3327026" cy="38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9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F63D-7AF0-4636-9080-3DCBA4EB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F48D7-4AB1-41A0-A9F6-2B0300DB8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Represented in a similar way to how phylogenetic trees are represented in biology</a:t>
            </a:r>
          </a:p>
          <a:p>
            <a:r>
              <a:rPr lang="en-US" dirty="0"/>
              <a:t>Built as binary trees</a:t>
            </a:r>
          </a:p>
          <a:p>
            <a:r>
              <a:rPr lang="en-US" dirty="0"/>
              <a:t>Data are stored at leaves with split points along axes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do you split?  Greedily</a:t>
            </a:r>
          </a:p>
          <a:p>
            <a:r>
              <a:rPr lang="en-US" dirty="0"/>
              <a:t>When do you stop?  When points in leaves &lt;= m</a:t>
            </a:r>
          </a:p>
        </p:txBody>
      </p:sp>
    </p:spTree>
    <p:extLst>
      <p:ext uri="{BB962C8B-B14F-4D97-AF65-F5344CB8AC3E}">
        <p14:creationId xmlns:p14="http://schemas.microsoft.com/office/powerpoint/2010/main" val="287611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FEB6-C376-442A-A43A-639EBA16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</a:t>
            </a:r>
            <a:r>
              <a:rPr lang="en-US" i="1" dirty="0"/>
              <a:t>decision</a:t>
            </a:r>
            <a:r>
              <a:rPr lang="en-US" dirty="0"/>
              <a:t>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8FB8-9C17-46EA-B92C-A6E12E2D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an empty decision tree</a:t>
            </a:r>
          </a:p>
          <a:p>
            <a:r>
              <a:rPr lang="en-US" dirty="0"/>
              <a:t>Split on the next best feature/attribute</a:t>
            </a:r>
          </a:p>
          <a:p>
            <a:pPr lvl="1"/>
            <a:r>
              <a:rPr lang="en-US" dirty="0"/>
              <a:t>That is, split on </a:t>
            </a:r>
            <a:r>
              <a:rPr lang="en-US" dirty="0" err="1"/>
              <a:t>argmax</a:t>
            </a:r>
            <a:r>
              <a:rPr lang="en-US" baseline="-25000" dirty="0" err="1"/>
              <a:t>i</a:t>
            </a:r>
            <a:r>
              <a:rPr lang="en-US" dirty="0"/>
              <a:t>(X</a:t>
            </a:r>
            <a:r>
              <a:rPr lang="en-US" baseline="-25000" dirty="0"/>
              <a:t>i</a:t>
            </a:r>
            <a:r>
              <a:rPr lang="en-US" dirty="0"/>
              <a:t>) = </a:t>
            </a:r>
            <a:r>
              <a:rPr lang="en-US" dirty="0" err="1"/>
              <a:t>argmax</a:t>
            </a:r>
            <a:r>
              <a:rPr lang="en-US" baseline="-25000" dirty="0" err="1"/>
              <a:t>i</a:t>
            </a:r>
            <a:r>
              <a:rPr lang="en-US" dirty="0" err="1"/>
              <a:t>H</a:t>
            </a:r>
            <a:r>
              <a:rPr lang="en-US" dirty="0"/>
              <a:t>(Y) – H(</a:t>
            </a:r>
            <a:r>
              <a:rPr lang="en-US" dirty="0" err="1"/>
              <a:t>Y|X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Recurse</a:t>
            </a:r>
          </a:p>
          <a:p>
            <a:r>
              <a:rPr lang="en-US" dirty="0"/>
              <a:t>Prune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CE54DA-D683-403D-A4EF-520C62372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23" y="3430366"/>
            <a:ext cx="3153335" cy="336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7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205D-5CA0-4135-AC8A-EE16E767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293C9-38A6-4586-B072-47D1CB8FA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low bias, high variance</a:t>
            </a:r>
          </a:p>
          <a:p>
            <a:r>
              <a:rPr lang="en-US" dirty="0"/>
              <a:t>Deal quite well with categorical variables</a:t>
            </a:r>
          </a:p>
          <a:p>
            <a:r>
              <a:rPr lang="en-US" dirty="0"/>
              <a:t>Intuitive &amp; easily understandable</a:t>
            </a:r>
          </a:p>
          <a:p>
            <a:r>
              <a:rPr lang="en-US" dirty="0"/>
              <a:t>Some theoretical guarantees (that we won’t go into)</a:t>
            </a:r>
          </a:p>
        </p:txBody>
      </p:sp>
    </p:spTree>
    <p:extLst>
      <p:ext uri="{BB962C8B-B14F-4D97-AF65-F5344CB8AC3E}">
        <p14:creationId xmlns:p14="http://schemas.microsoft.com/office/powerpoint/2010/main" val="13269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E5B6-7D7B-49CE-8389-0F8451E0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48E7D-4560-4372-8BD3-E2BEF8699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 methods have low bias but high variance</a:t>
            </a:r>
          </a:p>
          <a:p>
            <a:endParaRPr lang="en-US" dirty="0"/>
          </a:p>
          <a:p>
            <a:r>
              <a:rPr lang="en-US" dirty="0"/>
              <a:t>One way to reduce this variance is to generate a lot of related trees, assign weights to these trees, then average them</a:t>
            </a:r>
          </a:p>
          <a:p>
            <a:endParaRPr lang="en-US" dirty="0"/>
          </a:p>
          <a:p>
            <a:r>
              <a:rPr lang="en-US" dirty="0"/>
              <a:t>This is “bagging” or “</a:t>
            </a:r>
            <a:r>
              <a:rPr lang="en-US" b="1" dirty="0"/>
              <a:t>b</a:t>
            </a:r>
            <a:r>
              <a:rPr lang="en-US" dirty="0"/>
              <a:t>ootstrap </a:t>
            </a:r>
            <a:r>
              <a:rPr lang="en-US" b="1" dirty="0"/>
              <a:t>agg</a:t>
            </a:r>
            <a:r>
              <a:rPr lang="en-US" dirty="0"/>
              <a:t>regat</a:t>
            </a:r>
            <a:r>
              <a:rPr lang="en-US" b="1" dirty="0"/>
              <a:t>ing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896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E5B6-7D7B-49CE-8389-0F8451E0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9739B7-77C4-4438-B6A3-FD3A343FA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6056" y="1825625"/>
            <a:ext cx="39198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E5B6-7D7B-49CE-8389-0F8451E0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863E27-82B5-4B09-9A3F-FE31FA604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grow a random forest, continue until you reach the desired number of nodes:</a:t>
            </a:r>
          </a:p>
          <a:p>
            <a:pPr lvl="1"/>
            <a:r>
              <a:rPr lang="en-US" dirty="0"/>
              <a:t>Select m variables at random from among p variables</a:t>
            </a:r>
          </a:p>
          <a:p>
            <a:pPr lvl="1"/>
            <a:r>
              <a:rPr lang="en-US" dirty="0"/>
              <a:t>Pick the best variable (split point) among the m</a:t>
            </a:r>
          </a:p>
          <a:p>
            <a:pPr lvl="1"/>
            <a:r>
              <a:rPr lang="en-US" dirty="0"/>
              <a:t>Split the node into two daughter nodes</a:t>
            </a:r>
          </a:p>
          <a:p>
            <a:r>
              <a:rPr lang="en-US" dirty="0"/>
              <a:t>Output the ensemble of trees</a:t>
            </a:r>
          </a:p>
          <a:p>
            <a:endParaRPr lang="en-US" dirty="0"/>
          </a:p>
          <a:p>
            <a:r>
              <a:rPr lang="en-US" dirty="0"/>
              <a:t>This can be done for regression (mean tree) of classification (mode tree)</a:t>
            </a:r>
          </a:p>
        </p:txBody>
      </p:sp>
    </p:spTree>
    <p:extLst>
      <p:ext uri="{BB962C8B-B14F-4D97-AF65-F5344CB8AC3E}">
        <p14:creationId xmlns:p14="http://schemas.microsoft.com/office/powerpoint/2010/main" val="4052628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55662D-10B9-4997-B79C-ADF316939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617" y="0"/>
            <a:ext cx="9076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2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2348-BC10-4A14-B2F7-96EEAD5A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vs nearest neighbor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B23E1F-B14E-4910-BB5B-9CFD9AE08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640" y="1825625"/>
            <a:ext cx="99467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6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6A99-30CA-404E-975F-F984AD1B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0412C-BAD4-4BF9-8D40-2540E6672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low bias, low variance (corrects decision trees’ habit of overfitting)</a:t>
            </a:r>
          </a:p>
          <a:p>
            <a:r>
              <a:rPr lang="en-US" dirty="0"/>
              <a:t>Deal with categorical variables well</a:t>
            </a:r>
          </a:p>
          <a:p>
            <a:r>
              <a:rPr lang="en-US" dirty="0"/>
              <a:t>Not that intuitive or interpretable</a:t>
            </a:r>
          </a:p>
          <a:p>
            <a:r>
              <a:rPr lang="en-US" dirty="0"/>
              <a:t>Some theoretical guarantees</a:t>
            </a:r>
          </a:p>
          <a:p>
            <a:r>
              <a:rPr lang="en-US" dirty="0"/>
              <a:t>Can still overfit (although typically less likely than a single tree)</a:t>
            </a:r>
          </a:p>
        </p:txBody>
      </p:sp>
    </p:spTree>
    <p:extLst>
      <p:ext uri="{BB962C8B-B14F-4D97-AF65-F5344CB8AC3E}">
        <p14:creationId xmlns:p14="http://schemas.microsoft.com/office/powerpoint/2010/main" val="247743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BF97B-92CA-4B28-BDA8-FF11D21F4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Ways to fix (or minimize) this: Bagging and Boosting next time</a:t>
            </a:r>
          </a:p>
        </p:txBody>
      </p:sp>
    </p:spTree>
    <p:extLst>
      <p:ext uri="{BB962C8B-B14F-4D97-AF65-F5344CB8AC3E}">
        <p14:creationId xmlns:p14="http://schemas.microsoft.com/office/powerpoint/2010/main" val="116535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2683</TotalTime>
  <Words>375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Lecture 13: Trees</vt:lpstr>
      <vt:lpstr>Trees vs trees</vt:lpstr>
      <vt:lpstr>Machine learning trees</vt:lpstr>
      <vt:lpstr>Machine learning trees</vt:lpstr>
      <vt:lpstr>Learning decision trees</vt:lpstr>
      <vt:lpstr>Trees</vt:lpstr>
      <vt:lpstr>Random forests</vt:lpstr>
      <vt:lpstr>Random forests</vt:lpstr>
      <vt:lpstr>Random forests</vt:lpstr>
      <vt:lpstr>PowerPoint Presentation</vt:lpstr>
      <vt:lpstr>Random forest vs nearest neighbor</vt:lpstr>
      <vt:lpstr>Random forests</vt:lpstr>
      <vt:lpstr>Ways to fix (or minimize) this: Bagging and Boosting 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Trees</dc:title>
  <dc:creator>Stephen M Douglass</dc:creator>
  <cp:lastModifiedBy>Stephen M Douglass</cp:lastModifiedBy>
  <cp:revision>21</cp:revision>
  <dcterms:created xsi:type="dcterms:W3CDTF">2020-02-09T18:26:29Z</dcterms:created>
  <dcterms:modified xsi:type="dcterms:W3CDTF">2020-02-13T16:16:52Z</dcterms:modified>
</cp:coreProperties>
</file>