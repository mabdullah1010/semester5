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3" r:id="rId3"/>
    <p:sldId id="344" r:id="rId4"/>
    <p:sldId id="345" r:id="rId5"/>
    <p:sldId id="346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4" r:id="rId19"/>
    <p:sldId id="371" r:id="rId20"/>
    <p:sldId id="372" r:id="rId21"/>
    <p:sldId id="373" r:id="rId22"/>
    <p:sldId id="3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7E02-F0ED-40B0-AD40-7D4AA07D2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B7F16-7DA7-460B-A7DA-7131BA58A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FA933-8D61-41BE-9147-824E914F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5A386-1AF4-4A76-B988-CF1FC760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FA4B7-F44B-48D2-8BE8-C1779B7B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5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CD796-8E6A-4A98-B184-99AD2E82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C399A-0079-44BF-82BC-A8C285A1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DD0CF-1196-4B8C-B23E-8668345A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DD5C6-2386-48A6-AA10-FBA13C03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0C8C7-F7A2-42E7-A71A-DCF2FDF2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9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1877-CCBA-4BDE-80E7-A70414F34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76C0D-2CD0-4C07-8AF9-53AFBB231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F1E1-4177-4DE3-8AD4-792C92C6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ABB6-A58C-43B3-AC2A-3EABBE71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02BF0-954F-401E-9ABE-C3A100ED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1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53B8-0BDC-45BE-9F9B-D96CAD5D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194-9596-49C0-A7E5-445A76621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6A524-3C42-4B21-B60E-FD993AB78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52754-685B-4826-8D81-18800269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2A0D7-1F56-4CA0-9EDB-E9AD06E4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64328-DBED-4317-964F-7C467573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0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72CC-E988-46DD-AB6F-DA6AB1B4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FE6E5-B2A8-4370-806C-D0F4B31D2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A5FB5-649D-47B1-99CE-810EDB5FC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693C4-8512-429D-BE3D-EE7DDED58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E36D0-B6AB-430B-8C50-4ADE95D74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38331-0486-4A99-A3C0-411F755E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2643F-B52D-40C7-A9D7-2B68DFB7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22BAB-D00B-4034-ADE1-191621E9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8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09D8-115E-43B5-910E-463AEC03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71A97-0C07-4C17-AF20-C9C1846F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D071E-00EA-4F69-BCF3-342E6987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08931-BD00-4AD0-9C04-399447D4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6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70A91-D571-4613-8651-78F109C1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1CC40-7961-436F-AF6E-964337B5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7B78C-8F42-4F53-B46D-A31B187B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2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6781-74FD-4029-90F6-7C929D05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2AC06-4BAA-4860-95FB-3B55528FD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7CAD6-F371-42B8-A566-B15E02833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BDA81-4E51-43D8-BCAA-A1A0315A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724C8-3A22-49C8-A4A6-2F26F6B3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25B27-A314-4428-8639-FDD570BE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E90D-FCA8-4787-961B-772BB4FA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72944-CEF7-43A5-BEA4-9635050D9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53C89-E95F-4B12-9DD5-76DB67D66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03E9D-E512-4D34-B73F-F25C6F12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31C94-7F87-4CF1-B9BF-A0762F07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8546-BD16-4ABA-A38E-D7126BFB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9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C885-4611-4BE9-B2F1-31E2B49B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FD22F-F6A2-44F5-A6B9-5CCCE20EA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03896-E132-484A-900B-044AC4C9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3360-4C03-404F-84D4-7D4DA6D8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A0DB2-FD52-46AA-9B70-7BA7EF85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0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0BDC73-D543-47B8-BCAD-D2AEF50F7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6ECC9-3941-49B2-8AE3-5D12453EC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8B5B9-8FA4-4F64-8415-CDC48228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29E6-4C34-4FA6-ACD9-8F34B222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D75D3-D0D1-41CE-A182-B39FEDB5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4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0B10B-0896-41BD-93B1-26FA10B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39697-9F45-4A3A-8583-035C271DF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221F0-D9E5-49A0-BE54-6EC21F9C9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B4B44-F3E5-46F1-A160-A87BE7BA7B8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7AF5D-D689-4D62-B265-4A31101B6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63C0E-BA71-4BD2-842E-F64284DCC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47683-760A-47B9-BEF4-92669C59E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0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/>
          </a:bodyPr>
          <a:lstStyle/>
          <a:p>
            <a:r>
              <a:rPr lang="en-US" dirty="0"/>
              <a:t>Lecture 11:  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0AC8-B2ED-4A36-A066-5D75111B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68595-4BAA-4DE6-8686-FFB6F53E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training data (x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) for </a:t>
            </a:r>
            <a:r>
              <a:rPr lang="en-US" dirty="0" err="1"/>
              <a:t>i</a:t>
            </a:r>
            <a:r>
              <a:rPr lang="en-US" dirty="0"/>
              <a:t> = 1, 2, …, N where each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is -1 or +1</a:t>
            </a:r>
          </a:p>
          <a:p>
            <a:r>
              <a:rPr lang="en-US" dirty="0"/>
              <a:t>You want to learn a classifier f(x) such that: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Math is largely subjective, but this has the advantage of:</a:t>
            </a:r>
          </a:p>
          <a:p>
            <a:pPr marL="0" indent="0">
              <a:buNone/>
            </a:pP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*f(x</a:t>
            </a:r>
            <a:r>
              <a:rPr lang="en-US" baseline="-25000" dirty="0"/>
              <a:t>i</a:t>
            </a:r>
            <a:r>
              <a:rPr lang="en-US" dirty="0"/>
              <a:t>) &gt; 0 for a correct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B4CF4D-C57E-490F-AC59-4559653D1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10" y="2745865"/>
            <a:ext cx="3882278" cy="125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4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29A6-5CE1-483B-BA8C-57E40EB9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separability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5BE6C2-501F-4F72-A8AD-260DB74AE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671" y="1425389"/>
            <a:ext cx="9378659" cy="537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5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B71-2810-4D72-A8BA-354BF966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458A-D4ED-4F17-866B-9EFD52234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linear classifier has the form f(x) =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</a:t>
            </a:r>
          </a:p>
          <a:p>
            <a:endParaRPr lang="en-US" dirty="0"/>
          </a:p>
          <a:p>
            <a:r>
              <a:rPr lang="en-US" dirty="0"/>
              <a:t>In 2D, discriminant is a line</a:t>
            </a:r>
          </a:p>
          <a:p>
            <a:r>
              <a:rPr lang="en-US" dirty="0"/>
              <a:t>w is the normal to the line, b is the bias</a:t>
            </a:r>
          </a:p>
          <a:p>
            <a:r>
              <a:rPr lang="en-US" dirty="0"/>
              <a:t>w is known as the weight vector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D440E-970E-4D8B-B901-A1A056D7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59" y="2466449"/>
            <a:ext cx="4840475" cy="31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9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B71-2810-4D72-A8BA-354BF966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458A-D4ED-4F17-866B-9EFD52234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linear classifier has the form f(x) =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</a:t>
            </a:r>
          </a:p>
          <a:p>
            <a:endParaRPr lang="en-US" dirty="0"/>
          </a:p>
          <a:p>
            <a:r>
              <a:rPr lang="en-US" dirty="0"/>
              <a:t>In 3D, discriminant is a plane</a:t>
            </a:r>
          </a:p>
          <a:p>
            <a:r>
              <a:rPr lang="en-US" dirty="0"/>
              <a:t>For a linear classifier, the training data is used</a:t>
            </a:r>
            <a:br>
              <a:rPr lang="en-US" dirty="0"/>
            </a:br>
            <a:r>
              <a:rPr lang="en-US" dirty="0"/>
              <a:t>to learn w and then discarded</a:t>
            </a:r>
          </a:p>
          <a:p>
            <a:r>
              <a:rPr lang="en-US" dirty="0"/>
              <a:t>Only w is needed for classifying new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634BE-9ED5-4279-80E3-7446BFC6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58" y="2173941"/>
            <a:ext cx="3955124" cy="337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CE45-2C86-4560-A3D0-DFF23CCA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perception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9E70-5371-4586-8490-6B83B8F74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Perception is guaranteed to converge as long as the data is linearly separable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7BE92-3296-47AD-B9C9-D19AB79AA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19" y="2660992"/>
            <a:ext cx="7619162" cy="387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7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F13-A27D-4F4F-955E-3FFE707B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Perception algorithm – where to draw the line?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EC2D54-8490-4826-97ED-28DC68AA3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994" y="1649250"/>
            <a:ext cx="8252012" cy="514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9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519B-B322-439A-9E59-EBB4925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</a:t>
            </a:r>
            <a:r>
              <a:rPr lang="en-US" dirty="0"/>
              <a:t>upport </a:t>
            </a:r>
            <a:r>
              <a:rPr lang="en-US" b="1" dirty="0"/>
              <a:t>V</a:t>
            </a:r>
            <a:r>
              <a:rPr lang="en-US" dirty="0"/>
              <a:t>ector </a:t>
            </a:r>
            <a:r>
              <a:rPr lang="en-US" b="1" dirty="0"/>
              <a:t>M</a:t>
            </a:r>
            <a:r>
              <a:rPr lang="en-US" dirty="0"/>
              <a:t>achine (SVM)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25B8EE-ECA9-4D5A-A749-B67FEC764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874" y="1286435"/>
            <a:ext cx="8370252" cy="557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76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6B39-3DC6-4665-B0CF-99F987B5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EC0D-9FC4-4B1A-BFE3-B715CECCF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 = 0 and c(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b) = 0 define the same plane, we have the freedom to choose the normalization of w</a:t>
            </a:r>
          </a:p>
          <a:p>
            <a:r>
              <a:rPr lang="en-US" dirty="0"/>
              <a:t>Choose normalization such that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 = +1 and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 = −1 for the positive and negative support vectors respectively</a:t>
            </a:r>
          </a:p>
          <a:p>
            <a:r>
              <a:rPr lang="en-US" dirty="0"/>
              <a:t>Then the margin is given by: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70F90-5E49-43B8-9139-FE529EB7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318" y="4163698"/>
            <a:ext cx="5629835" cy="102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DBAB-5E50-405D-B08B-EA5EEE1B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461788-FEE4-49E4-8C30-C79DBAD59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729" y="1307542"/>
            <a:ext cx="8498542" cy="53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7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04C0-9AB2-4B57-A32B-43D81A3E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--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001F-FBFA-4658-B56D-46FF5DAC1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the SVM can be formulated as an optimization: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equivalently: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 quadratic optimization problem subject to linear constraints and there is a unique minimum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E8125-217A-4B8E-9563-AE739DFFB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3" y="2241176"/>
            <a:ext cx="7571149" cy="782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C3A6C8-26E6-4DEA-B718-AD05D7F05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918" y="3892786"/>
            <a:ext cx="7333584" cy="57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1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DB18-5B06-42D4-8428-04227AFA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best 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D5E827-B6A3-4422-9C08-9AC4595E5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476" y="1447800"/>
            <a:ext cx="8657048" cy="522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55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DEBF-27A5-44F9-85CB-E33BB21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“Slack” variables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0CDD6A-84A4-43D5-8E2D-A23A4B61B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447" y="1403322"/>
            <a:ext cx="9117106" cy="531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52C7-DD32-49FB-BD07-D9CC2810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“Soft” margin 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DB5513-7A6C-419C-83CC-EA2881CEB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230" y="1434072"/>
            <a:ext cx="7355541" cy="524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8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F171-6ED5-48DA-9857-B8162DDC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76635-3053-4702-9921-6AEACEBA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linearly separable, but only in a narrow margin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EFE41-4C79-4814-8D98-8B0F3763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81" y="2231366"/>
            <a:ext cx="7082238" cy="462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97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B037A-541A-4AAA-8952-8C5120AA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02" y="2099260"/>
            <a:ext cx="7041997" cy="47587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438EDC-15B6-4F9A-B213-CCD778A4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– C = infinity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43BA-F2FC-4D39-B91B-41682A4A2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margin</a:t>
            </a:r>
          </a:p>
        </p:txBody>
      </p:sp>
    </p:spTree>
    <p:extLst>
      <p:ext uri="{BB962C8B-B14F-4D97-AF65-F5344CB8AC3E}">
        <p14:creationId xmlns:p14="http://schemas.microsoft.com/office/powerpoint/2010/main" val="1397354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B6D0C0-B8F3-4F74-AE7C-C4462037A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405" y="2129278"/>
            <a:ext cx="6947190" cy="47287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438EDC-15B6-4F9A-B213-CCD778A4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– C =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43BA-F2FC-4D39-B91B-41682A4A2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margin</a:t>
            </a:r>
          </a:p>
        </p:txBody>
      </p:sp>
    </p:spTree>
    <p:extLst>
      <p:ext uri="{BB962C8B-B14F-4D97-AF65-F5344CB8AC3E}">
        <p14:creationId xmlns:p14="http://schemas.microsoft.com/office/powerpoint/2010/main" val="1657163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5CED-FD31-49E7-BD56-0CA05D2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vs hard margin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D8EEA-B827-4A90-9BC8-B30ADFB8A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sometimes called “soft constraint” and “hard constraint”</a:t>
            </a:r>
          </a:p>
          <a:p>
            <a:r>
              <a:rPr lang="en-US" dirty="0"/>
              <a:t>Refers to whether or not all of the training data is “correctly” classified by the classifier</a:t>
            </a:r>
          </a:p>
          <a:p>
            <a:pPr lvl="1"/>
            <a:r>
              <a:rPr lang="en-US" dirty="0"/>
              <a:t>If all “dots” sort as they should, it’s a hard constraint</a:t>
            </a:r>
          </a:p>
          <a:p>
            <a:pPr lvl="1"/>
            <a:r>
              <a:rPr lang="en-US" dirty="0"/>
              <a:t>If there are “dots” in the inappropriate region, it’s a soft constraint</a:t>
            </a:r>
          </a:p>
          <a:p>
            <a:pPr lvl="1"/>
            <a:r>
              <a:rPr lang="en-US" dirty="0"/>
              <a:t>The presence of “slack” makes a soft margin</a:t>
            </a:r>
          </a:p>
        </p:txBody>
      </p:sp>
    </p:spTree>
    <p:extLst>
      <p:ext uri="{BB962C8B-B14F-4D97-AF65-F5344CB8AC3E}">
        <p14:creationId xmlns:p14="http://schemas.microsoft.com/office/powerpoint/2010/main" val="2350858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4DC0-7D88-445D-9AB0-2511DC1C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pedestrian detection in 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3D8BF-44C7-4C95-A10E-EF7CDD76A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detect (localize) standing humans in an image (face detection with a sliding window classifier)</a:t>
            </a:r>
          </a:p>
          <a:p>
            <a:pPr lvl="1"/>
            <a:r>
              <a:rPr lang="en-US" dirty="0"/>
              <a:t>Reduces object detection to binary classification</a:t>
            </a:r>
          </a:p>
          <a:p>
            <a:pPr lvl="1"/>
            <a:r>
              <a:rPr lang="en-US" dirty="0"/>
              <a:t>Does an image window contain a person or not?</a:t>
            </a:r>
          </a:p>
        </p:txBody>
      </p:sp>
    </p:spTree>
    <p:extLst>
      <p:ext uri="{BB962C8B-B14F-4D97-AF65-F5344CB8AC3E}">
        <p14:creationId xmlns:p14="http://schemas.microsoft.com/office/powerpoint/2010/main" val="615144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29EF-0881-448D-841A-6947F3E3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and 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727EE-3710-4C3A-9F38-7A5B903F6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data: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439032-39E9-4CED-ACC0-223E8D121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Negative data: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0EA55C-6A2B-44CD-A4D0-B58EBA2A5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15" y="2505075"/>
            <a:ext cx="1512759" cy="2137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B8F92B-1C81-4466-A027-760D8F673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24" y="2505075"/>
            <a:ext cx="1278398" cy="20445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49FA35-3F8A-4934-9907-D41EE3DD0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026" y="2416548"/>
            <a:ext cx="1273268" cy="24333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037AAD-A45A-4B10-AB1B-3E605ACF9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848504"/>
            <a:ext cx="3415553" cy="1916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01EC83-45B9-4590-BD41-5CB4AE1DA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1765" y="2607608"/>
            <a:ext cx="2695854" cy="2116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936265-DD4E-46DD-B3DA-EA6BB705BB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9419" y="4953000"/>
            <a:ext cx="3020546" cy="170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24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27D73B-2A1B-49D2-8574-F4525D43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“big picture”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FE554A-206C-4AAD-9E75-963C97D91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maximize the margin over the training data – that is the line should be maximally far away from the most number of data points</a:t>
            </a:r>
          </a:p>
          <a:p>
            <a:endParaRPr lang="en-US" dirty="0"/>
          </a:p>
          <a:p>
            <a:r>
              <a:rPr lang="en-US" dirty="0"/>
              <a:t>This means that you essentially want to minimize w</a:t>
            </a:r>
          </a:p>
          <a:p>
            <a:pPr lvl="1"/>
            <a:r>
              <a:rPr lang="en-US" dirty="0"/>
              <a:t>This optimum w is often termed w</a:t>
            </a:r>
            <a:r>
              <a:rPr lang="en-US" baseline="300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200459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27D73B-2A1B-49D2-8574-F4525D43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“big picture”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FE554A-206C-4AAD-9E75-963C97D91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Variables:</a:t>
            </a:r>
          </a:p>
          <a:p>
            <a:pPr lvl="1"/>
            <a:r>
              <a:rPr lang="en-US" dirty="0"/>
              <a:t>Cost parameter, C</a:t>
            </a:r>
          </a:p>
          <a:p>
            <a:pPr lvl="2"/>
            <a:r>
              <a:rPr lang="en-US" dirty="0"/>
              <a:t>Too large, may have overfitting</a:t>
            </a:r>
          </a:p>
          <a:p>
            <a:pPr lvl="2"/>
            <a:r>
              <a:rPr lang="en-US" dirty="0"/>
              <a:t>Too small, may have underfitting</a:t>
            </a:r>
          </a:p>
          <a:p>
            <a:pPr lvl="1"/>
            <a:r>
              <a:rPr lang="en-US" dirty="0"/>
              <a:t>Epsilon, </a:t>
            </a:r>
            <a:r>
              <a:rPr lang="el-GR" dirty="0"/>
              <a:t>ε</a:t>
            </a:r>
            <a:r>
              <a:rPr lang="en-US" dirty="0"/>
              <a:t>, determines how far away from the margin the support vectors are</a:t>
            </a:r>
          </a:p>
          <a:p>
            <a:pPr lvl="2"/>
            <a:r>
              <a:rPr lang="en-US" dirty="0"/>
              <a:t>You want enough support vectors to get good results, not so many that it takes long…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09765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561</Words>
  <Application>Microsoft Office PowerPoint</Application>
  <PresentationFormat>Widescreen</PresentationFormat>
  <Paragraphs>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Lecture 11:  Support Vector Machines</vt:lpstr>
      <vt:lpstr>Binary classification</vt:lpstr>
      <vt:lpstr>Linear separability</vt:lpstr>
      <vt:lpstr>Linear classifiers</vt:lpstr>
      <vt:lpstr>Linear classifiers</vt:lpstr>
      <vt:lpstr>Reminder: perception algorithm</vt:lpstr>
      <vt:lpstr>Perception algorithm – where to draw the line?</vt:lpstr>
      <vt:lpstr>Support Vector Machine (SVM)</vt:lpstr>
      <vt:lpstr>SVM</vt:lpstr>
      <vt:lpstr>SVM</vt:lpstr>
      <vt:lpstr>SVM -- optimization</vt:lpstr>
      <vt:lpstr>Selecting the best w</vt:lpstr>
      <vt:lpstr>“Slack” variables</vt:lpstr>
      <vt:lpstr>“Soft” margin solution</vt:lpstr>
      <vt:lpstr>SVM</vt:lpstr>
      <vt:lpstr>SVM – C = infinity</vt:lpstr>
      <vt:lpstr>SVM – C = 10</vt:lpstr>
      <vt:lpstr>Soft vs hard margin</vt:lpstr>
      <vt:lpstr>Application: pedestrian detection in computer vision</vt:lpstr>
      <vt:lpstr>Training data and features</vt:lpstr>
      <vt:lpstr>SVM “big picture”</vt:lpstr>
      <vt:lpstr>SVM “big picture”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 Support Vector Machines</dc:title>
  <dc:creator>Stephen M Douglass</dc:creator>
  <cp:lastModifiedBy>Stephen M Douglass</cp:lastModifiedBy>
  <cp:revision>26</cp:revision>
  <dcterms:created xsi:type="dcterms:W3CDTF">2020-02-04T16:04:44Z</dcterms:created>
  <dcterms:modified xsi:type="dcterms:W3CDTF">2020-02-04T21:22:03Z</dcterms:modified>
</cp:coreProperties>
</file>