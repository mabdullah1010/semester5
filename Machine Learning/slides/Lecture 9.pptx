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4" r:id="rId3"/>
    <p:sldId id="347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8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8B23-2F9A-45A1-B02F-5C732E146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A6006-2735-4F4C-B909-3F65512D6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300C1-FFB7-4BEF-BB27-3C25E4663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410D6-B3B1-4FEC-9332-65B483CA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9BB61-6710-4D4A-999B-D3687828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74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5677-42DA-4A98-BF27-07D17E3E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F0667-12E6-41D9-BC0A-493513C32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74742-6075-4860-8445-88B41C47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71D31-FB9B-4FCF-9981-16BDEA5A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B25C4-D276-4BFB-A5B7-6303DBB87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4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627B-30DF-4D7A-AFB1-7FDBBC68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58B8-4103-42C0-AD96-E5E2216A5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11B4F-70BC-4826-847A-7C94C917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E1CA7-263A-4FD7-B9EA-B825D629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8A26B-53A0-4DE3-B357-1B4242C6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5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D396-67C3-4309-906E-3E690925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06FB2-A370-4CB9-9D85-2CD661C02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876B5-9EA1-4CB5-B531-1FEDECC94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ABCF9-AC6D-4F81-92CA-652F0B1D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52CC6-BE57-4925-B1DE-69B51538B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46F65-040E-4E6F-907D-C69BE6DF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9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EE4A-1E8C-4AAC-929A-A7583504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A5FA1-0B88-438D-8897-3A56F499E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7493D-2509-401C-B1A5-0AD901B38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D063DD-697E-4F81-BCE5-6D8CE19280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1D5E9-2528-4C58-B62D-55D0D55F3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82F6E4-F528-42D7-A6FB-F73CD8C3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A82E1-6CE7-421B-9C27-8DECA5630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BF873B-79B3-4907-8BB9-7D567BFF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77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43BE3-DF48-4EA1-B2A2-B1F122CF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191F7C-C7DE-4246-8263-0B9AB5FB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2335F5-CA26-4B17-8FC7-C41377D8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7DF05-222A-48F4-8490-36412F09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8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E6CDD-71AA-4C83-94FF-3B0089F9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85D16-7A0C-40F3-8AA1-3C558DAF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E55D2-999D-4627-A5A5-39EFABC0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02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7F10-2722-4935-BE4F-54854730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EDE4E-0F12-4E09-8946-78A10023F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880EC-6001-49C2-B612-14F3CE310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D361B-814A-4966-A931-2E3FE9B9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827B5-5AF5-454B-A17F-45686101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A2FBA-B42E-4784-B8F7-A9ED162A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9044-EB97-4534-ABE5-B6E6F0B5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471F22-77C1-40C0-B283-771051F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61055-0E0F-45D9-9BE3-D14E0C799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BBAD1-7B94-459E-B07C-34BB8A8E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AEBF8-ABE2-4B1F-93A5-7D60749CC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79309-83DD-4F32-BE24-C73F4BAD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57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9CC9-8669-4FC6-9D1C-049EFC6A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32694-BCF1-45DD-9AB6-583021DF8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3A42D-546F-4565-8AB8-ABE144E3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C73D7-B9C2-4316-B5BE-5227FF70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23F3D-70B7-4A78-AE14-F8E0E879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73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8ADE6D-8D51-41AC-B8D7-4545A775FA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F0CE9-B516-4CA7-94C9-BDB8E4BDE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92390-63EB-4804-86AA-0CA8D0A8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A9279-8025-4BB1-AF9E-ADDA8B057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C565A-CC00-4066-A300-263AE13A3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8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4F60-CDAB-4A20-A7E7-BA4D39D7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D2DA0-A11F-4EE7-92AA-21B562DC9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28CB7-F81E-4054-AE3F-50374D701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26347-FA39-46A4-B348-6B38AA30248A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8D6D8-0DA6-4D6A-8ABB-C249FC779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61C3-D1A2-418C-9DFD-77BE9F00E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6D70D-A33E-4993-A282-8406CF0D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4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/>
          </a:bodyPr>
          <a:lstStyle/>
          <a:p>
            <a:r>
              <a:rPr lang="en-US" dirty="0"/>
              <a:t>Lecture 9: Introduction to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B479-07C4-4249-9D0D-CEE26519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1F05F-0EAF-4410-B94B-6E125C02F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we’ve mostly talked about regression – predicting a continuous value given some inputs &amp; training data</a:t>
            </a:r>
          </a:p>
          <a:p>
            <a:endParaRPr lang="en-US" dirty="0"/>
          </a:p>
          <a:p>
            <a:r>
              <a:rPr lang="en-US" dirty="0"/>
              <a:t>Many examples of machine learning (some we’ve mentioned) are based on </a:t>
            </a:r>
            <a:r>
              <a:rPr lang="en-US" dirty="0">
                <a:solidFill>
                  <a:srgbClr val="00B0F0"/>
                </a:solidFill>
              </a:rPr>
              <a:t>classification</a:t>
            </a:r>
            <a:r>
              <a:rPr lang="en-US" dirty="0"/>
              <a:t> rather than continuous data</a:t>
            </a:r>
          </a:p>
        </p:txBody>
      </p:sp>
    </p:spTree>
    <p:extLst>
      <p:ext uri="{BB962C8B-B14F-4D97-AF65-F5344CB8AC3E}">
        <p14:creationId xmlns:p14="http://schemas.microsoft.com/office/powerpoint/2010/main" val="284499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B479-07C4-4249-9D0D-CEE26519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3DA62-A14B-4D8C-B403-3E76EE066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learn f: X -&gt; Y</a:t>
            </a:r>
          </a:p>
          <a:p>
            <a:pPr lvl="1"/>
            <a:r>
              <a:rPr lang="en-US" dirty="0"/>
              <a:t>X is the feature(s) that you will use to predict</a:t>
            </a:r>
          </a:p>
          <a:p>
            <a:pPr lvl="1"/>
            <a:r>
              <a:rPr lang="en-US" dirty="0"/>
              <a:t>Y is the target classes</a:t>
            </a:r>
          </a:p>
          <a:p>
            <a:endParaRPr lang="en-US" dirty="0"/>
          </a:p>
          <a:p>
            <a:r>
              <a:rPr lang="en-US" dirty="0"/>
              <a:t>Conditional probability: p(Y|X)</a:t>
            </a:r>
          </a:p>
          <a:p>
            <a:pPr lvl="1"/>
            <a:r>
              <a:rPr lang="en-US" dirty="0"/>
              <a:t>That is, you want to know the probability that you belong to a particular class given the features of the data</a:t>
            </a:r>
          </a:p>
        </p:txBody>
      </p:sp>
    </p:spTree>
    <p:extLst>
      <p:ext uri="{BB962C8B-B14F-4D97-AF65-F5344CB8AC3E}">
        <p14:creationId xmlns:p14="http://schemas.microsoft.com/office/powerpoint/2010/main" val="304391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968F-F816-4F44-B2F2-DCAFC2EDC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Remember: Bayes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64DEE-1C67-45E2-9229-BEF8708D3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p(A|B) = [p(B|A) * p(A)] / p(B)</a:t>
            </a:r>
          </a:p>
          <a:p>
            <a:pPr marL="0" indent="0" algn="ctr">
              <a:buNone/>
            </a:pPr>
            <a:r>
              <a:rPr lang="en-US" dirty="0"/>
              <a:t>For our purposes, p(B), the probability of our data without any other information is constant, so: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p(A|B) </a:t>
            </a:r>
            <a:r>
              <a:rPr lang="el-GR" dirty="0"/>
              <a:t>α</a:t>
            </a:r>
            <a:r>
              <a:rPr lang="en-US" dirty="0"/>
              <a:t> p(B|A) * p(A)</a:t>
            </a:r>
          </a:p>
          <a:p>
            <a:pPr marL="0" indent="0" algn="ctr">
              <a:buNone/>
            </a:pPr>
            <a:r>
              <a:rPr lang="en-US" dirty="0"/>
              <a:t>This is useful to us because we don’t care about the exact probability, we just want to optimize our model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“What is the most probable hypothesis given our training data?”</a:t>
            </a:r>
          </a:p>
        </p:txBody>
      </p:sp>
    </p:spTree>
    <p:extLst>
      <p:ext uri="{BB962C8B-B14F-4D97-AF65-F5344CB8AC3E}">
        <p14:creationId xmlns:p14="http://schemas.microsoft.com/office/powerpoint/2010/main" val="285487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15DC-C36E-4546-BB06-C529812A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optimal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1B584-83D5-41B9-B118-FE71D5495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called:</a:t>
            </a:r>
          </a:p>
          <a:p>
            <a:pPr lvl="1"/>
            <a:r>
              <a:rPr lang="en-US" dirty="0"/>
              <a:t>Bayes optimal learner</a:t>
            </a:r>
          </a:p>
          <a:p>
            <a:pPr lvl="1"/>
            <a:r>
              <a:rPr lang="en-US" dirty="0"/>
              <a:t>Bayes classifier</a:t>
            </a:r>
          </a:p>
          <a:p>
            <a:pPr lvl="1"/>
            <a:r>
              <a:rPr lang="en-US" dirty="0"/>
              <a:t>Bayes optimal decision boundary</a:t>
            </a:r>
          </a:p>
          <a:p>
            <a:pPr lvl="1"/>
            <a:r>
              <a:rPr lang="en-US" dirty="0"/>
              <a:t>Bayes optimal discriminant function</a:t>
            </a:r>
          </a:p>
          <a:p>
            <a:endParaRPr lang="en-US" dirty="0"/>
          </a:p>
          <a:p>
            <a:r>
              <a:rPr lang="en-US" dirty="0"/>
              <a:t>The specific question answered by the Bayes optimal classifier is </a:t>
            </a:r>
            <a:r>
              <a:rPr lang="en-US" i="1" dirty="0"/>
              <a:t>“what is the most probable classification of the new instance given the training data?”</a:t>
            </a:r>
          </a:p>
        </p:txBody>
      </p:sp>
    </p:spTree>
    <p:extLst>
      <p:ext uri="{BB962C8B-B14F-4D97-AF65-F5344CB8AC3E}">
        <p14:creationId xmlns:p14="http://schemas.microsoft.com/office/powerpoint/2010/main" val="1495846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15DC-C36E-4546-BB06-C529812A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optimal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1B584-83D5-41B9-B118-FE71D5495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calculate the probability of a new instance (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 given the training data (D), given the space of hypotheses (H):</a:t>
            </a:r>
          </a:p>
          <a:p>
            <a:endParaRPr lang="en-US" dirty="0"/>
          </a:p>
          <a:p>
            <a:r>
              <a:rPr lang="en-US" dirty="0"/>
              <a:t>Selecting the outcome with the highest probability is Bayes </a:t>
            </a:r>
            <a:r>
              <a:rPr lang="en-US" i="1" dirty="0"/>
              <a:t>optimal</a:t>
            </a:r>
            <a:r>
              <a:rPr lang="en-US" dirty="0"/>
              <a:t> classification: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2837D4-BA32-46BA-83FD-CF3AF4ABE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2690532"/>
            <a:ext cx="6867525" cy="57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6C3E01-0F81-4DAA-9A8F-BB1D7EC56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7" y="4126939"/>
            <a:ext cx="6867525" cy="46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67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15DC-C36E-4546-BB06-C529812A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optimal classifier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23F0E1-315A-4FA6-BA82-C09E7C2B6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15322"/>
            <a:ext cx="10515600" cy="17719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421100-F3ED-4894-8F18-BAADE7D020AA}"/>
              </a:ext>
            </a:extLst>
          </p:cNvPr>
          <p:cNvSpPr txBox="1"/>
          <p:nvPr/>
        </p:nvSpPr>
        <p:spPr>
          <a:xfrm>
            <a:off x="6781800" y="4887266"/>
            <a:ext cx="4755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-Machine Learning, 1997.  Page 175</a:t>
            </a:r>
          </a:p>
        </p:txBody>
      </p:sp>
    </p:spTree>
    <p:extLst>
      <p:ext uri="{BB962C8B-B14F-4D97-AF65-F5344CB8AC3E}">
        <p14:creationId xmlns:p14="http://schemas.microsoft.com/office/powerpoint/2010/main" val="3115874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15DC-C36E-4546-BB06-C529812A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optimal classifier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F956-C44F-428E-9C2D-37C190095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uncertainty in the training set and inaccuracies in the hypothesis space, the model will make errors</a:t>
            </a:r>
          </a:p>
          <a:p>
            <a:pPr lvl="1"/>
            <a:r>
              <a:rPr lang="en-US" dirty="0"/>
              <a:t>However, this error is the minimum possible error</a:t>
            </a:r>
          </a:p>
          <a:p>
            <a:pPr lvl="1"/>
            <a:r>
              <a:rPr lang="en-US" b="1" dirty="0"/>
              <a:t>Bayes error</a:t>
            </a:r>
            <a:r>
              <a:rPr lang="en-US" dirty="0"/>
              <a:t>: the minimum possible error that can be made while making predictions</a:t>
            </a:r>
          </a:p>
          <a:p>
            <a:endParaRPr lang="en-US" dirty="0"/>
          </a:p>
          <a:p>
            <a:r>
              <a:rPr lang="en-US" dirty="0"/>
              <a:t>Note that this methodology can be applied to regression as well as classification (although we won’t)</a:t>
            </a:r>
          </a:p>
        </p:txBody>
      </p:sp>
    </p:spTree>
    <p:extLst>
      <p:ext uri="{BB962C8B-B14F-4D97-AF65-F5344CB8AC3E}">
        <p14:creationId xmlns:p14="http://schemas.microsoft.com/office/powerpoint/2010/main" val="1351609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69EFE1-D8D1-4D8D-BABC-F30D0B0313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Bayes optimal classifier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3B32D71-51DF-4E58-9DA7-A2CE7572A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Note that it is a theoretical model.  A gold standard, an unattainable ideal to pursue, rather than a method that we can use.  This is because we cannot know the conditional probability of Y given X.</a:t>
            </a:r>
          </a:p>
        </p:txBody>
      </p:sp>
    </p:spTree>
    <p:extLst>
      <p:ext uri="{BB962C8B-B14F-4D97-AF65-F5344CB8AC3E}">
        <p14:creationId xmlns:p14="http://schemas.microsoft.com/office/powerpoint/2010/main" val="2460216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1461-73D1-4957-B090-429CEEEE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optimal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7B72E-94FC-467F-830F-78A15E8F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It is not computationally feasible, or statistically possible, to implement a proper Bayes optimal classifier, so we use simplifications.  Two common simplifications are:</a:t>
            </a:r>
          </a:p>
          <a:p>
            <a:pPr lvl="1"/>
            <a:r>
              <a:rPr lang="en-US" b="1" dirty="0"/>
              <a:t>Gibbs Algorithm</a:t>
            </a:r>
            <a:r>
              <a:rPr lang="en-US" dirty="0"/>
              <a:t>.  Randomly sample hypotheses biased on their posterior probabilities</a:t>
            </a:r>
          </a:p>
          <a:p>
            <a:pPr lvl="1"/>
            <a:r>
              <a:rPr lang="en-US" b="1" dirty="0"/>
              <a:t>Naïve Bayes</a:t>
            </a:r>
            <a:r>
              <a:rPr lang="en-US" dirty="0"/>
              <a:t>.  Assume that variables in the input are conditionally independent</a:t>
            </a:r>
          </a:p>
          <a:p>
            <a:pPr lvl="1"/>
            <a:r>
              <a:rPr lang="en-US" dirty="0"/>
              <a:t>Really, many non-linear machine learning algorithms that are able to make predictions are close approximations of Bayes optimal classifier in practice</a:t>
            </a:r>
          </a:p>
        </p:txBody>
      </p:sp>
    </p:spTree>
    <p:extLst>
      <p:ext uri="{BB962C8B-B14F-4D97-AF65-F5344CB8AC3E}">
        <p14:creationId xmlns:p14="http://schemas.microsoft.com/office/powerpoint/2010/main" val="3106549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C697-65B9-49FD-8BDC-447F68D2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where we started: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DB561-7868-4758-B8B8-9B23C8D90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4799"/>
          </a:xfrm>
        </p:spPr>
        <p:txBody>
          <a:bodyPr/>
          <a:lstStyle/>
          <a:p>
            <a:r>
              <a:rPr lang="en-US" dirty="0"/>
              <a:t>The problem of classification is to assign a label to a given input data sample</a:t>
            </a:r>
          </a:p>
          <a:p>
            <a:endParaRPr lang="en-US" dirty="0"/>
          </a:p>
          <a:p>
            <a:r>
              <a:rPr lang="en-US" dirty="0"/>
              <a:t>Bayes theorem is an obvious choice to deal with this, but has severe limitations in most applications:</a:t>
            </a:r>
          </a:p>
          <a:p>
            <a:pPr lvl="1"/>
            <a:r>
              <a:rPr lang="en-US" dirty="0"/>
              <a:t>Requires </a:t>
            </a:r>
            <a:r>
              <a:rPr lang="en-US" i="1" dirty="0"/>
              <a:t>a lot</a:t>
            </a:r>
            <a:r>
              <a:rPr lang="en-US" dirty="0"/>
              <a:t> of training data</a:t>
            </a:r>
          </a:p>
          <a:p>
            <a:pPr lvl="1"/>
            <a:r>
              <a:rPr lang="en-US" dirty="0"/>
              <a:t>Is computationally very expensive</a:t>
            </a:r>
          </a:p>
          <a:p>
            <a:pPr lvl="1"/>
            <a:r>
              <a:rPr lang="en-US" dirty="0"/>
              <a:t>This is because of how the states of your training (and test) data relate to one another</a:t>
            </a:r>
          </a:p>
          <a:p>
            <a:pPr lvl="2"/>
            <a:r>
              <a:rPr lang="en-US" dirty="0"/>
              <a:t>If you want to predict that an email is spam, the probabilities that it contains the word “congratulations” and is from a previously uncontacted address are related to one another.</a:t>
            </a:r>
          </a:p>
        </p:txBody>
      </p:sp>
    </p:spTree>
    <p:extLst>
      <p:ext uri="{BB962C8B-B14F-4D97-AF65-F5344CB8AC3E}">
        <p14:creationId xmlns:p14="http://schemas.microsoft.com/office/powerpoint/2010/main" val="1345403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6835-46B4-47B2-A1C7-790DE2BF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9825F-2D3E-4EAE-A650-FD13F6E96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what if the states </a:t>
            </a:r>
            <a:r>
              <a:rPr lang="en-US" i="1" dirty="0"/>
              <a:t>did not</a:t>
            </a:r>
            <a:r>
              <a:rPr lang="en-US" dirty="0"/>
              <a:t> depend on one another?</a:t>
            </a:r>
          </a:p>
          <a:p>
            <a:pPr lvl="1"/>
            <a:r>
              <a:rPr lang="en-US" dirty="0"/>
              <a:t>Using the word “congratulations” has no impact on whether you’ve contacted that sender in the past (and vice versa)</a:t>
            </a:r>
          </a:p>
          <a:p>
            <a:pPr lvl="1"/>
            <a:r>
              <a:rPr lang="en-US" dirty="0"/>
              <a:t>Fidgeting in an airport has no impact on whether or not you look away from security personnel (and vice versa)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Naïve Bayes makes this assumption – the assumption of independence</a:t>
            </a:r>
          </a:p>
        </p:txBody>
      </p:sp>
    </p:spTree>
    <p:extLst>
      <p:ext uri="{BB962C8B-B14F-4D97-AF65-F5344CB8AC3E}">
        <p14:creationId xmlns:p14="http://schemas.microsoft.com/office/powerpoint/2010/main" val="3164464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498D-DF2B-401A-A606-7E0AAAF3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– slight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2A42A-CD14-4480-B7D7-734219F87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p(you belong to this </a:t>
            </a:r>
            <a:r>
              <a:rPr lang="en-US" dirty="0" err="1"/>
              <a:t>class|thing</a:t>
            </a:r>
            <a:r>
              <a:rPr lang="en-US" dirty="0"/>
              <a:t> you learn from 1 and thing you learn from 2 and thing you learn from 3…thing you learn from n) = something very hard to calculate</a:t>
            </a:r>
          </a:p>
          <a:p>
            <a:pPr lvl="1"/>
            <a:r>
              <a:rPr lang="en-US" dirty="0"/>
              <a:t>You need </a:t>
            </a:r>
            <a:r>
              <a:rPr lang="en-US" i="1" dirty="0"/>
              <a:t>TONS</a:t>
            </a:r>
            <a:r>
              <a:rPr lang="en-US" dirty="0"/>
              <a:t> of data</a:t>
            </a:r>
          </a:p>
          <a:p>
            <a:pPr lvl="1"/>
            <a:r>
              <a:rPr lang="en-US" dirty="0"/>
              <a:t>It’ll take forever and half to compute</a:t>
            </a:r>
          </a:p>
          <a:p>
            <a:pPr marL="0" indent="0" algn="ctr">
              <a:buNone/>
            </a:pPr>
            <a:r>
              <a:rPr lang="en-US" i="1" dirty="0"/>
              <a:t>Unless…</a:t>
            </a:r>
          </a:p>
          <a:p>
            <a:r>
              <a:rPr lang="en-US" dirty="0"/>
              <a:t>All of the things you learn from are independent!</a:t>
            </a:r>
          </a:p>
          <a:p>
            <a:r>
              <a:rPr lang="en-US" dirty="0"/>
              <a:t>Then, p(you belong to this </a:t>
            </a:r>
            <a:r>
              <a:rPr lang="en-US" dirty="0" err="1"/>
              <a:t>class|all</a:t>
            </a:r>
            <a:r>
              <a:rPr lang="en-US" dirty="0"/>
              <a:t> that stuff) = p(you belong to this </a:t>
            </a:r>
            <a:r>
              <a:rPr lang="en-US" dirty="0" err="1"/>
              <a:t>class|thing</a:t>
            </a:r>
            <a:r>
              <a:rPr lang="en-US" dirty="0"/>
              <a:t> 1) * p(you belong to this </a:t>
            </a:r>
            <a:r>
              <a:rPr lang="en-US" dirty="0" err="1"/>
              <a:t>class|thing</a:t>
            </a:r>
            <a:r>
              <a:rPr lang="en-US" dirty="0"/>
              <a:t> 2) * …</a:t>
            </a:r>
          </a:p>
        </p:txBody>
      </p:sp>
    </p:spTree>
    <p:extLst>
      <p:ext uri="{BB962C8B-B14F-4D97-AF65-F5344CB8AC3E}">
        <p14:creationId xmlns:p14="http://schemas.microsoft.com/office/powerpoint/2010/main" val="2106359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498D-DF2B-401A-A606-7E0AAAF3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– slight math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2A42A-CD14-4480-B7D7-734219F87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p(email is </a:t>
            </a:r>
            <a:r>
              <a:rPr lang="en-US" dirty="0" err="1"/>
              <a:t>spam|it</a:t>
            </a:r>
            <a:r>
              <a:rPr lang="en-US" dirty="0"/>
              <a:t> is from unknown sender &amp; it uses non-letter text &amp; it isn’t from @conncoll.edu…&amp; it says “you won”) = something very hard to calculate</a:t>
            </a:r>
          </a:p>
          <a:p>
            <a:pPr lvl="1"/>
            <a:r>
              <a:rPr lang="en-US" dirty="0"/>
              <a:t>You need </a:t>
            </a:r>
            <a:r>
              <a:rPr lang="en-US" i="1" dirty="0"/>
              <a:t>TONS</a:t>
            </a:r>
            <a:r>
              <a:rPr lang="en-US" dirty="0"/>
              <a:t> of data</a:t>
            </a:r>
          </a:p>
          <a:p>
            <a:pPr lvl="1"/>
            <a:r>
              <a:rPr lang="en-US" dirty="0"/>
              <a:t>It’ll take forever and half to compute</a:t>
            </a:r>
          </a:p>
          <a:p>
            <a:pPr marL="0" indent="0" algn="ctr">
              <a:buNone/>
            </a:pPr>
            <a:r>
              <a:rPr lang="en-US" i="1" dirty="0"/>
              <a:t>Unless…</a:t>
            </a:r>
          </a:p>
          <a:p>
            <a:r>
              <a:rPr lang="en-US" dirty="0"/>
              <a:t>All of the things you learn from are independent!</a:t>
            </a:r>
          </a:p>
          <a:p>
            <a:r>
              <a:rPr lang="en-US" dirty="0"/>
              <a:t>Then, p(email is </a:t>
            </a:r>
            <a:r>
              <a:rPr lang="en-US" dirty="0" err="1"/>
              <a:t>spam|all</a:t>
            </a:r>
            <a:r>
              <a:rPr lang="en-US" dirty="0"/>
              <a:t> that stuff) = p(email is </a:t>
            </a:r>
            <a:r>
              <a:rPr lang="en-US" dirty="0" err="1"/>
              <a:t>spam|unknown</a:t>
            </a:r>
            <a:r>
              <a:rPr lang="en-US" dirty="0"/>
              <a:t> sender) * p(email is </a:t>
            </a:r>
            <a:r>
              <a:rPr lang="en-US" dirty="0" err="1"/>
              <a:t>spam|uses</a:t>
            </a:r>
            <a:r>
              <a:rPr lang="en-US" dirty="0"/>
              <a:t> non-letter text) * …</a:t>
            </a:r>
          </a:p>
        </p:txBody>
      </p:sp>
    </p:spTree>
    <p:extLst>
      <p:ext uri="{BB962C8B-B14F-4D97-AF65-F5344CB8AC3E}">
        <p14:creationId xmlns:p14="http://schemas.microsoft.com/office/powerpoint/2010/main" val="31867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22DF-8E8A-45C0-9D4E-4AB058BA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9FAEF-9B65-473E-AFA2-74D6979DE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p(you belong to this </a:t>
            </a:r>
            <a:r>
              <a:rPr lang="en-US" dirty="0" err="1"/>
              <a:t>class|all</a:t>
            </a:r>
            <a:r>
              <a:rPr lang="en-US" dirty="0"/>
              <a:t> that stuff) = p(you belong to this </a:t>
            </a:r>
            <a:r>
              <a:rPr lang="en-US" dirty="0" err="1"/>
              <a:t>class|thing</a:t>
            </a:r>
            <a:r>
              <a:rPr lang="en-US" dirty="0"/>
              <a:t> 1) * p(you belong to this </a:t>
            </a:r>
            <a:r>
              <a:rPr lang="en-US" dirty="0" err="1"/>
              <a:t>class|thing</a:t>
            </a:r>
            <a:r>
              <a:rPr lang="en-US" dirty="0"/>
              <a:t> 2) * …</a:t>
            </a:r>
          </a:p>
          <a:p>
            <a:pPr lvl="1"/>
            <a:r>
              <a:rPr lang="en-US" sz="2200" dirty="0"/>
              <a:t>p(you belong to this </a:t>
            </a:r>
            <a:r>
              <a:rPr lang="en-US" sz="2200" dirty="0" err="1"/>
              <a:t>class|thing</a:t>
            </a:r>
            <a:r>
              <a:rPr lang="en-US" sz="2200" dirty="0"/>
              <a:t> 1) </a:t>
            </a:r>
            <a:r>
              <a:rPr lang="el-GR" sz="2200" dirty="0"/>
              <a:t>α</a:t>
            </a:r>
            <a:r>
              <a:rPr lang="en-US" sz="2200" dirty="0"/>
              <a:t> p(thing 1|you belong to this class) * p(you belong to this class)</a:t>
            </a:r>
          </a:p>
          <a:p>
            <a:pPr lvl="2"/>
            <a:r>
              <a:rPr lang="en-US" dirty="0"/>
              <a:t>p(you belong to this class) is trivial to estimate: examples of this class in training data / total examples in your training data</a:t>
            </a:r>
          </a:p>
          <a:p>
            <a:pPr marL="914400" lvl="2" indent="0" algn="ctr">
              <a:buNone/>
            </a:pPr>
            <a:r>
              <a:rPr lang="en-US" dirty="0"/>
              <a:t>-or-</a:t>
            </a:r>
          </a:p>
          <a:p>
            <a:pPr lvl="2"/>
            <a:r>
              <a:rPr lang="en-US" dirty="0"/>
              <a:t>p(spam email) = # spam email in training data / total email in training data</a:t>
            </a:r>
          </a:p>
        </p:txBody>
      </p:sp>
    </p:spTree>
    <p:extLst>
      <p:ext uri="{BB962C8B-B14F-4D97-AF65-F5344CB8AC3E}">
        <p14:creationId xmlns:p14="http://schemas.microsoft.com/office/powerpoint/2010/main" val="2409210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22DF-8E8A-45C0-9D4E-4AB058BA2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9FAEF-9B65-473E-AFA2-74D6979DE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p(you belong to this </a:t>
            </a:r>
            <a:r>
              <a:rPr lang="en-US" sz="2600" dirty="0" err="1"/>
              <a:t>class|thing</a:t>
            </a:r>
            <a:r>
              <a:rPr lang="en-US" sz="2600" dirty="0"/>
              <a:t> 1) </a:t>
            </a:r>
            <a:r>
              <a:rPr lang="el-GR" sz="2600" dirty="0"/>
              <a:t>α</a:t>
            </a:r>
            <a:r>
              <a:rPr lang="en-US" sz="2600" dirty="0"/>
              <a:t> p(thing 1|you belong to this class) * p(you belong to this class)</a:t>
            </a:r>
          </a:p>
          <a:p>
            <a:pPr lvl="1"/>
            <a:r>
              <a:rPr lang="en-US" dirty="0"/>
              <a:t>p(thing 1|you belong to this class) isn’t very hard either (although harder)</a:t>
            </a:r>
          </a:p>
          <a:p>
            <a:pPr lvl="2"/>
            <a:r>
              <a:rPr lang="en-US" dirty="0"/>
              <a:t>p(unknown </a:t>
            </a:r>
            <a:r>
              <a:rPr lang="en-US" dirty="0" err="1"/>
              <a:t>sender|it’s</a:t>
            </a:r>
            <a:r>
              <a:rPr lang="en-US" dirty="0"/>
              <a:t> a spam email)</a:t>
            </a:r>
          </a:p>
          <a:p>
            <a:pPr lvl="2"/>
            <a:r>
              <a:rPr lang="en-US" dirty="0"/>
              <a:t>It depends very strongly on what kind of data you’re looking at</a:t>
            </a:r>
          </a:p>
          <a:p>
            <a:pPr lvl="3"/>
            <a:r>
              <a:rPr lang="en-US" dirty="0"/>
              <a:t>Is it numerical?  Binary?  Categorical?</a:t>
            </a:r>
          </a:p>
          <a:p>
            <a:pPr lvl="3"/>
            <a:r>
              <a:rPr lang="en-US" dirty="0"/>
              <a:t>You can envision using temperature as a feature that you learn on.  Or sunny vs not.  Or season.</a:t>
            </a:r>
          </a:p>
          <a:p>
            <a:pPr lvl="3"/>
            <a:r>
              <a:rPr lang="en-US" dirty="0"/>
              <a:t>You may (and often will) have different kinds of data in your algorithm.  This isn’t a problem, just use the appropriate method for each feature!</a:t>
            </a:r>
          </a:p>
          <a:p>
            <a:pPr lvl="3"/>
            <a:r>
              <a:rPr lang="en-US" dirty="0"/>
              <a:t>Binary data uses the binomial distribution, categorical data uses multinomial distribution, and numeric data uses Gaussian distribution</a:t>
            </a:r>
          </a:p>
          <a:p>
            <a:pPr lvl="3"/>
            <a:r>
              <a:rPr lang="en-US" dirty="0"/>
              <a:t>You can also just approximate from the data.</a:t>
            </a:r>
          </a:p>
        </p:txBody>
      </p:sp>
    </p:spTree>
    <p:extLst>
      <p:ext uri="{BB962C8B-B14F-4D97-AF65-F5344CB8AC3E}">
        <p14:creationId xmlns:p14="http://schemas.microsoft.com/office/powerpoint/2010/main" val="289703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1149</Words>
  <Application>Microsoft Office PowerPoint</Application>
  <PresentationFormat>Widescreen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Lecture 9: Introduction to Classification</vt:lpstr>
      <vt:lpstr>Classification</vt:lpstr>
      <vt:lpstr>Classification</vt:lpstr>
      <vt:lpstr>Remember: Bayes theorem</vt:lpstr>
      <vt:lpstr>Bayes optimal classifier</vt:lpstr>
      <vt:lpstr>Bayes optimal classifier</vt:lpstr>
      <vt:lpstr>Bayes optimal classifier</vt:lpstr>
      <vt:lpstr>Bayes optimal classifier</vt:lpstr>
      <vt:lpstr>Bayes optimal classifier</vt:lpstr>
      <vt:lpstr>Bayes optimal classifier</vt:lpstr>
      <vt:lpstr>Back to where we started: classification</vt:lpstr>
      <vt:lpstr>Naïve Bayes</vt:lpstr>
      <vt:lpstr>Naïve Bayes – slight math</vt:lpstr>
      <vt:lpstr>Naïve Bayes – slight math example</vt:lpstr>
      <vt:lpstr>Naïve Bayes</vt:lpstr>
      <vt:lpstr>Naïve Bayes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9: Optimization</dc:title>
  <dc:creator>Stephen M Douglass</dc:creator>
  <cp:lastModifiedBy>Stephen M Douglass</cp:lastModifiedBy>
  <cp:revision>34</cp:revision>
  <dcterms:created xsi:type="dcterms:W3CDTF">2020-02-01T23:45:40Z</dcterms:created>
  <dcterms:modified xsi:type="dcterms:W3CDTF">2021-10-11T23:03:00Z</dcterms:modified>
</cp:coreProperties>
</file>