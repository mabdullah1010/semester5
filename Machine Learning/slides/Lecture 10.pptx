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50" r:id="rId3"/>
    <p:sldId id="351" r:id="rId4"/>
    <p:sldId id="352" r:id="rId5"/>
    <p:sldId id="353" r:id="rId6"/>
    <p:sldId id="354" r:id="rId7"/>
    <p:sldId id="357" r:id="rId8"/>
    <p:sldId id="359" r:id="rId9"/>
    <p:sldId id="3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ADB25-CC56-41B0-8199-CBF01B358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6BDA6-E65C-465D-ADC4-0D46B5BEB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96687-98E2-4BEE-AF08-9850193D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16F44-B6D7-459D-B8E8-999558B3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BBC91-5852-48FE-8790-011E3612F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22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9BFB-E907-4E45-9350-42D9EBDF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434B3-53AD-4555-BA39-689CD407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5DDA0-C1D0-476B-ACB0-A9F984DC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54B81-CA7F-46DA-85E4-E45B7B63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F1DD3-76AC-4B3A-8A98-1FB9DF682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3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B16C-A9F3-4A38-87E4-820B4CC06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BDF7D-ADA8-4E1B-84D6-F8FF40633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6DBDF-5CB3-4C20-A213-3466C903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5B72B-F3C5-4673-8B86-4453A49F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895F3-AFE6-40F6-81E4-0ECCFFD7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66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1A590-6EB1-474F-B999-D88FB289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B1E29-EA75-450F-A31A-D8FF865FF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C553C-A82E-48DF-939E-B571167A7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A57AD-3EEA-4608-A365-A48D9BFA7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C09C3-DCBA-4CB3-8082-A1975340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9F2E0-621A-4F31-B6E1-160ED739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97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FFB2-FF9A-4744-AB47-6CC712BB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14A7A-38DE-426E-B41D-F090EA3CE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F505E-9EC4-4722-A226-0E9D38A22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FF3EF-1158-4B77-88BE-50231EF6F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FAFDB-6284-4AB8-847D-A98988B1C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3DA21-2011-4D74-A13B-95A9BE8FE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23AE62-FD6E-433A-BE53-A8EE2DA5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7F058-3566-4185-8C04-E5263C16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7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01BE-454D-4CE9-9F6D-7408C668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DC9F9-DC03-4FF8-9019-BDE246DE5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E9B23-79B3-42D5-BA8C-28D1A6B4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00C96-3A64-4D8F-869E-D69FA9A8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74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2F4872-222B-4122-9C29-331A99C1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91BB3-4B61-40A3-93B4-7AA522E6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58175-9C66-428F-8B92-EA91E9C7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2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2926-0485-4003-AC14-BF4BCCE5B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FB8E-4835-4D22-997F-6FD500019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41E0D-EF82-4EE9-8C92-1A7D99463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F5D4F-F9D1-408A-940B-789D2EDE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63A26-1863-4D42-8CDC-57C0E389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25688-A485-4C45-81CA-6EA0AB39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2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0DA5-8521-4244-83BD-6B5237E5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4FDC0-43FB-42A5-A1DF-3F1DBC4FA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CB8A9-4E95-4909-9BB8-3F4170D66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EC94A-C59A-4624-884A-C5ABD8E0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7E940-DF53-4773-950A-9249C123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F2AFD-FF3D-48B7-9D76-D3D8B915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34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4513-2B79-4CD4-98EB-B04EE465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DDC37-BC2C-408A-85F0-73AB91BE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9288E-5825-47D3-8B44-5E618AAE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217A1-11B1-468B-8F38-1B1CD7262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788BC-F61B-4F34-ABC1-848285259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40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27DE39-D082-446A-AA9D-5C54F9740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FF61D-9C4D-4CC6-8693-AD1045EDF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56C5A-35C9-4388-A1BA-15B70EA8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EB8F4-830A-4002-8203-831BF65F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17089-C7D2-4C55-8F4E-A6672613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5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FA86B-19A4-4D0D-8E9D-A33FD0B0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FCCD6-C601-45FF-965A-67C592CA6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F6C11-9EC0-48DB-A335-794D95EB2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18325-272D-4EF1-A000-935BC0C3D8FD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C1F04-1907-4C7F-982C-84C22B2A2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71E7F-B5A1-4F81-9C64-A7A1C8F3B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38FA-F1F7-428B-852B-E1CF1D62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3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/>
          </a:bodyPr>
          <a:lstStyle/>
          <a:p>
            <a:r>
              <a:rPr lang="en-US" dirty="0"/>
              <a:t>Lecture 10: Online Learning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F2DC-805E-4E2C-8768-852F7C645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learning example: to the moon (the first time)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0EDC6-C407-4DE0-83D6-652EEBEA2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Guidance computer predicts trajectories to the moon and back with</a:t>
            </a:r>
          </a:p>
          <a:p>
            <a:pPr lvl="1"/>
            <a:r>
              <a:rPr lang="en-US" dirty="0"/>
              <a:t>Noisy sensors</a:t>
            </a:r>
          </a:p>
          <a:p>
            <a:pPr lvl="1"/>
            <a:r>
              <a:rPr lang="en-US" dirty="0"/>
              <a:t>Imperfect models</a:t>
            </a:r>
          </a:p>
          <a:p>
            <a:pPr lvl="1"/>
            <a:r>
              <a:rPr lang="en-US" dirty="0"/>
              <a:t>Little computational power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3130E-51D2-4321-8791-83460239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88" y="4173071"/>
            <a:ext cx="3579029" cy="2495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0FF9D5-D2AF-4A08-B97B-6FA48278D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035" y="4750640"/>
            <a:ext cx="3722594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1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DC45-D62A-406C-A3BF-AB992446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learning -- recently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6328CF-87FC-4849-8E54-B3D8160DF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85533"/>
            <a:ext cx="10515600" cy="327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3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DC45-D62A-406C-A3BF-AB992446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learning -- recently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7CA5E9-7626-4F1E-8FEA-C0B558076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6668" y="1825625"/>
            <a:ext cx="72586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93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D471-FB59-4145-B112-B804D2BB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BB93F-4A81-4BD7-9B3A-0F3DEB399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Predictive ads deal with streaming data</a:t>
            </a:r>
          </a:p>
          <a:p>
            <a:pPr lvl="1"/>
            <a:r>
              <a:rPr lang="en-US" dirty="0"/>
              <a:t>User enters a query, and an ad must be selected</a:t>
            </a:r>
          </a:p>
          <a:p>
            <a:pPr lvl="2"/>
            <a:r>
              <a:rPr lang="en-US" dirty="0"/>
              <a:t>Observe the query, </a:t>
            </a: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, predict the ad – clicked or not clicked, </a:t>
            </a:r>
            <a:r>
              <a:rPr lang="en-US" dirty="0" err="1"/>
              <a:t>Y</a:t>
            </a:r>
            <a:r>
              <a:rPr lang="en-US" baseline="-25000" dirty="0" err="1"/>
              <a:t>j</a:t>
            </a:r>
            <a:r>
              <a:rPr lang="en-US" dirty="0"/>
              <a:t>!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User either clicks the ad or doesn’t click the ad</a:t>
            </a:r>
          </a:p>
          <a:p>
            <a:pPr lvl="2"/>
            <a:r>
              <a:rPr lang="en-US" dirty="0"/>
              <a:t>Label on </a:t>
            </a:r>
            <a:r>
              <a:rPr lang="en-US" dirty="0" err="1"/>
              <a:t>Y</a:t>
            </a:r>
            <a:r>
              <a:rPr lang="en-US" baseline="-25000" dirty="0" err="1"/>
              <a:t>j</a:t>
            </a:r>
            <a:r>
              <a:rPr lang="en-US" dirty="0"/>
              <a:t> revealed afterwards</a:t>
            </a:r>
          </a:p>
          <a:p>
            <a:pPr lvl="3"/>
            <a:r>
              <a:rPr lang="en-US" dirty="0"/>
              <a:t>Google (or Facebook or whoever) gets a reward if the ad is clicked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Update the model for next time</a:t>
            </a:r>
          </a:p>
        </p:txBody>
      </p:sp>
    </p:spTree>
    <p:extLst>
      <p:ext uri="{BB962C8B-B14F-4D97-AF65-F5344CB8AC3E}">
        <p14:creationId xmlns:p14="http://schemas.microsoft.com/office/powerpoint/2010/main" val="3914884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F587F-20E9-476F-B771-AD999F52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classification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07ACF-D481-42D7-BBA5-ED0B90D99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043" y="1795736"/>
            <a:ext cx="82010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38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9FB9C-CE8E-48E9-9566-7B890315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perceptron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0070A-BCFF-464B-B5CA-B51D163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 y takes values {-1, 1}</a:t>
            </a:r>
          </a:p>
          <a:p>
            <a:r>
              <a:rPr lang="en-US" dirty="0"/>
              <a:t>Linear model – prediction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~ sin(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 err="1"/>
              <a:t>w</a:t>
            </a:r>
            <a:r>
              <a:rPr lang="en-US" dirty="0"/>
              <a:t> + b)</a:t>
            </a:r>
          </a:p>
          <a:p>
            <a:r>
              <a:rPr lang="en-US" dirty="0"/>
              <a:t>Training:</a:t>
            </a:r>
          </a:p>
          <a:p>
            <a:pPr lvl="1"/>
            <a:r>
              <a:rPr lang="en-US" dirty="0"/>
              <a:t>Initialize weights (w</a:t>
            </a:r>
            <a:r>
              <a:rPr lang="en-US" baseline="-25000" dirty="0"/>
              <a:t>0</a:t>
            </a:r>
            <a:r>
              <a:rPr lang="en-US" dirty="0"/>
              <a:t>, b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At each step, k:</a:t>
            </a:r>
          </a:p>
          <a:p>
            <a:pPr lvl="2"/>
            <a:r>
              <a:rPr lang="en-US" dirty="0"/>
              <a:t>Observe features</a:t>
            </a:r>
          </a:p>
          <a:p>
            <a:pPr lvl="2"/>
            <a:r>
              <a:rPr lang="en-US" dirty="0"/>
              <a:t>Make predictions</a:t>
            </a:r>
          </a:p>
          <a:p>
            <a:pPr lvl="2"/>
            <a:r>
              <a:rPr lang="en-US" dirty="0"/>
              <a:t>Observe true class</a:t>
            </a:r>
          </a:p>
          <a:p>
            <a:pPr lvl="2"/>
            <a:r>
              <a:rPr lang="en-US" dirty="0"/>
              <a:t>Update model </a:t>
            </a:r>
            <a:r>
              <a:rPr lang="en-US" i="1" dirty="0"/>
              <a:t>if prediction is not equal to the truth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452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CE45-2C86-4560-A3D0-DFF23CCA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9E70-5371-4586-8490-6B83B8F74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Perceptron is guaranteed to converge as long as the data is linearly separable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7BE92-3296-47AD-B9C9-D19AB79AA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419" y="2660992"/>
            <a:ext cx="7619162" cy="387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75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CE45-2C86-4560-A3D0-DFF23CCA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9E70-5371-4586-8490-6B83B8F74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 has that limitation, but is otherwise really cool!</a:t>
            </a:r>
          </a:p>
          <a:p>
            <a:pPr lvl="1"/>
            <a:r>
              <a:rPr lang="en-US" dirty="0"/>
              <a:t>No assumption about data distribution, </a:t>
            </a:r>
            <a:r>
              <a:rPr lang="en-US" i="1" dirty="0"/>
              <a:t>does not need to be </a:t>
            </a:r>
            <a:r>
              <a:rPr lang="en-US" i="1" dirty="0" err="1"/>
              <a:t>i.i.d</a:t>
            </a:r>
            <a:r>
              <a:rPr lang="en-US" i="1" dirty="0"/>
              <a:t>.</a:t>
            </a:r>
          </a:p>
          <a:p>
            <a:pPr lvl="1"/>
            <a:r>
              <a:rPr lang="en-US" dirty="0"/>
              <a:t>Could be generated by an oblivious adversary</a:t>
            </a:r>
          </a:p>
          <a:p>
            <a:pPr lvl="1"/>
            <a:r>
              <a:rPr lang="en-US" dirty="0"/>
              <a:t>Makes a fixed number of mistakes, and it’s done forever</a:t>
            </a:r>
          </a:p>
          <a:p>
            <a:pPr marL="914400" lvl="2" indent="0">
              <a:buNone/>
            </a:pPr>
            <a:r>
              <a:rPr lang="en-US" dirty="0"/>
              <a:t>Even as you see infinite data</a:t>
            </a:r>
          </a:p>
          <a:p>
            <a:r>
              <a:rPr lang="en-US" dirty="0"/>
              <a:t>But…perceptron is useless in practice</a:t>
            </a:r>
          </a:p>
          <a:p>
            <a:pPr lvl="1"/>
            <a:r>
              <a:rPr lang="en-US" dirty="0"/>
              <a:t>Real world data are not linearly separable</a:t>
            </a:r>
          </a:p>
          <a:p>
            <a:pPr lvl="1"/>
            <a:r>
              <a:rPr lang="en-US" dirty="0"/>
              <a:t>If it isn’t separable, algorithm cycles forever</a:t>
            </a:r>
          </a:p>
          <a:p>
            <a:pPr lvl="1"/>
            <a:r>
              <a:rPr lang="en-US" dirty="0"/>
              <a:t>Even if separable, algorithm may not give good accuracy (may have small margin)</a:t>
            </a:r>
          </a:p>
        </p:txBody>
      </p:sp>
    </p:spTree>
    <p:extLst>
      <p:ext uri="{BB962C8B-B14F-4D97-AF65-F5344CB8AC3E}">
        <p14:creationId xmlns:p14="http://schemas.microsoft.com/office/powerpoint/2010/main" val="167578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280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Lecture 10: Online Learning</vt:lpstr>
      <vt:lpstr>Online learning example: to the moon (the first time)</vt:lpstr>
      <vt:lpstr>Online learning -- recently</vt:lpstr>
      <vt:lpstr>Online learning -- recently</vt:lpstr>
      <vt:lpstr>Online learning</vt:lpstr>
      <vt:lpstr>Online classification</vt:lpstr>
      <vt:lpstr>The perceptron algorithm</vt:lpstr>
      <vt:lpstr>Perceptron algorithm</vt:lpstr>
      <vt:lpstr>Perceptron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10:</dc:title>
  <dc:creator>Stephen M Douglass</dc:creator>
  <cp:lastModifiedBy>Stephen M Douglass</cp:lastModifiedBy>
  <cp:revision>19</cp:revision>
  <dcterms:created xsi:type="dcterms:W3CDTF">2020-02-02T21:56:29Z</dcterms:created>
  <dcterms:modified xsi:type="dcterms:W3CDTF">2025-02-23T16:12:34Z</dcterms:modified>
</cp:coreProperties>
</file>