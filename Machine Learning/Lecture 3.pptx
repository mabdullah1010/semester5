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1" r:id="rId3"/>
    <p:sldId id="342" r:id="rId4"/>
    <p:sldId id="343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3" r:id="rId13"/>
    <p:sldId id="352" r:id="rId14"/>
    <p:sldId id="355" r:id="rId15"/>
    <p:sldId id="356" r:id="rId16"/>
    <p:sldId id="357" r:id="rId17"/>
    <p:sldId id="3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566D-DF1C-4609-B578-582F57727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10E61-4981-4DE5-9066-8EEF1D791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43D8C-6311-4FC0-B744-A17B0DB98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F2E7E-5B7C-4F04-9B59-F0B910018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38835-A583-45F3-B014-82DD1719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0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12B7-AF4F-4471-8A1E-482DC31A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A1C19-F2EB-4DC6-AEC2-39BFB2F68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D38C9-440C-480D-B945-853473C7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36984-8751-4CD2-90AD-0557C196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5A61F-B92D-440F-8AB0-66BC75EA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3140-D854-45EC-8942-03DD1AB0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710AF-4A32-4909-B8E4-B6EF0BDB1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65536-B974-4104-B010-EC9E3F01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249E2-05C3-439A-AE21-780134774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21F5D-31B9-4617-8061-4140E35E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7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DF73-CADE-4A45-93A3-F8F88618A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B46EA-8627-4879-8F87-B16664C38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961ED-34CA-417A-8A9C-B70CAE852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E1876-05F9-4B0B-B2FF-82082743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E3C23-0CD1-463C-B2E7-6CF225B07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7E495-FA48-4A5B-9C75-C4CC2515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BD01E-CF17-48D9-B568-619A9812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93974-DA1E-476F-8B2B-182A42CD2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41CB9-4412-4ED0-B555-9DC72441E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3BB41-1E03-41ED-904D-BA304D6BB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BCA0D-326A-4833-B81C-C2E1E8B4DB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927BC1-A466-43DC-BDAF-6A80205F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EF783C-58F6-4719-A8F1-40EAF088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E8658-00D3-4F25-B071-3682FD25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1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E9B1-608F-4694-851E-C1F114E9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FCF42-ACD6-45ED-89E4-CD84732C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9B74F-1747-4FB4-8760-008CB9CF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66B1D7-1116-4617-A5DD-16C8B729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5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D056A-E32A-4C1E-A527-97DE7F3B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A0563-74B0-4264-AD5A-EACF6FBA4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1CCC1-F3FE-4AF3-83DC-054551D7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9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AE07-92C2-48FE-AF01-088928279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C3D9-9532-40BE-9461-EB26FEB36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E7B76-CC3F-46AF-A037-56B42A517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63DFE-C950-4C90-9169-B77ADCFD2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7643A-027C-41F7-A8C8-01A83BDC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C7DB2-3181-4918-8F4B-8635CFF2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01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650-159B-451E-A7BD-BB223051D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45DBC6-DA67-46FF-8C2B-F42ED5659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B84B5-A2B9-4623-9B53-308C8D251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4D991-BCBD-4C1C-B792-AD920770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7EB61-2243-498C-8637-44DA3556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ADC23-9548-42E9-BDD5-649C6B3A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7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EB39-3663-452A-841C-D8D7F9D8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BE338-AAD7-45F2-BC96-07340DA70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D6AA8-0A32-4B08-A351-20C01DA9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01A98-1A2C-4F8B-8974-D3CAEC7A5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5E5E6-CA55-4615-8DF0-9308C0F0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65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24B3B0-9AB9-4DD6-9BF6-E81B65BB5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70F21-1AFB-4E9C-A5A7-9FD27E7E1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43518-C70B-48B4-9396-1AE433E9E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3A01-26F2-4F24-A6C2-993A1364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04C00-35FF-4739-B63D-C36D6027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4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802A6-1C02-451B-83D9-3767083D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B7B15-FF2E-430C-A6B7-5B59DEAEA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038A2-806C-466E-9F55-644BF5B03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4692F-DA11-4E89-A2DE-845BB05B3AA4}" type="datetimeFigureOut">
              <a:rPr lang="en-US" smtClean="0"/>
              <a:t>9/7/2021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C8F02-5F4C-443F-A82F-4D6CDAEBA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85ED0-E27D-4E66-80B6-FB793499C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6D53B-50C5-4DB7-A673-9FA8159B9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0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/>
          </a:bodyPr>
          <a:lstStyle/>
          <a:p>
            <a:r>
              <a:rPr lang="en-US" dirty="0"/>
              <a:t>Lecture 3: Selecting a Solution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055F-2AD8-4497-8823-5192340B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Remember: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6C3A6-82D8-4D5E-909A-442AA7880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are diverse</a:t>
            </a:r>
          </a:p>
          <a:p>
            <a:pPr lvl="1"/>
            <a:r>
              <a:rPr lang="en-US" dirty="0"/>
              <a:t>Continuous vs discrete</a:t>
            </a:r>
          </a:p>
          <a:p>
            <a:pPr lvl="1"/>
            <a:r>
              <a:rPr lang="en-US" dirty="0"/>
              <a:t>Classification vs regression</a:t>
            </a:r>
          </a:p>
          <a:p>
            <a:pPr lvl="1"/>
            <a:r>
              <a:rPr lang="en-US" dirty="0"/>
              <a:t>Abundant vs rare (or asymmetric)</a:t>
            </a:r>
          </a:p>
          <a:p>
            <a:pPr lvl="1"/>
            <a:r>
              <a:rPr lang="en-US" dirty="0"/>
              <a:t>Multivariable</a:t>
            </a:r>
          </a:p>
          <a:p>
            <a:pPr lvl="1"/>
            <a:r>
              <a:rPr lang="en-US" dirty="0"/>
              <a:t>Available at once vs flowing</a:t>
            </a:r>
          </a:p>
          <a:p>
            <a:pPr lvl="1"/>
            <a:r>
              <a:rPr lang="en-US" dirty="0"/>
              <a:t>“Easily” modeled by statistical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63164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2B71-DFD0-4DF3-A340-D99CCB00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40B81-C6BA-4DD2-A7A0-FE9F5EA5E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solutions are based on these (and other) factors:</a:t>
            </a:r>
          </a:p>
          <a:p>
            <a:pPr lvl="1"/>
            <a:r>
              <a:rPr lang="en-US" dirty="0"/>
              <a:t>Eager vs lazy</a:t>
            </a:r>
          </a:p>
          <a:p>
            <a:pPr lvl="1"/>
            <a:r>
              <a:rPr lang="en-US" dirty="0"/>
              <a:t>Batch vs online</a:t>
            </a:r>
          </a:p>
          <a:p>
            <a:pPr lvl="1"/>
            <a:r>
              <a:rPr lang="en-US" dirty="0"/>
              <a:t>Parametric vs nonparametric</a:t>
            </a:r>
          </a:p>
          <a:p>
            <a:pPr lvl="1"/>
            <a:r>
              <a:rPr lang="en-US" dirty="0"/>
              <a:t>Discriminative vs generative</a:t>
            </a:r>
          </a:p>
        </p:txBody>
      </p:sp>
    </p:spTree>
    <p:extLst>
      <p:ext uri="{BB962C8B-B14F-4D97-AF65-F5344CB8AC3E}">
        <p14:creationId xmlns:p14="http://schemas.microsoft.com/office/powerpoint/2010/main" val="2891333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3106-DF21-4459-88E4-492EA35F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learners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F6D7F-BF91-4E78-B712-A6F47C8EE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evaluating the training data, simply store it when it’s received</a:t>
            </a:r>
          </a:p>
          <a:p>
            <a:endParaRPr lang="en-US" dirty="0"/>
          </a:p>
          <a:p>
            <a:r>
              <a:rPr lang="en-US" dirty="0"/>
              <a:t>When test data appear, classification happens using the subset of the training data that is most applicable to the test data</a:t>
            </a:r>
          </a:p>
        </p:txBody>
      </p:sp>
    </p:spTree>
    <p:extLst>
      <p:ext uri="{BB962C8B-B14F-4D97-AF65-F5344CB8AC3E}">
        <p14:creationId xmlns:p14="http://schemas.microsoft.com/office/powerpoint/2010/main" val="638023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D84C-4155-45B4-B73B-0066EED1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Eager learners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92F65-04A2-4B30-A59B-3262B469D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a model for classification when the training data is given, before seeing the test data</a:t>
            </a:r>
          </a:p>
          <a:p>
            <a:endParaRPr lang="en-US" dirty="0"/>
          </a:p>
          <a:p>
            <a:r>
              <a:rPr lang="en-US" dirty="0"/>
              <a:t>Must be able to commit to a single hypothesis that can cover all data before seeing “all data” (the test data)</a:t>
            </a:r>
          </a:p>
        </p:txBody>
      </p:sp>
    </p:spTree>
    <p:extLst>
      <p:ext uri="{BB962C8B-B14F-4D97-AF65-F5344CB8AC3E}">
        <p14:creationId xmlns:p14="http://schemas.microsoft.com/office/powerpoint/2010/main" val="2516427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D84C-4155-45B4-B73B-0066EED1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Eager learners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92F65-04A2-4B30-A59B-3262B469D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 a model for classification when the training data is given, before seeing the test data</a:t>
            </a:r>
          </a:p>
          <a:p>
            <a:endParaRPr lang="en-US" dirty="0"/>
          </a:p>
          <a:p>
            <a:r>
              <a:rPr lang="en-US" dirty="0"/>
              <a:t>Must be able to commit to a single hypothesis that can cover all data before seeing “all data” (the test data)</a:t>
            </a:r>
          </a:p>
          <a:p>
            <a:endParaRPr lang="en-US" dirty="0"/>
          </a:p>
          <a:p>
            <a:r>
              <a:rPr lang="en-US" dirty="0"/>
              <a:t>Eager learners often take a long time to train and less time to predict</a:t>
            </a:r>
          </a:p>
        </p:txBody>
      </p:sp>
    </p:spTree>
    <p:extLst>
      <p:ext uri="{BB962C8B-B14F-4D97-AF65-F5344CB8AC3E}">
        <p14:creationId xmlns:p14="http://schemas.microsoft.com/office/powerpoint/2010/main" val="208074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D9975-9ADD-4939-817B-20941659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(offline)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A692D-0976-4892-BBF8-390C32900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“Standard” relative to online learning</a:t>
            </a:r>
          </a:p>
          <a:p>
            <a:pPr lvl="1"/>
            <a:r>
              <a:rPr lang="en-US" dirty="0"/>
              <a:t>Has been done for a much longer period of time</a:t>
            </a:r>
          </a:p>
          <a:p>
            <a:pPr lvl="1"/>
            <a:r>
              <a:rPr lang="en-US" dirty="0"/>
              <a:t>Is what most people would come up with if you described machine learning</a:t>
            </a:r>
          </a:p>
          <a:p>
            <a:pPr lvl="1"/>
            <a:r>
              <a:rPr lang="en-US" dirty="0"/>
              <a:t>Other X vs Y’s don’t have a “standard”</a:t>
            </a:r>
          </a:p>
          <a:p>
            <a:endParaRPr lang="en-US" dirty="0"/>
          </a:p>
          <a:p>
            <a:r>
              <a:rPr lang="en-US" dirty="0"/>
              <a:t>Get a (training) dataset, build model with the dataset (which can be done in an eager or lazy way), then apply that model to another (test) dataset</a:t>
            </a:r>
          </a:p>
        </p:txBody>
      </p:sp>
    </p:spTree>
    <p:extLst>
      <p:ext uri="{BB962C8B-B14F-4D97-AF65-F5344CB8AC3E}">
        <p14:creationId xmlns:p14="http://schemas.microsoft.com/office/powerpoint/2010/main" val="147020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D9BD-F66C-4D11-B7C4-4C25CDA7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E4D69-787A-4B0A-A963-13E8BC83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learning processes data one-at-a-time, so you technically don’t need to store data (although you generally do)</a:t>
            </a:r>
          </a:p>
          <a:p>
            <a:endParaRPr lang="en-US" dirty="0"/>
          </a:p>
          <a:p>
            <a:r>
              <a:rPr lang="en-US" dirty="0"/>
              <a:t>Online learning is adaptable because you don’t (can’t) make assumptions about the underlying distribution of the data</a:t>
            </a:r>
          </a:p>
          <a:p>
            <a:endParaRPr lang="en-US" dirty="0"/>
          </a:p>
          <a:p>
            <a:r>
              <a:rPr lang="en-US" dirty="0"/>
              <a:t>Can react to changes in the data (for example, if consumers are responding to an event in the world)</a:t>
            </a:r>
          </a:p>
        </p:txBody>
      </p:sp>
    </p:spTree>
    <p:extLst>
      <p:ext uri="{BB962C8B-B14F-4D97-AF65-F5344CB8AC3E}">
        <p14:creationId xmlns:p14="http://schemas.microsoft.com/office/powerpoint/2010/main" val="353845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8D9BD-F66C-4D11-B7C4-4C25CDA7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online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E4D69-787A-4B0A-A963-13E8BC83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data doesn’t fit into memory</a:t>
            </a:r>
          </a:p>
          <a:p>
            <a:endParaRPr lang="en-US" dirty="0"/>
          </a:p>
          <a:p>
            <a:r>
              <a:rPr lang="en-US" dirty="0"/>
              <a:t>You expect your data to change over time (although there are ways to deal with this in batch learning, potentially obviously)</a:t>
            </a:r>
          </a:p>
          <a:p>
            <a:endParaRPr lang="en-US" dirty="0"/>
          </a:p>
          <a:p>
            <a:r>
              <a:rPr lang="en-US" dirty="0"/>
              <a:t>Your data is a function of time and needs to be updated constantly (for example, stock prices)</a:t>
            </a:r>
          </a:p>
        </p:txBody>
      </p:sp>
    </p:spTree>
    <p:extLst>
      <p:ext uri="{BB962C8B-B14F-4D97-AF65-F5344CB8AC3E}">
        <p14:creationId xmlns:p14="http://schemas.microsoft.com/office/powerpoint/2010/main" val="3238613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86C5-1502-4739-AC22-71EF3026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5859-FFA3-41D3-9103-3C7EE4EF6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Stays firm with the number of parameters needed to explain the data</a:t>
            </a:r>
          </a:p>
          <a:p>
            <a:pPr lvl="1"/>
            <a:r>
              <a:rPr lang="en-US" dirty="0"/>
              <a:t>No amount of training data will change the number of parameters</a:t>
            </a:r>
          </a:p>
          <a:p>
            <a:pPr lvl="1"/>
            <a:r>
              <a:rPr lang="en-US" dirty="0"/>
              <a:t>The training data </a:t>
            </a:r>
            <a:r>
              <a:rPr lang="en-US" i="1" dirty="0"/>
              <a:t>WILL</a:t>
            </a:r>
            <a:r>
              <a:rPr lang="en-US" dirty="0"/>
              <a:t> inform the coefficients of these parameters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b0, b1, and b2 are coefficients that control the intercept and slope, x1 and x2 are variables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7CC44-B184-46E0-9F8E-764D7E210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228" y="3608013"/>
            <a:ext cx="393382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06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86C5-1502-4739-AC22-71EF3026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5859-FFA3-41D3-9103-3C7EE4EF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Can be bad or </a:t>
            </a:r>
            <a:r>
              <a:rPr lang="en-US" i="1" dirty="0"/>
              <a:t>really bad</a:t>
            </a:r>
          </a:p>
          <a:p>
            <a:pPr lvl="1"/>
            <a:r>
              <a:rPr lang="en-US" dirty="0"/>
              <a:t>The previous example was modeling data as linear, but it may require a minor transformation to work out correctly</a:t>
            </a:r>
          </a:p>
          <a:p>
            <a:pPr lvl="1"/>
            <a:r>
              <a:rPr lang="en-US" dirty="0"/>
              <a:t>Alternatively, it could be modeling extremely non-linear data, which will likely cause the model to fail spectacularly</a:t>
            </a:r>
          </a:p>
          <a:p>
            <a:endParaRPr lang="en-US" dirty="0"/>
          </a:p>
          <a:p>
            <a:r>
              <a:rPr lang="en-US" dirty="0"/>
              <a:t>Benefits of parametric learning:</a:t>
            </a:r>
          </a:p>
          <a:p>
            <a:pPr lvl="1"/>
            <a:r>
              <a:rPr lang="en-US" dirty="0"/>
              <a:t>Simple.  Easy to understand and interpret</a:t>
            </a:r>
          </a:p>
          <a:p>
            <a:pPr lvl="1"/>
            <a:r>
              <a:rPr lang="en-US" dirty="0"/>
              <a:t>Fast.  Can typically learn from data </a:t>
            </a:r>
            <a:r>
              <a:rPr lang="en-US" i="1" dirty="0"/>
              <a:t>very</a:t>
            </a:r>
            <a:r>
              <a:rPr lang="en-US" dirty="0"/>
              <a:t> quickly</a:t>
            </a:r>
          </a:p>
          <a:p>
            <a:pPr lvl="1"/>
            <a:r>
              <a:rPr lang="en-US" dirty="0"/>
              <a:t>Not data hungry.  Can often learn quickly from little or incomplete data</a:t>
            </a:r>
          </a:p>
        </p:txBody>
      </p:sp>
    </p:spTree>
    <p:extLst>
      <p:ext uri="{BB962C8B-B14F-4D97-AF65-F5344CB8AC3E}">
        <p14:creationId xmlns:p14="http://schemas.microsoft.com/office/powerpoint/2010/main" val="1408435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886C5-1502-4739-AC22-71EF3026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5859-FFA3-41D3-9103-3C7EE4EF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Can be bad or </a:t>
            </a:r>
            <a:r>
              <a:rPr lang="en-US" i="1" dirty="0"/>
              <a:t>really bad</a:t>
            </a:r>
          </a:p>
          <a:p>
            <a:pPr lvl="1"/>
            <a:r>
              <a:rPr lang="en-US" dirty="0"/>
              <a:t>The previous example was modeling data as linear, but it may require a minor transformation to work out correctly</a:t>
            </a:r>
          </a:p>
          <a:p>
            <a:pPr lvl="1"/>
            <a:r>
              <a:rPr lang="en-US" dirty="0"/>
              <a:t>Alternatively, it could be modeling extremely non-linear data, which will likely cause the model to fail spectacularly</a:t>
            </a:r>
          </a:p>
          <a:p>
            <a:endParaRPr lang="en-US" dirty="0"/>
          </a:p>
          <a:p>
            <a:r>
              <a:rPr lang="en-US" dirty="0"/>
              <a:t>Limitations of parametric learning:</a:t>
            </a:r>
          </a:p>
          <a:p>
            <a:pPr lvl="1"/>
            <a:r>
              <a:rPr lang="en-US" dirty="0"/>
              <a:t>Constrained.  By choosing a form, you’re held fast to that form</a:t>
            </a:r>
          </a:p>
          <a:p>
            <a:pPr lvl="1"/>
            <a:r>
              <a:rPr lang="en-US" dirty="0"/>
              <a:t>Complexity.  Only typically useful for low complexity problems</a:t>
            </a:r>
          </a:p>
          <a:p>
            <a:pPr lvl="1"/>
            <a:r>
              <a:rPr lang="en-US" dirty="0"/>
              <a:t>Poor fit.  In practice, data rarely fits very well to underlying model</a:t>
            </a:r>
          </a:p>
        </p:txBody>
      </p:sp>
    </p:spTree>
    <p:extLst>
      <p:ext uri="{BB962C8B-B14F-4D97-AF65-F5344CB8AC3E}">
        <p14:creationId xmlns:p14="http://schemas.microsoft.com/office/powerpoint/2010/main" val="3130455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52A7-2022-412D-8C9F-10E37242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Nonparametric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EBFCE-E2F4-44C0-8D8B-A2DC5920D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Do not</a:t>
            </a:r>
            <a:r>
              <a:rPr lang="en-US" dirty="0"/>
              <a:t> make strong assumptions about the form of the mapping function</a:t>
            </a:r>
          </a:p>
          <a:p>
            <a:endParaRPr lang="en-US" dirty="0"/>
          </a:p>
          <a:p>
            <a:r>
              <a:rPr lang="en-US" dirty="0"/>
              <a:t>Seek the best fit of the training data while maintaining the ability to generalize in case of unseen data</a:t>
            </a:r>
          </a:p>
          <a:p>
            <a:endParaRPr lang="en-US" dirty="0"/>
          </a:p>
          <a:p>
            <a:r>
              <a:rPr lang="en-US" dirty="0"/>
              <a:t>“Nonparametric methods are good when you have a lot of data and no prior knowledge, and when you don’t want to worry too much about choosing just the right features.” (Artificial Intelligence: A Modern Approach, page 757)</a:t>
            </a:r>
          </a:p>
        </p:txBody>
      </p:sp>
    </p:spTree>
    <p:extLst>
      <p:ext uri="{BB962C8B-B14F-4D97-AF65-F5344CB8AC3E}">
        <p14:creationId xmlns:p14="http://schemas.microsoft.com/office/powerpoint/2010/main" val="142720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52A7-2022-412D-8C9F-10E37242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Nonparametric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EBFCE-E2F4-44C0-8D8B-A2DC5920D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Flexible</a:t>
            </a:r>
          </a:p>
          <a:p>
            <a:pPr lvl="1"/>
            <a:r>
              <a:rPr lang="en-US" dirty="0"/>
              <a:t>Power (no assumptions make for powerful methods)</a:t>
            </a:r>
          </a:p>
          <a:p>
            <a:pPr lvl="1"/>
            <a:r>
              <a:rPr lang="en-US" dirty="0"/>
              <a:t>Performance (can “fit” very well)</a:t>
            </a:r>
          </a:p>
          <a:p>
            <a:endParaRPr lang="en-US" dirty="0"/>
          </a:p>
          <a:p>
            <a:r>
              <a:rPr lang="en-US" dirty="0"/>
              <a:t>Drawbacks:</a:t>
            </a:r>
          </a:p>
          <a:p>
            <a:pPr lvl="1"/>
            <a:r>
              <a:rPr lang="en-US" dirty="0"/>
              <a:t>Require a good amount of data</a:t>
            </a:r>
          </a:p>
          <a:p>
            <a:pPr lvl="1"/>
            <a:r>
              <a:rPr lang="en-US" dirty="0"/>
              <a:t>Slow (both per unit data and because they require more data)</a:t>
            </a:r>
          </a:p>
          <a:p>
            <a:pPr lvl="1"/>
            <a:r>
              <a:rPr lang="en-US" dirty="0"/>
              <a:t>Overfitting (we’ll talk about this more later, but nonparametric methods are more susceptible to overfitting, which is bad)</a:t>
            </a:r>
          </a:p>
        </p:txBody>
      </p:sp>
    </p:spTree>
    <p:extLst>
      <p:ext uri="{BB962C8B-B14F-4D97-AF65-F5344CB8AC3E}">
        <p14:creationId xmlns:p14="http://schemas.microsoft.com/office/powerpoint/2010/main" val="3355428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18DA-2723-4A21-89D8-B255C819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 generative learning -- analogies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1E74-249F-4761-AC6D-7030C1F32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037"/>
            <a:ext cx="10515600" cy="4794810"/>
          </a:xfrm>
        </p:spPr>
        <p:txBody>
          <a:bodyPr/>
          <a:lstStyle/>
          <a:p>
            <a:r>
              <a:rPr lang="en-US" dirty="0"/>
              <a:t>You want to figure out what language someone is speaking:</a:t>
            </a:r>
          </a:p>
          <a:p>
            <a:pPr lvl="1"/>
            <a:r>
              <a:rPr lang="en-US" dirty="0"/>
              <a:t>Generative – learn every language, determine which language the person is speaking by figuring out which one it belongs to</a:t>
            </a:r>
          </a:p>
          <a:p>
            <a:pPr lvl="1"/>
            <a:r>
              <a:rPr lang="en-US" dirty="0"/>
              <a:t>Discriminative – determine linguistic differences without learning any languages</a:t>
            </a:r>
          </a:p>
          <a:p>
            <a:pPr lvl="1"/>
            <a:endParaRPr lang="en-US" dirty="0"/>
          </a:p>
          <a:p>
            <a:r>
              <a:rPr lang="en-US" dirty="0"/>
              <a:t>2 kids: 1 (“kid A”) learns by memorizing everything in depth, the other (“kid B”) learns the differences between what is seen.  Both go to the zoo</a:t>
            </a:r>
          </a:p>
          <a:p>
            <a:pPr lvl="1"/>
            <a:r>
              <a:rPr lang="en-US" dirty="0"/>
              <a:t>“A” identifies a photo of a lion based on the </a:t>
            </a:r>
            <a:r>
              <a:rPr lang="en-US" b="1" dirty="0"/>
              <a:t>closest match</a:t>
            </a:r>
            <a:r>
              <a:rPr lang="en-US" dirty="0"/>
              <a:t> to the zoo animals</a:t>
            </a:r>
          </a:p>
          <a:p>
            <a:pPr lvl="1"/>
            <a:r>
              <a:rPr lang="en-US" dirty="0"/>
              <a:t>“B” identifies the same photo as a lion based on observed </a:t>
            </a:r>
            <a:r>
              <a:rPr lang="en-US" b="1" dirty="0"/>
              <a:t>characteristics</a:t>
            </a:r>
            <a:r>
              <a:rPr lang="en-US" dirty="0"/>
              <a:t> of lions</a:t>
            </a:r>
          </a:p>
        </p:txBody>
      </p:sp>
    </p:spTree>
    <p:extLst>
      <p:ext uri="{BB962C8B-B14F-4D97-AF65-F5344CB8AC3E}">
        <p14:creationId xmlns:p14="http://schemas.microsoft.com/office/powerpoint/2010/main" val="645823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D18DA-2723-4A21-89D8-B255C819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Discriminative vs generative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1E74-249F-4761-AC6D-7030C1F32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1143"/>
            <a:ext cx="10515600" cy="4794810"/>
          </a:xfrm>
        </p:spPr>
        <p:txBody>
          <a:bodyPr/>
          <a:lstStyle/>
          <a:p>
            <a:r>
              <a:rPr lang="en-US" dirty="0"/>
              <a:t>To put it another way,</a:t>
            </a:r>
          </a:p>
          <a:p>
            <a:pPr lvl="1"/>
            <a:r>
              <a:rPr lang="en-US" dirty="0"/>
              <a:t>You can put together a model for what, say lions and tigers, look like, then you create a boundary that separates them.  You can decide whether the current example falls in with the lions of the tigers (discriminative)</a:t>
            </a:r>
          </a:p>
          <a:p>
            <a:pPr lvl="1"/>
            <a:r>
              <a:rPr lang="en-US" dirty="0"/>
              <a:t>You could also build a model for tigers, build a model for lions, then compare the current “test data” point against both the tiger model and lion model and find which it behaves more like (generative)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7D48C-D42E-4C98-B65E-8019D6C8D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87" y="4543425"/>
            <a:ext cx="62960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80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D7946-51EE-40D9-BD9A-CFCE19C5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consideration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4F7A0C-651E-4A1B-A036-2D13088026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0541" y="1533437"/>
            <a:ext cx="9310918" cy="532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09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982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Lecture 3: Selecting a Solution</vt:lpstr>
      <vt:lpstr>Remember: last time</vt:lpstr>
      <vt:lpstr>This time</vt:lpstr>
      <vt:lpstr>Lazy learners</vt:lpstr>
      <vt:lpstr>Eager learners</vt:lpstr>
      <vt:lpstr>Eager learners</vt:lpstr>
      <vt:lpstr>Batch (offline) learning</vt:lpstr>
      <vt:lpstr>Online learning</vt:lpstr>
      <vt:lpstr>When to use online learning</vt:lpstr>
      <vt:lpstr>Parametric learning</vt:lpstr>
      <vt:lpstr>Parametric learning</vt:lpstr>
      <vt:lpstr>Parametric learning</vt:lpstr>
      <vt:lpstr>Nonparametric learning</vt:lpstr>
      <vt:lpstr>Nonparametric learning</vt:lpstr>
      <vt:lpstr>Discriminative vs generative learning -- analogies</vt:lpstr>
      <vt:lpstr>Discriminative vs generative learning</vt:lpstr>
      <vt:lpstr>Additional consideration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Selecting a Solution</dc:title>
  <dc:creator>Stephen M Douglass</dc:creator>
  <cp:lastModifiedBy>Stephen M Douglass</cp:lastModifiedBy>
  <cp:revision>26</cp:revision>
  <dcterms:created xsi:type="dcterms:W3CDTF">2020-01-21T17:28:35Z</dcterms:created>
  <dcterms:modified xsi:type="dcterms:W3CDTF">2021-09-07T11:44:41Z</dcterms:modified>
</cp:coreProperties>
</file>