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338" r:id="rId3"/>
    <p:sldId id="337" r:id="rId4"/>
    <p:sldId id="340" r:id="rId5"/>
    <p:sldId id="342" r:id="rId6"/>
    <p:sldId id="343" r:id="rId7"/>
    <p:sldId id="344" r:id="rId8"/>
    <p:sldId id="256" r:id="rId9"/>
    <p:sldId id="345" r:id="rId10"/>
    <p:sldId id="346" r:id="rId11"/>
    <p:sldId id="347" r:id="rId12"/>
    <p:sldId id="348" r:id="rId13"/>
    <p:sldId id="349" r:id="rId14"/>
    <p:sldId id="350" r:id="rId15"/>
    <p:sldId id="352" r:id="rId16"/>
    <p:sldId id="351" r:id="rId17"/>
    <p:sldId id="35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8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F182-4768-40E3-8703-D554DC6D2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28A10-4B8C-4A64-81C6-98B7C393B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897AF-D699-413E-B128-428E2DE6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4FA38-CA42-47CA-8AC9-47DB0631B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DBABC-1EB7-4056-9BBC-3B9BD4ED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2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7BDA-D4E4-4787-8ECF-5137D5412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CC62A-C45B-4EC7-841F-6B81BD621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EAFE-D746-440D-84B4-700E68040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616A9-F28F-492C-8E8F-4A531F3A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82AB3-9E32-458C-9635-BC61C06A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00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EBEF-EABA-4DC2-866A-B4601FAB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DA795-B338-4D44-ADB7-9E08F2F81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859B5-2B6A-4096-8073-B79B0ECF2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FCED8-47A8-4834-A4E2-EF1530E0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78B6F-40D9-4F29-A46F-8D60C6E0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79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9CDB-A93F-4A3C-A6A8-7F938628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23CE4-6007-40DA-829C-4CBEDAC32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0B3E-5ADA-47B7-8DEB-4BCB5881C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29DCD-9667-4141-8DB9-1ED92896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CBA21-193C-4C9A-B3D6-B150C510D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AA85F-2343-47B9-A25E-AB3786ED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50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15539-2668-4CDA-B93A-49615CBB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B8453-5E55-4C57-92A1-0D192A5F4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DE3F8-7B25-4C73-A1F9-01FAC8D0F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F1A492-036E-4945-ADD7-DD54C1505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6C1EA-9282-4816-A332-1B87B509C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1C392F-3709-45B8-B054-1FC13B0B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D724BE-1DDE-47EA-8BE9-557C4468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D278BB-F5E2-4845-9841-8CF42EEB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83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B7D0A-83C0-44BF-A444-9DE16060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DCDCAB-EBC2-43D1-97FB-082E11C10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AD152-3B78-44B8-B93D-1208D05ED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914B2-13C6-4053-85EC-8754992DE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9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0563F-21DC-44BA-B202-BDC733B9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5C966-877F-4F54-93A2-24B20228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4F137-926E-456F-88C0-57A8E7C9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3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946E-81F7-4314-A447-6AF66FBA7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4C9F8-5F4B-43E7-A30A-C4248DFCA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0767E-2B90-4DB7-8E04-D51013BEB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F8EAA-6606-4388-8B5B-F68B5BBE1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BEA83-DEBD-43DB-94EA-5E8461BA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7E386-42F8-4550-B158-AFFE61A5E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0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98D6-7E54-4A68-B705-B951FD8E4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96907A-777E-4281-8B17-C74491EDF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C2E2E-604D-4152-9F96-758B59826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B28BF-C6E7-449B-A4DC-1E76B8FC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49C0B-7296-4490-AA8C-B98E5171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040E8-4C34-4C33-A40C-1F6195C2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4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F416E-C9B3-4122-9AE2-1338FF888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BD40C-7011-43D5-B994-DED832821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A5DE6-23DF-43AD-A0D6-0D65B250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037C6-7FBE-4264-AAE4-BEC2F79E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AB2A-033A-4B05-B176-432212359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8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17FBA-CAF5-4F42-A611-FAD92E71B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C94A0-8D2A-4B89-810A-B20C82D77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D5C6B-7D30-4268-9214-7FFF8C8C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E14A8-45B0-4176-8637-283D88E8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080DD-9BB3-4C79-80CD-96B2F0BC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6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D42062-4760-4BB8-8E10-61F30078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2B440-A249-4C6E-8E98-F76AB11B0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9277E-47EE-42AA-9C30-D17B4C128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9126C-0E35-4957-AEC5-B4328AA0D139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ADD55-6016-4A02-AC08-F1D530843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8D0A9-6615-4A62-AF38-443506263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FC8AC-9CA7-4DD5-83B2-B8DCE0A1B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4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5AFFF8BB-DECD-47D6-B2DA-F5FF21331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Introductions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5AFFF8BB-DECD-47D6-B2DA-F5FF21331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What is the point of this class?</a:t>
            </a:r>
          </a:p>
        </p:txBody>
      </p:sp>
    </p:spTree>
    <p:extLst>
      <p:ext uri="{BB962C8B-B14F-4D97-AF65-F5344CB8AC3E}">
        <p14:creationId xmlns:p14="http://schemas.microsoft.com/office/powerpoint/2010/main" val="219360987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475BF7A-7F33-4A01-988D-597A33A7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Course Administration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B5E946-1EF9-408A-B55D-3A3DB40A6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474541"/>
              </p:ext>
            </p:extLst>
          </p:nvPr>
        </p:nvGraphicFramePr>
        <p:xfrm>
          <a:off x="658906" y="2128169"/>
          <a:ext cx="10874188" cy="26016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29764">
                  <a:extLst>
                    <a:ext uri="{9D8B030D-6E8A-4147-A177-3AD203B41FA5}">
                      <a16:colId xmlns:a16="http://schemas.microsoft.com/office/drawing/2014/main" val="2416057658"/>
                    </a:ext>
                  </a:extLst>
                </a:gridCol>
                <a:gridCol w="4944424">
                  <a:extLst>
                    <a:ext uri="{9D8B030D-6E8A-4147-A177-3AD203B41FA5}">
                      <a16:colId xmlns:a16="http://schemas.microsoft.com/office/drawing/2014/main" val="4045928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Criteria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Percentage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12409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Attendance during final project presentations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5%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6312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Projects (10% x 3)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30%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60413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Final project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25%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87359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Midterm exam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15%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59579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Final exam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25%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92826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100%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55633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9473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08A8-E897-4F40-894B-011A2B30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F322B-4927-4666-81D3-FE10D5276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projects, all individual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Will lose 10%/day (or fraction thereof) of maximum grade (</a:t>
            </a:r>
            <a:r>
              <a:rPr lang="en-US" b="1" i="1" dirty="0"/>
              <a:t>I’ll be a stickler for this too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That is 1% of your overall final grade in the course!</a:t>
            </a:r>
          </a:p>
          <a:p>
            <a:endParaRPr lang="en-US" dirty="0"/>
          </a:p>
          <a:p>
            <a:r>
              <a:rPr lang="en-US" dirty="0"/>
              <a:t>Additional details will be given when projects are assigned</a:t>
            </a:r>
          </a:p>
        </p:txBody>
      </p:sp>
    </p:spTree>
    <p:extLst>
      <p:ext uri="{BB962C8B-B14F-4D97-AF65-F5344CB8AC3E}">
        <p14:creationId xmlns:p14="http://schemas.microsoft.com/office/powerpoint/2010/main" val="12540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18EFD-18A5-4E1F-AD65-70854FB7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AC15D-DE47-4BC2-B262-D073C6221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5% of your grade will be for showing up </a:t>
            </a:r>
            <a:r>
              <a:rPr lang="en-US" b="1" i="1" dirty="0"/>
              <a:t>on time</a:t>
            </a:r>
            <a:r>
              <a:rPr lang="en-US" dirty="0"/>
              <a:t> to the final project presentations</a:t>
            </a:r>
          </a:p>
          <a:p>
            <a:pPr lvl="1"/>
            <a:r>
              <a:rPr lang="en-US" dirty="0"/>
              <a:t>1% for showing up each day, 0.5% for being on time that day</a:t>
            </a:r>
          </a:p>
          <a:p>
            <a:pPr lvl="1"/>
            <a:r>
              <a:rPr lang="en-US" dirty="0"/>
              <a:t>Only 0.5% for being on time the day you’re set to present</a:t>
            </a:r>
          </a:p>
          <a:p>
            <a:endParaRPr lang="en-US" dirty="0"/>
          </a:p>
          <a:p>
            <a:r>
              <a:rPr lang="en-US" dirty="0"/>
              <a:t>Final project content will be based on selecting a dataset that is of interest to you, parsing the dataset, selecting the appropriate machine learning protocol to analyze the data, then presenting to the rest of the class</a:t>
            </a:r>
          </a:p>
        </p:txBody>
      </p:sp>
    </p:spTree>
    <p:extLst>
      <p:ext uri="{BB962C8B-B14F-4D97-AF65-F5344CB8AC3E}">
        <p14:creationId xmlns:p14="http://schemas.microsoft.com/office/powerpoint/2010/main" val="1693671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24CD-9B15-4A60-A433-7E6874B9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DD7C9-DCA9-4046-A526-2BD3EC2A6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Exams will generally focus more on concepts and methods rather than details (note: “focus more” does not mean “exclusively cover”)</a:t>
            </a:r>
          </a:p>
          <a:p>
            <a:endParaRPr lang="en-US" dirty="0"/>
          </a:p>
          <a:p>
            <a:r>
              <a:rPr lang="en-US" dirty="0"/>
              <a:t>Examples of the types of questions that you’re likely to encounter:</a:t>
            </a:r>
          </a:p>
          <a:p>
            <a:pPr lvl="1"/>
            <a:r>
              <a:rPr lang="en-US" dirty="0"/>
              <a:t>Which machine learning method would be most appropriate for the following data</a:t>
            </a:r>
          </a:p>
          <a:p>
            <a:pPr lvl="1"/>
            <a:r>
              <a:rPr lang="en-US" dirty="0"/>
              <a:t>Computing/problem solving either with math or with pseudocode</a:t>
            </a:r>
          </a:p>
          <a:p>
            <a:pPr lvl="1"/>
            <a:r>
              <a:rPr lang="en-US" dirty="0"/>
              <a:t>Data analysis plan, what’s wrong with it?</a:t>
            </a:r>
          </a:p>
          <a:p>
            <a:pPr lvl="1"/>
            <a:r>
              <a:rPr lang="en-US" dirty="0"/>
              <a:t>Potentially fact-based questions about major topics</a:t>
            </a:r>
          </a:p>
        </p:txBody>
      </p:sp>
    </p:spTree>
    <p:extLst>
      <p:ext uri="{BB962C8B-B14F-4D97-AF65-F5344CB8AC3E}">
        <p14:creationId xmlns:p14="http://schemas.microsoft.com/office/powerpoint/2010/main" val="51912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00200"/>
          </a:xfrm>
        </p:spPr>
        <p:txBody>
          <a:bodyPr anchor="ctr"/>
          <a:lstStyle/>
          <a:p>
            <a:r>
              <a:rPr lang="en-US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5478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D3E7BA-47AF-425A-834B-7BF9C3969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en-US" dirty="0"/>
              <a:t>COM 307: Machine Learning &amp; Data Mining</a:t>
            </a:r>
          </a:p>
        </p:txBody>
      </p:sp>
    </p:spTree>
    <p:extLst>
      <p:ext uri="{BB962C8B-B14F-4D97-AF65-F5344CB8AC3E}">
        <p14:creationId xmlns:p14="http://schemas.microsoft.com/office/powerpoint/2010/main" val="661586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4A6B1-CE0A-4203-B76D-7F2E2C2B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7B245-D40B-4912-BA84-1704D2AF3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Scientific study of algorithms and statistical models that computer systems use to perform a specific task </a:t>
            </a:r>
            <a:r>
              <a:rPr lang="en-US" i="1" dirty="0"/>
              <a:t>without using explicit instructions</a:t>
            </a:r>
          </a:p>
          <a:p>
            <a:endParaRPr lang="en-US" i="1" dirty="0"/>
          </a:p>
          <a:p>
            <a:r>
              <a:rPr lang="en-US" dirty="0"/>
              <a:t>Generally agreed to be a subfield of artificial intelligence</a:t>
            </a:r>
          </a:p>
          <a:p>
            <a:endParaRPr lang="en-US" dirty="0"/>
          </a:p>
          <a:p>
            <a:r>
              <a:rPr lang="en-US" dirty="0"/>
              <a:t>Generally use “training data” to make predictions on what a certain kind of data generally “looks like” to solve problems never encountered before</a:t>
            </a:r>
          </a:p>
        </p:txBody>
      </p:sp>
    </p:spTree>
    <p:extLst>
      <p:ext uri="{BB962C8B-B14F-4D97-AF65-F5344CB8AC3E}">
        <p14:creationId xmlns:p14="http://schemas.microsoft.com/office/powerpoint/2010/main" val="3045503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7EDD-50D7-44D9-834B-BCB8710F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76BBE-6F44-4899-80BD-9053F0A28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is generally a process of </a:t>
            </a:r>
            <a:r>
              <a:rPr lang="en-US" i="1" dirty="0"/>
              <a:t>generalization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is 1598274+4987?</a:t>
            </a:r>
          </a:p>
          <a:p>
            <a:pPr marL="0" indent="0">
              <a:buNone/>
            </a:pPr>
            <a:r>
              <a:rPr lang="en-US" dirty="0"/>
              <a:t>How do you know?  Have you added these two numbers before?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know how to do this because you </a:t>
            </a:r>
            <a:r>
              <a:rPr lang="en-US" i="1" dirty="0"/>
              <a:t>learned</a:t>
            </a:r>
            <a:r>
              <a:rPr lang="en-US" dirty="0"/>
              <a:t> addition, so you can solve addition problems, even those that you’ve never encountered before!</a:t>
            </a:r>
          </a:p>
        </p:txBody>
      </p:sp>
    </p:spTree>
    <p:extLst>
      <p:ext uri="{BB962C8B-B14F-4D97-AF65-F5344CB8AC3E}">
        <p14:creationId xmlns:p14="http://schemas.microsoft.com/office/powerpoint/2010/main" val="3095774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24709-9AFC-4575-AB73-727919AB0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45E0E-71EC-4AEA-99FB-CF45D8192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of discovering patterns in large data sets, particularly at the intersections of machine learning, statistics, and database systems</a:t>
            </a:r>
          </a:p>
          <a:p>
            <a:endParaRPr lang="en-US" dirty="0"/>
          </a:p>
          <a:p>
            <a:r>
              <a:rPr lang="en-US" dirty="0"/>
              <a:t>Interdisciplinary field of computer science and statistics with the goal of extracting information and determining structure of the data</a:t>
            </a:r>
          </a:p>
        </p:txBody>
      </p:sp>
    </p:spTree>
    <p:extLst>
      <p:ext uri="{BB962C8B-B14F-4D97-AF65-F5344CB8AC3E}">
        <p14:creationId xmlns:p14="http://schemas.microsoft.com/office/powerpoint/2010/main" val="3022172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59C6-066A-4875-8A2B-45F3F562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vs data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937D7-040A-4D7E-B918-185FB5355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are very closely related, which is why they’re being covered together in this course</a:t>
            </a:r>
          </a:p>
          <a:p>
            <a:endParaRPr lang="en-US" dirty="0"/>
          </a:p>
          <a:p>
            <a:r>
              <a:rPr lang="en-US" dirty="0"/>
              <a:t>Machine learning approaches work on 2 sets of data:</a:t>
            </a:r>
          </a:p>
          <a:p>
            <a:pPr lvl="1"/>
            <a:r>
              <a:rPr lang="en-US" dirty="0"/>
              <a:t>Training data used to determine variables in a data set</a:t>
            </a:r>
          </a:p>
          <a:p>
            <a:pPr lvl="1"/>
            <a:r>
              <a:rPr lang="en-US" dirty="0"/>
              <a:t>Test data, the stuff you actually care about</a:t>
            </a:r>
          </a:p>
          <a:p>
            <a:r>
              <a:rPr lang="en-US" dirty="0"/>
              <a:t>Data mining focuses on the discovery of unknown properties of data</a:t>
            </a:r>
          </a:p>
        </p:txBody>
      </p:sp>
    </p:spTree>
    <p:extLst>
      <p:ext uri="{BB962C8B-B14F-4D97-AF65-F5344CB8AC3E}">
        <p14:creationId xmlns:p14="http://schemas.microsoft.com/office/powerpoint/2010/main" val="3820911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59C6-066A-4875-8A2B-45F3F562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vs data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937D7-040A-4D7E-B918-185FB5355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are very closely related, which is why they’re being covered together in this course</a:t>
            </a:r>
          </a:p>
          <a:p>
            <a:endParaRPr lang="en-US" dirty="0"/>
          </a:p>
          <a:p>
            <a:r>
              <a:rPr lang="en-US" dirty="0"/>
              <a:t>Machine learning tools are evaluated based on their ability to reproduce known knowledge effectively</a:t>
            </a:r>
          </a:p>
          <a:p>
            <a:r>
              <a:rPr lang="en-US" dirty="0"/>
              <a:t>Data mining is focused on discovery of previously unknown knowledge</a:t>
            </a:r>
          </a:p>
        </p:txBody>
      </p:sp>
    </p:spTree>
    <p:extLst>
      <p:ext uri="{BB962C8B-B14F-4D97-AF65-F5344CB8AC3E}">
        <p14:creationId xmlns:p14="http://schemas.microsoft.com/office/powerpoint/2010/main" val="2939386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FFB1-AEFB-4860-BC9B-32845ECE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mining vs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F167E-BBB6-4E86-B1BF-06F635DE9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analysis is used to test models on a data set</a:t>
            </a:r>
          </a:p>
          <a:p>
            <a:pPr lvl="1"/>
            <a:r>
              <a:rPr lang="en-US" dirty="0"/>
              <a:t>Example: Analyze the effectiveness of a marketing campaign, regardless-</a:t>
            </a:r>
            <a:r>
              <a:rPr lang="en-US" dirty="0" err="1"/>
              <a:t>ish</a:t>
            </a:r>
            <a:r>
              <a:rPr lang="en-US" dirty="0"/>
              <a:t> of how much data you have</a:t>
            </a:r>
          </a:p>
          <a:p>
            <a:endParaRPr lang="en-US" dirty="0"/>
          </a:p>
          <a:p>
            <a:r>
              <a:rPr lang="en-US" dirty="0"/>
              <a:t>Data mining finds hidden patterns in large volumes of data – don’t necessarily need to know what you’re looking for</a:t>
            </a:r>
          </a:p>
        </p:txBody>
      </p:sp>
    </p:spTree>
    <p:extLst>
      <p:ext uri="{BB962C8B-B14F-4D97-AF65-F5344CB8AC3E}">
        <p14:creationId xmlns:p14="http://schemas.microsoft.com/office/powerpoint/2010/main" val="1972802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BF72-F5D5-4A72-869B-B5576DA3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examples—machine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92260-BC17-4825-AD3C-FD2481686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 filtering (spam or not spam)</a:t>
            </a:r>
          </a:p>
          <a:p>
            <a:r>
              <a:rPr lang="en-US" dirty="0"/>
              <a:t>Computer vision</a:t>
            </a:r>
          </a:p>
          <a:p>
            <a:pPr lvl="1"/>
            <a:r>
              <a:rPr lang="en-US" dirty="0"/>
              <a:t>Self-driving cars</a:t>
            </a:r>
          </a:p>
          <a:p>
            <a:pPr lvl="1"/>
            <a:r>
              <a:rPr lang="en-US" dirty="0"/>
              <a:t>Surveillance</a:t>
            </a:r>
          </a:p>
          <a:p>
            <a:pPr lvl="1"/>
            <a:r>
              <a:rPr lang="en-US" dirty="0"/>
              <a:t>Manufacturing/QC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Agriculture</a:t>
            </a:r>
          </a:p>
          <a:p>
            <a:r>
              <a:rPr lang="en-US" dirty="0"/>
              <a:t>Handwriting recognition</a:t>
            </a:r>
          </a:p>
          <a:p>
            <a:r>
              <a:rPr lang="en-US" dirty="0"/>
              <a:t>Bioinformatics</a:t>
            </a:r>
          </a:p>
        </p:txBody>
      </p:sp>
    </p:spTree>
    <p:extLst>
      <p:ext uri="{BB962C8B-B14F-4D97-AF65-F5344CB8AC3E}">
        <p14:creationId xmlns:p14="http://schemas.microsoft.com/office/powerpoint/2010/main" val="1373662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BF72-F5D5-4A72-869B-B5576DA3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examples—data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92260-BC17-4825-AD3C-FD2481686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</a:t>
            </a:r>
          </a:p>
          <a:p>
            <a:pPr lvl="1"/>
            <a:r>
              <a:rPr lang="en-US" dirty="0"/>
              <a:t>Walmart processes 20 million sales/day, who, what, and where?</a:t>
            </a:r>
          </a:p>
          <a:p>
            <a:pPr lvl="1"/>
            <a:r>
              <a:rPr lang="en-US" dirty="0"/>
              <a:t>Credit cards &amp; store loyalty cards</a:t>
            </a:r>
          </a:p>
          <a:p>
            <a:pPr lvl="1"/>
            <a:r>
              <a:rPr lang="en-US" dirty="0"/>
              <a:t>Determining employee success</a:t>
            </a:r>
          </a:p>
          <a:p>
            <a:r>
              <a:rPr lang="en-US" dirty="0"/>
              <a:t>Human rights, particularly related to the justice system</a:t>
            </a:r>
          </a:p>
          <a:p>
            <a:r>
              <a:rPr lang="en-US" dirty="0"/>
              <a:t>Medical data mining (“genes” &amp; diseases)</a:t>
            </a:r>
          </a:p>
          <a:p>
            <a:r>
              <a:rPr lang="en-US" dirty="0"/>
              <a:t>Educational research</a:t>
            </a:r>
          </a:p>
          <a:p>
            <a:pPr lvl="1"/>
            <a:r>
              <a:rPr lang="en-US" dirty="0"/>
              <a:t>Student success</a:t>
            </a:r>
          </a:p>
          <a:p>
            <a:pPr lvl="1"/>
            <a:r>
              <a:rPr lang="en-US" dirty="0"/>
              <a:t>Student retention</a:t>
            </a:r>
          </a:p>
        </p:txBody>
      </p:sp>
    </p:spTree>
    <p:extLst>
      <p:ext uri="{BB962C8B-B14F-4D97-AF65-F5344CB8AC3E}">
        <p14:creationId xmlns:p14="http://schemas.microsoft.com/office/powerpoint/2010/main" val="1931090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668</Words>
  <Application>Microsoft Office PowerPoint</Application>
  <PresentationFormat>Widescreen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Introductions</vt:lpstr>
      <vt:lpstr>What is the point of this class?</vt:lpstr>
      <vt:lpstr>Course Administration</vt:lpstr>
      <vt:lpstr>PowerPoint Presentation</vt:lpstr>
      <vt:lpstr>Projects</vt:lpstr>
      <vt:lpstr>Final Project</vt:lpstr>
      <vt:lpstr>Exams</vt:lpstr>
      <vt:lpstr>Lecture 1</vt:lpstr>
      <vt:lpstr>COM 307: Machine Learning &amp; Data Mining</vt:lpstr>
      <vt:lpstr>What is machine learning?</vt:lpstr>
      <vt:lpstr>What is learning?</vt:lpstr>
      <vt:lpstr>What is data mining?</vt:lpstr>
      <vt:lpstr>Machine learning vs data mining</vt:lpstr>
      <vt:lpstr>Machine learning vs data mining</vt:lpstr>
      <vt:lpstr>Data mining vs data analysis</vt:lpstr>
      <vt:lpstr>Some examples—machine learning</vt:lpstr>
      <vt:lpstr>Some examples—data mining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M Douglass</dc:creator>
  <cp:lastModifiedBy>Stephen M Douglass</cp:lastModifiedBy>
  <cp:revision>14</cp:revision>
  <dcterms:created xsi:type="dcterms:W3CDTF">2020-01-21T15:43:50Z</dcterms:created>
  <dcterms:modified xsi:type="dcterms:W3CDTF">2022-07-26T12:56:42Z</dcterms:modified>
</cp:coreProperties>
</file>