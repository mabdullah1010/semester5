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44" r:id="rId3"/>
    <p:sldId id="345" r:id="rId4"/>
    <p:sldId id="347" r:id="rId5"/>
    <p:sldId id="350" r:id="rId6"/>
    <p:sldId id="351" r:id="rId7"/>
    <p:sldId id="352" r:id="rId8"/>
    <p:sldId id="346" r:id="rId9"/>
    <p:sldId id="353" r:id="rId10"/>
    <p:sldId id="354" r:id="rId11"/>
    <p:sldId id="355" r:id="rId12"/>
    <p:sldId id="356" r:id="rId13"/>
    <p:sldId id="357" r:id="rId14"/>
    <p:sldId id="360" r:id="rId15"/>
    <p:sldId id="361" r:id="rId16"/>
    <p:sldId id="363" r:id="rId17"/>
    <p:sldId id="364" r:id="rId18"/>
    <p:sldId id="365" r:id="rId19"/>
    <p:sldId id="366" r:id="rId20"/>
    <p:sldId id="367" r:id="rId21"/>
    <p:sldId id="368" r:id="rId22"/>
    <p:sldId id="369" r:id="rId23"/>
    <p:sldId id="372" r:id="rId24"/>
    <p:sldId id="370" r:id="rId25"/>
    <p:sldId id="371" r:id="rId26"/>
    <p:sldId id="373" r:id="rId27"/>
    <p:sldId id="375" r:id="rId28"/>
    <p:sldId id="37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8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90A0-47D9-488A-B7C0-84A4B294F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E68378-DE88-4F1D-A263-4887D0BE0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7B21C-280F-44F9-BD68-9D4D60E96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A9726-7285-40F3-992F-BF1E089D6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05296-AD74-4C06-8FF0-3B1CF5EE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93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E1A2-80B2-4149-A1D1-C2350ECB4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71667-BA48-4E4B-9809-3E1596BC2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113FD-CAA1-4BF3-8E8B-9D0921006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A58E9-B825-48A3-9937-3FC9A422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A815B-BED9-48FB-ADAF-B5F9631F3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6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2B8F-A4BD-4C56-980D-491652B39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D704D-AC8A-456A-B650-D6C31846F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F9C1E-3A96-461E-A125-23C069446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0D42E-05D7-4C31-98E2-69A8148AA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AED35-ECBD-47FC-B081-2D7BB1E4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9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C499E-34A8-41E3-A8C1-81E0F77B2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ECEE1-8595-4DA9-8E6A-3F4A3E009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2E50BB-CDFD-4F39-999E-064F09699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4CF38-27D0-48DA-A73D-5CD0C6D6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81397-1D98-4FFA-A413-CBF24AA0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FB176-B301-43FA-949B-DC50252F4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80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03855-C512-44C6-9ADB-31A3511C2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F69EF-83DF-498F-8D72-DE77C885D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04A4E0-86ED-444E-B9D6-1BD914200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533568-FD44-43F0-BC6B-B979192B4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B11EE8-A3AE-4A28-A154-717CB4819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6BA01A-4FA4-411C-93EC-7DA369E4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0AAB41-D44B-41D7-85F3-1A53826C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E9B19B-EB7E-46B6-AB47-40F17082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83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C04F-E9F2-4E5D-9DF1-5413A2687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2670C-1157-41ED-88ED-E063BC72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A4BD8E-BB65-40BB-B95A-D561AE23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A25F4-5701-405D-A5AB-1A0618D5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29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15283D-E3F9-454A-877E-058F647F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CDC98-9E2C-4A5F-9297-DA6F90A9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26F8E-9E00-4986-B26E-81E5ED6A9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899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4CB3-7BF6-4034-912B-A9FF535F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596AA-EB97-4BD7-B8EF-3D18E910B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C0DDC-4F46-4523-A6FA-57243BD6B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04C48-2319-4F09-8B9F-25E06BAB8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41790-97F9-42FF-8530-5627B0B6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7AE24-1984-44DB-8572-C08B1465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30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43D84-FF68-4A99-8E3B-1DE0CAB9E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A7F02F-2D78-4CAC-AFE8-347DF722F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975BC-CAAA-4595-B505-3FEDD9EF2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E189-B658-444E-9F46-541CA3758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1A550-6DA5-49C2-B180-C34E12835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6C85B-E5DA-45C9-BB3C-34B7C1AC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778E3-184C-4100-B7DD-7ABDF1C4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E72718-44F8-4F3E-84E0-FD3797D4B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E904-1935-486E-ABD0-98BADD2A4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41CD3-3293-4A95-9A6D-0D51FC21F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55426-3D2B-4A29-B1DB-7D994E10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0D6F80-B19D-4B8D-BF5D-854C03CE71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94717D-E1D3-4CA4-A141-DA624E44D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EA2CE-0D0B-489A-BFD7-E79C6CEE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F0AE6-AB37-455E-ABC2-59E75B6C9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FF270-056E-47F7-B860-B8DB82DE7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293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37CC9F-48A5-40FD-A22B-F4EFF4535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B3B2-BF5D-43B2-A63B-269441600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64F6-57BA-4CC8-B9EB-1F2CB32391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12A8F-9054-46EE-B8D2-302EB8D4914D}" type="datetimeFigureOut">
              <a:rPr lang="en-US" smtClean="0"/>
              <a:t>9/13/2022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BE425-AFDB-4F9F-92CC-737918931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16A3F-9610-435C-B7FB-5F350A06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AC639-9B49-44A9-931A-EFD1379B6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51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Lecture 5: Bayesian Inference &amp; Regression</a:t>
            </a:r>
          </a:p>
        </p:txBody>
      </p:sp>
    </p:spTree>
    <p:extLst>
      <p:ext uri="{BB962C8B-B14F-4D97-AF65-F5344CB8AC3E}">
        <p14:creationId xmlns:p14="http://schemas.microsoft.com/office/powerpoint/2010/main" val="25478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EED8D-ED2B-4650-AC5D-D4964D0A5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our coin 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187B6-F698-4E49-8B0B-28D1E5159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was allegedly magic, and we didn’t know if it would produce heads at a frequency different from a standard, fair coin</a:t>
            </a:r>
          </a:p>
          <a:p>
            <a:endParaRPr lang="en-US" dirty="0"/>
          </a:p>
          <a:p>
            <a:r>
              <a:rPr lang="en-US" dirty="0"/>
              <a:t>We used MLE to estimate the true probability, </a:t>
            </a:r>
            <a:r>
              <a:rPr lang="el-GR" dirty="0"/>
              <a:t>θ</a:t>
            </a:r>
            <a:r>
              <a:rPr lang="en-US" baseline="30000" dirty="0"/>
              <a:t>*</a:t>
            </a:r>
            <a:r>
              <a:rPr lang="en-US" dirty="0"/>
              <a:t>, of it producing heads on any given flip</a:t>
            </a:r>
          </a:p>
          <a:p>
            <a:pPr lvl="1"/>
            <a:r>
              <a:rPr lang="en-US" dirty="0"/>
              <a:t>The chances of it producing tails is 1-</a:t>
            </a:r>
            <a:r>
              <a:rPr lang="el-GR" dirty="0"/>
              <a:t>θ</a:t>
            </a:r>
            <a:r>
              <a:rPr lang="en-US" baseline="30000" dirty="0"/>
              <a:t>*</a:t>
            </a:r>
          </a:p>
          <a:p>
            <a:pPr lvl="1"/>
            <a:r>
              <a:rPr lang="en-US" dirty="0"/>
              <a:t>The observed frequency/estimated probability of heads is </a:t>
            </a:r>
            <a:r>
              <a:rPr lang="el-GR" dirty="0"/>
              <a:t>θ</a:t>
            </a:r>
            <a:endParaRPr lang="en-US" dirty="0"/>
          </a:p>
          <a:p>
            <a:pPr lvl="1"/>
            <a:r>
              <a:rPr lang="en-US" dirty="0"/>
              <a:t>The number of heads was represented as k, the number of flips, n</a:t>
            </a:r>
          </a:p>
          <a:p>
            <a:pPr lvl="1"/>
            <a:r>
              <a:rPr lang="en-US" dirty="0"/>
              <a:t>Therefore, there are n-k tails</a:t>
            </a:r>
          </a:p>
        </p:txBody>
      </p:sp>
    </p:spTree>
    <p:extLst>
      <p:ext uri="{BB962C8B-B14F-4D97-AF65-F5344CB8AC3E}">
        <p14:creationId xmlns:p14="http://schemas.microsoft.com/office/powerpoint/2010/main" val="2224380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06A5-AD48-436D-BE4E-33716A56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“magic” coin – prior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FBC33-54E1-4136-A317-78923FC51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00B0F0"/>
                </a:solidFill>
              </a:rPr>
              <a:t>prior probability</a:t>
            </a:r>
            <a:r>
              <a:rPr lang="en-US" dirty="0"/>
              <a:t> is a probability assessed </a:t>
            </a:r>
            <a:r>
              <a:rPr lang="en-US" i="1" dirty="0"/>
              <a:t>before</a:t>
            </a:r>
            <a:r>
              <a:rPr lang="en-US" dirty="0"/>
              <a:t> you make any relevant observations</a:t>
            </a:r>
          </a:p>
          <a:p>
            <a:endParaRPr lang="en-US" dirty="0"/>
          </a:p>
          <a:p>
            <a:r>
              <a:rPr lang="en-US" dirty="0"/>
              <a:t>Sounds useless from the definition, but is </a:t>
            </a:r>
            <a:r>
              <a:rPr lang="en-US" i="1" dirty="0"/>
              <a:t>fundamentally important</a:t>
            </a:r>
            <a:r>
              <a:rPr lang="en-US" dirty="0"/>
              <a:t> for many, </a:t>
            </a:r>
            <a:r>
              <a:rPr lang="en-US" i="1" dirty="0"/>
              <a:t>many</a:t>
            </a:r>
            <a:r>
              <a:rPr lang="en-US" dirty="0"/>
              <a:t> applications</a:t>
            </a:r>
          </a:p>
          <a:p>
            <a:pPr lvl="1"/>
            <a:r>
              <a:rPr lang="en-US" dirty="0"/>
              <a:t>Probability of a person at Connecticut College being female?</a:t>
            </a:r>
          </a:p>
          <a:p>
            <a:pPr lvl="1"/>
            <a:r>
              <a:rPr lang="en-US" dirty="0"/>
              <a:t>Probability that a coin from my pocket lands on heads when I flip it?</a:t>
            </a:r>
          </a:p>
          <a:p>
            <a:pPr lvl="1"/>
            <a:r>
              <a:rPr lang="en-US" dirty="0"/>
              <a:t>Probability that a piece of DNA codes for a gene?</a:t>
            </a:r>
          </a:p>
          <a:p>
            <a:pPr lvl="1"/>
            <a:r>
              <a:rPr lang="en-US" dirty="0"/>
              <a:t>Note that you can make observations that may make you change your mind about each of these</a:t>
            </a:r>
          </a:p>
        </p:txBody>
      </p:sp>
    </p:spTree>
    <p:extLst>
      <p:ext uri="{BB962C8B-B14F-4D97-AF65-F5344CB8AC3E}">
        <p14:creationId xmlns:p14="http://schemas.microsoft.com/office/powerpoint/2010/main" val="2549798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bayes rule">
            <a:extLst>
              <a:ext uri="{FF2B5EF4-FFF2-40B4-BE49-F238E27FC236}">
                <a16:creationId xmlns:a16="http://schemas.microsoft.com/office/drawing/2014/main" id="{220399C3-961E-4632-BA7A-C6B59A19B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3523" y="1760990"/>
            <a:ext cx="10044953" cy="405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C811A5-9A87-4758-9521-3DCADB6B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(important) aside: Bayes rule</a:t>
            </a:r>
          </a:p>
        </p:txBody>
      </p:sp>
    </p:spTree>
    <p:extLst>
      <p:ext uri="{BB962C8B-B14F-4D97-AF65-F5344CB8AC3E}">
        <p14:creationId xmlns:p14="http://schemas.microsoft.com/office/powerpoint/2010/main" val="182421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11A5-9A87-4758-9521-3DCADB6B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(important) aside: Bayes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6F95-1C00-49FB-BAF8-4611C8273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What is the probability that someone develops lung cancer if they’re a smoker?</a:t>
            </a:r>
          </a:p>
          <a:p>
            <a:pPr lvl="1"/>
            <a:r>
              <a:rPr lang="en-US" dirty="0"/>
              <a:t>Re-written more statistically: what is the probability that someone develops lung cancer </a:t>
            </a:r>
            <a:r>
              <a:rPr lang="en-US" i="1" dirty="0"/>
              <a:t>given</a:t>
            </a:r>
            <a:r>
              <a:rPr lang="en-US" dirty="0"/>
              <a:t> they’re a smoker</a:t>
            </a:r>
          </a:p>
          <a:p>
            <a:pPr lvl="1"/>
            <a:r>
              <a:rPr lang="en-US" dirty="0"/>
              <a:t>p(lung </a:t>
            </a:r>
            <a:r>
              <a:rPr lang="en-US" dirty="0" err="1"/>
              <a:t>cancer|smoker</a:t>
            </a:r>
            <a:r>
              <a:rPr lang="en-US" dirty="0"/>
              <a:t>) = ?</a:t>
            </a:r>
          </a:p>
          <a:p>
            <a:pPr lvl="1"/>
            <a:r>
              <a:rPr lang="en-US" dirty="0"/>
              <a:t>According to Bayes:</a:t>
            </a:r>
            <a:br>
              <a:rPr lang="en-US" dirty="0"/>
            </a:br>
            <a:r>
              <a:rPr lang="en-US" dirty="0"/>
              <a:t>p(lung </a:t>
            </a:r>
            <a:r>
              <a:rPr lang="en-US" dirty="0" err="1"/>
              <a:t>cancer|smoker</a:t>
            </a:r>
            <a:r>
              <a:rPr lang="en-US" dirty="0"/>
              <a:t>) = [p(</a:t>
            </a:r>
            <a:r>
              <a:rPr lang="en-US" dirty="0" err="1"/>
              <a:t>smoker|lung</a:t>
            </a:r>
            <a:r>
              <a:rPr lang="en-US" dirty="0"/>
              <a:t> cancer)*p(lung cancer)] / p(smoker)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Note that our prior probability, p(lung cancer) might be what we start with, but we’re updating this now that we have additional observations (that this person is a smoker)</a:t>
            </a:r>
          </a:p>
        </p:txBody>
      </p:sp>
    </p:spTree>
    <p:extLst>
      <p:ext uri="{BB962C8B-B14F-4D97-AF65-F5344CB8AC3E}">
        <p14:creationId xmlns:p14="http://schemas.microsoft.com/office/powerpoint/2010/main" val="3615514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11A5-9A87-4758-9521-3DCADB6B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(important) aside: Bayes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6F95-1C00-49FB-BAF8-4611C8273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What is the probability that someone develops lung cancer given they’re a smoker?</a:t>
            </a:r>
          </a:p>
          <a:p>
            <a:pPr lvl="1"/>
            <a:r>
              <a:rPr lang="en-US" dirty="0"/>
              <a:t>p(lung </a:t>
            </a:r>
            <a:r>
              <a:rPr lang="en-US" dirty="0" err="1"/>
              <a:t>cancer|smoker</a:t>
            </a:r>
            <a:r>
              <a:rPr lang="en-US" dirty="0"/>
              <a:t>) = [p(</a:t>
            </a:r>
            <a:r>
              <a:rPr lang="en-US" dirty="0" err="1"/>
              <a:t>smoker|lung</a:t>
            </a:r>
            <a:r>
              <a:rPr lang="en-US" dirty="0"/>
              <a:t> cancer)*p(lung cancer)] / p(smoker)</a:t>
            </a:r>
          </a:p>
          <a:p>
            <a:pPr lvl="2"/>
            <a:r>
              <a:rPr lang="en-US" dirty="0"/>
              <a:t>p(lung cancer) = 0.06</a:t>
            </a:r>
          </a:p>
          <a:p>
            <a:pPr lvl="2"/>
            <a:r>
              <a:rPr lang="en-US" dirty="0"/>
              <a:t>p(smoker) = 0.14</a:t>
            </a:r>
          </a:p>
          <a:p>
            <a:pPr lvl="1"/>
            <a:r>
              <a:rPr lang="en-US" dirty="0"/>
              <a:t>Note that it is often fairly easy to get these two probabilities, therefore Bayes rule is useful whenever p(B|A) is easier to figure out than p(A|B)</a:t>
            </a:r>
          </a:p>
          <a:p>
            <a:pPr lvl="2"/>
            <a:r>
              <a:rPr lang="en-US" dirty="0"/>
              <a:t>p(</a:t>
            </a:r>
            <a:r>
              <a:rPr lang="en-US" dirty="0" err="1"/>
              <a:t>smoker|lung</a:t>
            </a:r>
            <a:r>
              <a:rPr lang="en-US" dirty="0"/>
              <a:t> cancer) = 0.9</a:t>
            </a:r>
          </a:p>
          <a:p>
            <a:pPr marL="0" indent="0">
              <a:buNone/>
            </a:pPr>
            <a:r>
              <a:rPr lang="en-US" dirty="0"/>
              <a:t>p(lung </a:t>
            </a:r>
            <a:r>
              <a:rPr lang="en-US" dirty="0" err="1"/>
              <a:t>cancer|smoker</a:t>
            </a:r>
            <a:r>
              <a:rPr lang="en-US" dirty="0"/>
              <a:t>) = (0.9 * 0.06) / 0.14</a:t>
            </a:r>
          </a:p>
          <a:p>
            <a:pPr marL="0" indent="0">
              <a:buNone/>
            </a:pPr>
            <a:r>
              <a:rPr lang="en-US" dirty="0"/>
              <a:t>p(lung </a:t>
            </a:r>
            <a:r>
              <a:rPr lang="en-US" dirty="0" err="1"/>
              <a:t>cancer|smoker</a:t>
            </a:r>
            <a:r>
              <a:rPr lang="en-US" dirty="0"/>
              <a:t>) = 0.39 or 39%</a:t>
            </a:r>
          </a:p>
        </p:txBody>
      </p:sp>
    </p:spTree>
    <p:extLst>
      <p:ext uri="{BB962C8B-B14F-4D97-AF65-F5344CB8AC3E}">
        <p14:creationId xmlns:p14="http://schemas.microsoft.com/office/powerpoint/2010/main" val="2408906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11A5-9A87-4758-9521-3DCADB6B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the smoking example a bit further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86F95-1C00-49FB-BAF8-4611C8273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What is the probability that someone develops lung cancer given they’re a smoker?</a:t>
            </a:r>
          </a:p>
          <a:p>
            <a:pPr lvl="1"/>
            <a:r>
              <a:rPr lang="en-US" sz="2000" dirty="0"/>
              <a:t>p(lung </a:t>
            </a:r>
            <a:r>
              <a:rPr lang="en-US" sz="2000" dirty="0" err="1"/>
              <a:t>cancer|</a:t>
            </a:r>
            <a:r>
              <a:rPr lang="en-US" sz="2000" b="1" dirty="0" err="1"/>
              <a:t>non-</a:t>
            </a:r>
            <a:r>
              <a:rPr lang="en-US" sz="2000" dirty="0" err="1"/>
              <a:t>smoker</a:t>
            </a:r>
            <a:r>
              <a:rPr lang="en-US" sz="2000" dirty="0"/>
              <a:t>) = [p(</a:t>
            </a:r>
            <a:r>
              <a:rPr lang="en-US" sz="2000" b="1" dirty="0" err="1"/>
              <a:t>non</a:t>
            </a:r>
            <a:r>
              <a:rPr lang="en-US" sz="2000" dirty="0" err="1"/>
              <a:t>-smoker|lung</a:t>
            </a:r>
            <a:r>
              <a:rPr lang="en-US" sz="2000" dirty="0"/>
              <a:t> cancer)*p(lung cancer)] / p(</a:t>
            </a:r>
            <a:r>
              <a:rPr lang="en-US" sz="2000" b="1" dirty="0"/>
              <a:t>non</a:t>
            </a:r>
            <a:r>
              <a:rPr lang="en-US" sz="2000" dirty="0"/>
              <a:t>-smoker)</a:t>
            </a:r>
          </a:p>
          <a:p>
            <a:pPr lvl="2"/>
            <a:r>
              <a:rPr lang="en-US" dirty="0"/>
              <a:t>p(lung cancer) = 0.06</a:t>
            </a:r>
          </a:p>
          <a:p>
            <a:pPr lvl="2"/>
            <a:r>
              <a:rPr lang="en-US" dirty="0"/>
              <a:t>p(</a:t>
            </a:r>
            <a:r>
              <a:rPr lang="en-US" b="1" dirty="0"/>
              <a:t>non</a:t>
            </a:r>
            <a:r>
              <a:rPr lang="en-US" dirty="0"/>
              <a:t>-smoker) = 0.86</a:t>
            </a:r>
          </a:p>
          <a:p>
            <a:pPr lvl="1"/>
            <a:r>
              <a:rPr lang="en-US" dirty="0"/>
              <a:t>Note that it is often fairly easy to get these two probabilities, therefore Bayes rule is useful whenever p(B|A) is easier to figure out than p(A|B)</a:t>
            </a:r>
          </a:p>
          <a:p>
            <a:pPr lvl="2"/>
            <a:r>
              <a:rPr lang="en-US" dirty="0"/>
              <a:t>p(</a:t>
            </a:r>
            <a:r>
              <a:rPr lang="en-US" b="1" dirty="0" err="1"/>
              <a:t>non</a:t>
            </a:r>
            <a:r>
              <a:rPr lang="en-US" dirty="0" err="1"/>
              <a:t>-smoker|lung</a:t>
            </a:r>
            <a:r>
              <a:rPr lang="en-US" dirty="0"/>
              <a:t> cancer) = 0.1</a:t>
            </a:r>
          </a:p>
          <a:p>
            <a:pPr marL="0" indent="0">
              <a:buNone/>
            </a:pPr>
            <a:r>
              <a:rPr lang="en-US" dirty="0"/>
              <a:t>p(lung </a:t>
            </a:r>
            <a:r>
              <a:rPr lang="en-US" dirty="0" err="1"/>
              <a:t>cancer|</a:t>
            </a:r>
            <a:r>
              <a:rPr lang="en-US" b="1" dirty="0" err="1"/>
              <a:t>non</a:t>
            </a:r>
            <a:r>
              <a:rPr lang="en-US" dirty="0" err="1"/>
              <a:t>-smoker</a:t>
            </a:r>
            <a:r>
              <a:rPr lang="en-US" dirty="0"/>
              <a:t>) = (0.1 * 0.06) / 0.86</a:t>
            </a:r>
          </a:p>
          <a:p>
            <a:pPr marL="0" indent="0">
              <a:buNone/>
            </a:pPr>
            <a:r>
              <a:rPr lang="en-US" dirty="0"/>
              <a:t>p(lung </a:t>
            </a:r>
            <a:r>
              <a:rPr lang="en-US" dirty="0" err="1"/>
              <a:t>cancer|</a:t>
            </a:r>
            <a:r>
              <a:rPr lang="en-US" b="1" dirty="0" err="1"/>
              <a:t>non</a:t>
            </a:r>
            <a:r>
              <a:rPr lang="en-US" dirty="0" err="1"/>
              <a:t>-smoker</a:t>
            </a:r>
            <a:r>
              <a:rPr lang="en-US" dirty="0"/>
              <a:t>) = 0.007 or 0.7%</a:t>
            </a:r>
          </a:p>
        </p:txBody>
      </p:sp>
    </p:spTree>
    <p:extLst>
      <p:ext uri="{BB962C8B-B14F-4D97-AF65-F5344CB8AC3E}">
        <p14:creationId xmlns:p14="http://schemas.microsoft.com/office/powerpoint/2010/main" val="2369316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06A5-AD48-436D-BE4E-33716A56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“magic” coin – prior probabilities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FBC33-54E1-4136-A317-78923FC51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 to our coin, let’s say a friend insists that the coin isn’t magic and that it’s just a regular coin</a:t>
            </a:r>
          </a:p>
          <a:p>
            <a:pPr lvl="1"/>
            <a:r>
              <a:rPr lang="en-US" dirty="0"/>
              <a:t>The </a:t>
            </a:r>
            <a:r>
              <a:rPr lang="en-US" i="1" dirty="0"/>
              <a:t>prior probability</a:t>
            </a:r>
            <a:r>
              <a:rPr lang="en-US" dirty="0"/>
              <a:t> will be quite low (say, 10%), as your friend thinks p(heads) is 0.5</a:t>
            </a:r>
          </a:p>
          <a:p>
            <a:pPr lvl="1"/>
            <a:r>
              <a:rPr lang="en-US" dirty="0"/>
              <a:t>So, p(</a:t>
            </a:r>
            <a:r>
              <a:rPr lang="el-GR" dirty="0"/>
              <a:t>θ</a:t>
            </a:r>
            <a:r>
              <a:rPr lang="en-US" dirty="0"/>
              <a:t> = 0.5) = 0.1, but p(</a:t>
            </a:r>
            <a:r>
              <a:rPr lang="el-GR" dirty="0"/>
              <a:t>θ</a:t>
            </a:r>
            <a:r>
              <a:rPr lang="en-US" dirty="0"/>
              <a:t> = 0.5|D) very much </a:t>
            </a:r>
            <a:r>
              <a:rPr lang="en-US" i="1" dirty="0"/>
              <a:t>does not</a:t>
            </a:r>
          </a:p>
          <a:p>
            <a:pPr lvl="2"/>
            <a:r>
              <a:rPr lang="en-US" dirty="0"/>
              <a:t>Imagine that your D is HHHHHHTHHHHHHHHHHH, is p(</a:t>
            </a:r>
            <a:r>
              <a:rPr lang="el-GR" dirty="0"/>
              <a:t>θ</a:t>
            </a:r>
            <a:r>
              <a:rPr lang="en-US" dirty="0"/>
              <a:t> = 0.5|D) 0.5?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266A53-85D5-496B-8E29-780668FED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674" y="4661647"/>
            <a:ext cx="7901784" cy="151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05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06A5-AD48-436D-BE4E-33716A56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“magic” coin – p(</a:t>
            </a:r>
            <a:r>
              <a:rPr lang="el-GR" dirty="0"/>
              <a:t>θ</a:t>
            </a:r>
            <a:r>
              <a:rPr lang="en-US" dirty="0"/>
              <a:t>|D)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FBC33-54E1-4136-A317-78923FC515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should our hypothesis of p(H) be given our (training) data?</a:t>
            </a:r>
          </a:p>
          <a:p>
            <a:r>
              <a:rPr lang="en-US" dirty="0"/>
              <a:t>Well, how about the </a:t>
            </a:r>
            <a:r>
              <a:rPr lang="en-US" i="1" dirty="0">
                <a:solidFill>
                  <a:srgbClr val="00B0F0"/>
                </a:solidFill>
              </a:rPr>
              <a:t>Maximum a posteriori</a:t>
            </a:r>
            <a:r>
              <a:rPr lang="en-US" dirty="0"/>
              <a:t> (MAP) probability, which is the mode of the posterior distribution (or the most likely single value)</a:t>
            </a:r>
          </a:p>
        </p:txBody>
      </p:sp>
    </p:spTree>
    <p:extLst>
      <p:ext uri="{BB962C8B-B14F-4D97-AF65-F5344CB8AC3E}">
        <p14:creationId xmlns:p14="http://schemas.microsoft.com/office/powerpoint/2010/main" val="3620652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06A5-AD48-436D-BE4E-33716A56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“magic” coin – p(</a:t>
            </a:r>
            <a:r>
              <a:rPr lang="el-GR" dirty="0"/>
              <a:t>θ</a:t>
            </a:r>
            <a:r>
              <a:rPr lang="en-US" dirty="0"/>
              <a:t>|D)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FBC33-54E1-4136-A317-78923FC51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3422"/>
          </a:xfrm>
        </p:spPr>
        <p:txBody>
          <a:bodyPr>
            <a:normAutofit/>
          </a:bodyPr>
          <a:lstStyle/>
          <a:p>
            <a:r>
              <a:rPr lang="en-US" dirty="0"/>
              <a:t>What should our hypothesis of p(H) be given our (training) data?</a:t>
            </a:r>
          </a:p>
          <a:p>
            <a:r>
              <a:rPr lang="en-US" dirty="0"/>
              <a:t>Well, how about the </a:t>
            </a:r>
            <a:r>
              <a:rPr lang="en-US" i="1" dirty="0">
                <a:solidFill>
                  <a:srgbClr val="00B0F0"/>
                </a:solidFill>
              </a:rPr>
              <a:t>Maximum a posteriori</a:t>
            </a:r>
            <a:r>
              <a:rPr lang="en-US" dirty="0"/>
              <a:t> (MAP) probability, which is the mode of the posterior distribution (or the most likely single value)</a:t>
            </a:r>
          </a:p>
          <a:p>
            <a:pPr lvl="1"/>
            <a:r>
              <a:rPr lang="en-US" dirty="0"/>
              <a:t>That is, select your</a:t>
            </a:r>
            <a:r>
              <a:rPr lang="el-GR" dirty="0"/>
              <a:t> θ</a:t>
            </a:r>
            <a:r>
              <a:rPr lang="en-US" dirty="0"/>
              <a:t> such that p(</a:t>
            </a:r>
            <a:r>
              <a:rPr lang="el-GR" dirty="0"/>
              <a:t>θ</a:t>
            </a:r>
            <a:r>
              <a:rPr lang="en-US" dirty="0"/>
              <a:t>|D) is the highest possible value</a:t>
            </a:r>
          </a:p>
          <a:p>
            <a:pPr lvl="1"/>
            <a:r>
              <a:rPr lang="en-US" dirty="0"/>
              <a:t>Similar in concept to MLE, different in that you’re constrained by </a:t>
            </a:r>
            <a:r>
              <a:rPr lang="en-US" i="1" dirty="0"/>
              <a:t>prior knowledge</a:t>
            </a:r>
            <a:r>
              <a:rPr lang="en-US" dirty="0"/>
              <a:t> (represented as the prior probability)</a:t>
            </a:r>
          </a:p>
          <a:p>
            <a:pPr lvl="1"/>
            <a:r>
              <a:rPr lang="en-US" dirty="0"/>
              <a:t>Note that as your observed knowledge approaches infinity, your confidence in the prior probability goes to zero (the prior is useless if you’re given the answer)</a:t>
            </a:r>
          </a:p>
          <a:p>
            <a:pPr lvl="1"/>
            <a:r>
              <a:rPr lang="en-US" dirty="0"/>
              <a:t>This means that Bayes is most useful when you have a good prior and/or a small amount of training data</a:t>
            </a:r>
          </a:p>
        </p:txBody>
      </p:sp>
    </p:spTree>
    <p:extLst>
      <p:ext uri="{BB962C8B-B14F-4D97-AF65-F5344CB8AC3E}">
        <p14:creationId xmlns:p14="http://schemas.microsoft.com/office/powerpoint/2010/main" val="3690653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06A5-AD48-436D-BE4E-33716A56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“magic” coin – using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FBC33-54E1-4136-A317-78923FC51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3422"/>
          </a:xfrm>
        </p:spPr>
        <p:txBody>
          <a:bodyPr>
            <a:normAutofit/>
          </a:bodyPr>
          <a:lstStyle/>
          <a:p>
            <a:r>
              <a:rPr lang="en-US" dirty="0"/>
              <a:t>Say we have the observations HHTHT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Select </a:t>
            </a:r>
            <a:r>
              <a:rPr lang="el-GR" dirty="0"/>
              <a:t>θ</a:t>
            </a:r>
            <a:r>
              <a:rPr lang="en-US" dirty="0"/>
              <a:t> to be 0.1 (because, why not?)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= [p(HHTHT|</a:t>
            </a:r>
            <a:r>
              <a:rPr lang="el-GR" dirty="0"/>
              <a:t>θ</a:t>
            </a:r>
            <a:r>
              <a:rPr lang="en-US" dirty="0"/>
              <a:t>) * p(</a:t>
            </a:r>
            <a:r>
              <a:rPr lang="el-GR" dirty="0"/>
              <a:t>θ</a:t>
            </a:r>
            <a:r>
              <a:rPr lang="en-US" dirty="0"/>
              <a:t>)] / p(HHTHT)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</a:t>
            </a:r>
            <a:r>
              <a:rPr lang="el-GR" dirty="0"/>
              <a:t>α</a:t>
            </a:r>
            <a:r>
              <a:rPr lang="en-US" dirty="0"/>
              <a:t> [[0.1*0.1*0.9*0.1*0.9] * ???]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</a:t>
            </a:r>
            <a:r>
              <a:rPr lang="el-GR" dirty="0"/>
              <a:t>α</a:t>
            </a:r>
            <a:r>
              <a:rPr lang="en-US" dirty="0"/>
              <a:t> 0.00081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23FB85-C195-4A33-A74E-AFF007D3E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086" y="2545976"/>
            <a:ext cx="5167549" cy="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49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06A5-AD48-436D-BE4E-33716A56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“magic” coin – using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FBC33-54E1-4136-A317-78923FC51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3422"/>
          </a:xfrm>
        </p:spPr>
        <p:txBody>
          <a:bodyPr>
            <a:normAutofit/>
          </a:bodyPr>
          <a:lstStyle/>
          <a:p>
            <a:r>
              <a:rPr lang="en-US" dirty="0"/>
              <a:t>Say we have the observations HHTHT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Select </a:t>
            </a:r>
            <a:r>
              <a:rPr lang="el-GR" dirty="0"/>
              <a:t>θ</a:t>
            </a:r>
            <a:r>
              <a:rPr lang="en-US" dirty="0"/>
              <a:t> to be 0.6 (because, that’s probably better)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</a:t>
            </a:r>
            <a:r>
              <a:rPr lang="el-GR" dirty="0"/>
              <a:t>α</a:t>
            </a:r>
            <a:r>
              <a:rPr lang="en-US" dirty="0"/>
              <a:t> [p(HHTHT|</a:t>
            </a:r>
            <a:r>
              <a:rPr lang="el-GR" dirty="0"/>
              <a:t>θ</a:t>
            </a:r>
            <a:r>
              <a:rPr lang="en-US" dirty="0"/>
              <a:t>) * p(</a:t>
            </a:r>
            <a:r>
              <a:rPr lang="el-GR" dirty="0"/>
              <a:t>θ</a:t>
            </a:r>
            <a:r>
              <a:rPr lang="en-US" dirty="0"/>
              <a:t>)]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</a:t>
            </a:r>
            <a:r>
              <a:rPr lang="el-GR" dirty="0"/>
              <a:t>α</a:t>
            </a:r>
            <a:r>
              <a:rPr lang="en-US" dirty="0"/>
              <a:t> [[0.6*0.6*0.4*0.6*0.4] * ???]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</a:t>
            </a:r>
            <a:r>
              <a:rPr lang="el-GR" dirty="0"/>
              <a:t>α</a:t>
            </a:r>
            <a:r>
              <a:rPr lang="en-US" dirty="0"/>
              <a:t> 0.03456 * ???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23FB85-C195-4A33-A74E-AFF007D3E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086" y="2545976"/>
            <a:ext cx="5167549" cy="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98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806A5-AD48-436D-BE4E-33716A565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“magic” coin – using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FBC33-54E1-4136-A317-78923FC51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93422"/>
          </a:xfrm>
        </p:spPr>
        <p:txBody>
          <a:bodyPr>
            <a:normAutofit/>
          </a:bodyPr>
          <a:lstStyle/>
          <a:p>
            <a:r>
              <a:rPr lang="en-US" dirty="0"/>
              <a:t>Say we have the observations HHTHT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Select </a:t>
            </a:r>
            <a:r>
              <a:rPr lang="el-GR" dirty="0"/>
              <a:t>θ</a:t>
            </a:r>
            <a:r>
              <a:rPr lang="en-US" dirty="0"/>
              <a:t> to be 0.5 (to finish off)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</a:t>
            </a:r>
            <a:r>
              <a:rPr lang="el-GR" dirty="0"/>
              <a:t>α</a:t>
            </a:r>
            <a:r>
              <a:rPr lang="en-US" dirty="0"/>
              <a:t> [p(HHTHT|</a:t>
            </a:r>
            <a:r>
              <a:rPr lang="el-GR" dirty="0"/>
              <a:t>θ</a:t>
            </a:r>
            <a:r>
              <a:rPr lang="en-US" dirty="0"/>
              <a:t>) * p(</a:t>
            </a:r>
            <a:r>
              <a:rPr lang="el-GR" dirty="0"/>
              <a:t>θ</a:t>
            </a:r>
            <a:r>
              <a:rPr lang="en-US" dirty="0"/>
              <a:t>)]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</a:t>
            </a:r>
            <a:r>
              <a:rPr lang="el-GR" dirty="0"/>
              <a:t>α</a:t>
            </a:r>
            <a:r>
              <a:rPr lang="en-US" dirty="0"/>
              <a:t> [[0.5*0.5*0.5*0.5*0.5] * ???]</a:t>
            </a:r>
          </a:p>
          <a:p>
            <a:pPr marL="0" indent="0">
              <a:buNone/>
            </a:pPr>
            <a:r>
              <a:rPr lang="en-US" dirty="0"/>
              <a:t>p(</a:t>
            </a:r>
            <a:r>
              <a:rPr lang="el-GR" dirty="0"/>
              <a:t>θ</a:t>
            </a:r>
            <a:r>
              <a:rPr lang="en-US" dirty="0"/>
              <a:t>|HHTHT) </a:t>
            </a:r>
            <a:r>
              <a:rPr lang="el-GR" dirty="0"/>
              <a:t>α</a:t>
            </a:r>
            <a:r>
              <a:rPr lang="en-US" dirty="0"/>
              <a:t> 0.03125 * ???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23FB85-C195-4A33-A74E-AFF007D3E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3086" y="2545976"/>
            <a:ext cx="5167549" cy="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95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30F86D-4B44-4DB1-93FD-37CE3241A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60020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Lecture 5: Bayesian Inference &amp; Regression</a:t>
            </a:r>
          </a:p>
        </p:txBody>
      </p:sp>
    </p:spTree>
    <p:extLst>
      <p:ext uri="{BB962C8B-B14F-4D97-AF65-F5344CB8AC3E}">
        <p14:creationId xmlns:p14="http://schemas.microsoft.com/office/powerpoint/2010/main" val="365677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FF7D6-52E0-4DE1-8CC1-CDD200322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regression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AB50A-8049-4383-9485-3F1A37EC1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Zillow.com – a website that tracks houses for sale &amp; rent</a:t>
            </a:r>
          </a:p>
          <a:p>
            <a:r>
              <a:rPr lang="en-US" dirty="0"/>
              <a:t>Given the sales data available, predict what a house will sell for</a:t>
            </a:r>
          </a:p>
          <a:p>
            <a:r>
              <a:rPr lang="en-US" dirty="0"/>
              <a:t>y = house sales based on…</a:t>
            </a:r>
          </a:p>
          <a:p>
            <a:r>
              <a:rPr lang="en-US" dirty="0"/>
              <a:t>X = square footage, zip code, date of sale, etc., etc.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18AC5A-80F0-498B-B64C-59F1C8FDC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3953434"/>
            <a:ext cx="3751730" cy="29045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E79908-33C9-4546-9811-06AFF7680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87" y="4254500"/>
            <a:ext cx="52768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44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4EF3-5CED-4D00-99CB-C9FAD6745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of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AC36A-58A5-4F3F-A213-2914526AF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Useful when you have variables that are related in a </a:t>
            </a:r>
            <a:r>
              <a:rPr lang="en-US" b="1" i="1" dirty="0"/>
              <a:t>nondeterministic</a:t>
            </a:r>
            <a:r>
              <a:rPr lang="en-US" dirty="0"/>
              <a:t> manner (ex: house price and square footage)</a:t>
            </a:r>
          </a:p>
          <a:p>
            <a:r>
              <a:rPr lang="en-US" dirty="0"/>
              <a:t>We observe a dependent variable (home price)</a:t>
            </a:r>
          </a:p>
          <a:p>
            <a:r>
              <a:rPr lang="en-US" dirty="0"/>
              <a:t>For each dependent variable, we observe predictors (square footage)</a:t>
            </a:r>
          </a:p>
          <a:p>
            <a:r>
              <a:rPr lang="en-US" dirty="0"/>
              <a:t>Our goal is to determine the relationship between the dependent variables and predictors</a:t>
            </a:r>
          </a:p>
          <a:p>
            <a:endParaRPr lang="en-US" dirty="0"/>
          </a:p>
          <a:p>
            <a:r>
              <a:rPr lang="en-US" dirty="0"/>
              <a:t>Note: Dependent variables sometimes called “response(s),” predictors sometimes called “regressor(s)”</a:t>
            </a:r>
          </a:p>
        </p:txBody>
      </p:sp>
    </p:spTree>
    <p:extLst>
      <p:ext uri="{BB962C8B-B14F-4D97-AF65-F5344CB8AC3E}">
        <p14:creationId xmlns:p14="http://schemas.microsoft.com/office/powerpoint/2010/main" val="3018380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22DC3-2927-45F9-B8D4-45F71BCC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doesn’t need to be </a:t>
            </a:r>
            <a:r>
              <a:rPr lang="en-US" i="1" dirty="0"/>
              <a:t>linear</a:t>
            </a:r>
            <a:r>
              <a:rPr lang="en-US" dirty="0"/>
              <a:t>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4CEE8-ABFA-4055-B805-FCE43F62A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Functions can be (and often are) non-linear</a:t>
            </a:r>
          </a:p>
          <a:p>
            <a:r>
              <a:rPr lang="en-US" dirty="0"/>
              <a:t>In this course we will focus on linear regression (other than the next slide) since we’re not going to be spending a lot of time on regression in general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24ECD-4DED-4811-B5D9-B72780BD1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631" y="3593974"/>
            <a:ext cx="8948738" cy="326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75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4FE50-E7B3-4BAA-AC37-BB063459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doesn’t need to be </a:t>
            </a:r>
            <a:r>
              <a:rPr lang="en-US" i="1" dirty="0"/>
              <a:t>linear</a:t>
            </a:r>
            <a:r>
              <a:rPr lang="en-US" dirty="0"/>
              <a:t>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B497D-702A-4852-AEE5-8519B18E4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linear regression:</a:t>
            </a:r>
          </a:p>
          <a:p>
            <a:pPr marL="457200" lvl="1" indent="0">
              <a:buNone/>
            </a:pPr>
            <a:r>
              <a:rPr lang="en-US" dirty="0"/>
              <a:t>Y = B</a:t>
            </a:r>
            <a:r>
              <a:rPr lang="en-US" baseline="-25000" dirty="0"/>
              <a:t>0</a:t>
            </a:r>
            <a:r>
              <a:rPr lang="en-US" dirty="0"/>
              <a:t> + B</a:t>
            </a:r>
            <a:r>
              <a:rPr lang="en-US" baseline="-25000" dirty="0"/>
              <a:t>1</a:t>
            </a:r>
            <a:r>
              <a:rPr lang="en-US" dirty="0"/>
              <a:t>X + error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Multiple linear regression:</a:t>
            </a:r>
          </a:p>
          <a:p>
            <a:pPr marL="457200" lvl="1" indent="0">
              <a:buNone/>
            </a:pPr>
            <a:r>
              <a:rPr lang="en-US" dirty="0"/>
              <a:t>Y = B</a:t>
            </a:r>
            <a:r>
              <a:rPr lang="en-US" baseline="-25000" dirty="0"/>
              <a:t>0</a:t>
            </a:r>
            <a:r>
              <a:rPr lang="en-US" dirty="0"/>
              <a:t> + B</a:t>
            </a:r>
            <a:r>
              <a:rPr lang="en-US" baseline="-25000" dirty="0"/>
              <a:t>1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+ B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-25000" dirty="0"/>
              <a:t>2</a:t>
            </a:r>
            <a:r>
              <a:rPr lang="en-US" dirty="0"/>
              <a:t> + error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Polynomial regression:</a:t>
            </a:r>
          </a:p>
          <a:p>
            <a:pPr marL="457200" lvl="1" indent="0">
              <a:buNone/>
            </a:pPr>
            <a:r>
              <a:rPr lang="en-US" dirty="0"/>
              <a:t>Y = B</a:t>
            </a:r>
            <a:r>
              <a:rPr lang="en-US" baseline="-25000" dirty="0"/>
              <a:t>0</a:t>
            </a:r>
            <a:r>
              <a:rPr lang="en-US" dirty="0"/>
              <a:t> + B</a:t>
            </a:r>
            <a:r>
              <a:rPr lang="en-US" baseline="-25000" dirty="0"/>
              <a:t>1</a:t>
            </a:r>
            <a:r>
              <a:rPr lang="en-US" dirty="0"/>
              <a:t>X + B</a:t>
            </a:r>
            <a:r>
              <a:rPr lang="en-US" baseline="-25000" dirty="0"/>
              <a:t>2</a:t>
            </a:r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 + error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CEACE1-69D4-4BC1-A7C4-C40226495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899" y="1504950"/>
            <a:ext cx="2786552" cy="476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5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64A2-3A16-465D-9332-544737B4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5E5B1-0B74-431C-8EBF-AC749EC56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goal is to find B</a:t>
            </a:r>
            <a:r>
              <a:rPr lang="en-US" baseline="-25000" dirty="0"/>
              <a:t>0</a:t>
            </a:r>
            <a:r>
              <a:rPr lang="en-US" dirty="0"/>
              <a:t> and B</a:t>
            </a:r>
            <a:r>
              <a:rPr lang="en-US" baseline="-25000" dirty="0"/>
              <a:t>1</a:t>
            </a:r>
            <a:r>
              <a:rPr lang="en-US" dirty="0"/>
              <a:t> where</a:t>
            </a:r>
          </a:p>
          <a:p>
            <a:pPr marL="457200" lvl="1" indent="0">
              <a:buNone/>
            </a:pPr>
            <a:r>
              <a:rPr lang="en-US" dirty="0"/>
              <a:t>Y = B</a:t>
            </a:r>
            <a:r>
              <a:rPr lang="en-US" baseline="-25000" dirty="0"/>
              <a:t>0</a:t>
            </a:r>
            <a:r>
              <a:rPr lang="en-US" dirty="0"/>
              <a:t> + B</a:t>
            </a:r>
            <a:r>
              <a:rPr lang="en-US" baseline="-25000" dirty="0"/>
              <a:t>1</a:t>
            </a:r>
            <a:r>
              <a:rPr lang="en-US" dirty="0"/>
              <a:t>X + error</a:t>
            </a:r>
          </a:p>
          <a:p>
            <a:r>
              <a:rPr lang="en-US" dirty="0"/>
              <a:t>So we need to find:</a:t>
            </a:r>
          </a:p>
          <a:p>
            <a:pPr lvl="1"/>
            <a:r>
              <a:rPr lang="en-US" dirty="0"/>
              <a:t>The intercept, B</a:t>
            </a:r>
            <a:r>
              <a:rPr lang="en-US" baseline="-25000" dirty="0"/>
              <a:t>0</a:t>
            </a:r>
          </a:p>
          <a:p>
            <a:pPr lvl="1"/>
            <a:r>
              <a:rPr lang="en-US" dirty="0"/>
              <a:t>The slope of the line, B</a:t>
            </a:r>
            <a:r>
              <a:rPr lang="en-US" baseline="-25000" dirty="0"/>
              <a:t>1</a:t>
            </a:r>
          </a:p>
          <a:p>
            <a:r>
              <a:rPr lang="en-US" dirty="0"/>
              <a:t>Basic idea (which we’ll complicate in a minute):</a:t>
            </a:r>
          </a:p>
          <a:p>
            <a:pPr lvl="1"/>
            <a:r>
              <a:rPr lang="en-US" dirty="0"/>
              <a:t>Plot the observations (like a scatter plot)</a:t>
            </a:r>
          </a:p>
          <a:p>
            <a:pPr lvl="1"/>
            <a:r>
              <a:rPr lang="en-US" dirty="0"/>
              <a:t>Find the line that best “fits” or follows the plotted points</a:t>
            </a:r>
          </a:p>
        </p:txBody>
      </p:sp>
    </p:spTree>
    <p:extLst>
      <p:ext uri="{BB962C8B-B14F-4D97-AF65-F5344CB8AC3E}">
        <p14:creationId xmlns:p14="http://schemas.microsoft.com/office/powerpoint/2010/main" val="2326086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15CDE-2C47-4F92-AB01-9973522F6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regression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0785A-EB62-4F0B-9C06-826CB5E18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estimate B</a:t>
            </a:r>
            <a:r>
              <a:rPr lang="en-US" baseline="-25000" dirty="0"/>
              <a:t>0</a:t>
            </a:r>
            <a:r>
              <a:rPr lang="en-US" dirty="0"/>
              <a:t> and B</a:t>
            </a:r>
            <a:r>
              <a:rPr lang="en-US" baseline="-25000" dirty="0"/>
              <a:t>1</a:t>
            </a:r>
            <a:r>
              <a:rPr lang="en-US" dirty="0"/>
              <a:t>, you want to find the values that minimize the error (specifically, the squared error)</a:t>
            </a:r>
          </a:p>
          <a:p>
            <a:r>
              <a:rPr lang="en-US" dirty="0"/>
              <a:t>For observations 1, 2, 3, … i,-1 </a:t>
            </a:r>
            <a:r>
              <a:rPr lang="en-US" dirty="0" err="1"/>
              <a:t>i</a:t>
            </a:r>
            <a:r>
              <a:rPr lang="en-US" dirty="0"/>
              <a:t>, i+1, …, n, minimize: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773B97-1BF6-4BC4-89C5-4A1ED1E0B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256" y="3393218"/>
            <a:ext cx="5043488" cy="171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76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28C5-5643-4B46-8364-069968B7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squares (minimizing squared error)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31B8E-6C23-4F98-B52F-5A845C8E3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Minimize the squared error: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8001A1-983B-419D-9CFB-6C1446CCE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2296350"/>
            <a:ext cx="3838575" cy="6849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93CCD5-D400-49B5-961B-E6EAAFFD2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7" y="3361741"/>
            <a:ext cx="9015413" cy="281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4067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28C5-5643-4B46-8364-069968B7D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squares (minimizing squared error)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DD59ABE-82CF-46B0-9F68-7741572DA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3039" y="1420806"/>
            <a:ext cx="10285923" cy="497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004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9605-AC83-4954-B6BF-47A74FDE1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notation that you might see…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DFF7942-E7A6-4DE3-ADC4-75F8B71AD4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645" y="1825625"/>
            <a:ext cx="96907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310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6B0-FA1B-40B5-92CD-3AC9CB52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oxygen and hydrocarbon levels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08CBA4-FBDC-405C-AA9B-6100496753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678" y="1901825"/>
            <a:ext cx="3267943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3A82B5-FF74-440F-8D0D-3344B18DF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412" y="2009775"/>
            <a:ext cx="5774223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30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6B0-FA1B-40B5-92CD-3AC9CB52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oxygen and hydrocarbon levels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808C944-AA57-4CE4-88A6-0459E2255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9915" y="1825625"/>
            <a:ext cx="671217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83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6B0-FA1B-40B5-92CD-3AC9CB52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oxygen and hydrocarbon levels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40B1F7-8058-442C-B0CE-37C7FDA9D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5088" y="1456288"/>
            <a:ext cx="6981824" cy="536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58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316B0-FA1B-40B5-92CD-3AC9CB52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oxygen and hydrocarbon levels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FDD674-6358-40B1-AB17-4CC002158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1525" y="1472097"/>
            <a:ext cx="10515600" cy="25247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092700-202B-49B1-A427-A09C9B4D2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13271"/>
            <a:ext cx="12192000" cy="125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89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4CBDA-4D10-477B-9183-93A628F55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interpretation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EF0EEC-4238-49A6-8668-DF7DE023D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94512"/>
            <a:ext cx="10515600" cy="221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20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3230</TotalTime>
  <Words>1480</Words>
  <Application>Microsoft Office PowerPoint</Application>
  <PresentationFormat>Widescreen</PresentationFormat>
  <Paragraphs>131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Lecture 5: Bayesian Inference &amp; Regression</vt:lpstr>
      <vt:lpstr>Recall our coin last time</vt:lpstr>
      <vt:lpstr>Our “magic” coin – prior probabilities</vt:lpstr>
      <vt:lpstr>An (important) aside: Bayes rule</vt:lpstr>
      <vt:lpstr>An (important) aside: Bayes rule</vt:lpstr>
      <vt:lpstr>An (important) aside: Bayes rule</vt:lpstr>
      <vt:lpstr>Taking the smoking example a bit further</vt:lpstr>
      <vt:lpstr>Our “magic” coin – prior probabilities</vt:lpstr>
      <vt:lpstr>Our “magic” coin – p(θ|D)</vt:lpstr>
      <vt:lpstr>Our “magic” coin – p(θ|D)</vt:lpstr>
      <vt:lpstr>Our “magic” coin – using numbers</vt:lpstr>
      <vt:lpstr>Our “magic” coin – using numbers</vt:lpstr>
      <vt:lpstr>Our “magic” coin – using numbers</vt:lpstr>
      <vt:lpstr>Lecture 5: Bayesian Inference &amp; Regression</vt:lpstr>
      <vt:lpstr>An example regression problem</vt:lpstr>
      <vt:lpstr>Basis of regression</vt:lpstr>
      <vt:lpstr>Aside: doesn’t need to be linear regression</vt:lpstr>
      <vt:lpstr>Aside: doesn’t need to be linear regression</vt:lpstr>
      <vt:lpstr>Linear regression</vt:lpstr>
      <vt:lpstr>Estimating regression parameters</vt:lpstr>
      <vt:lpstr>Least squares (minimizing squared error)</vt:lpstr>
      <vt:lpstr>Least squares (minimizing squared error)</vt:lpstr>
      <vt:lpstr>A notation that you might see…</vt:lpstr>
      <vt:lpstr>Example: oxygen and hydrocarbon levels</vt:lpstr>
      <vt:lpstr>Example: oxygen and hydrocarbon levels</vt:lpstr>
      <vt:lpstr>Example: oxygen and hydrocarbon levels</vt:lpstr>
      <vt:lpstr>Example: oxygen and hydrocarbon levels</vt:lpstr>
      <vt:lpstr>Example interpretation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5: Bayesian Inference &amp; Regression</dc:title>
  <dc:creator>Stephen M Douglass</dc:creator>
  <cp:lastModifiedBy>Stephen M Douglass</cp:lastModifiedBy>
  <cp:revision>49</cp:revision>
  <dcterms:created xsi:type="dcterms:W3CDTF">2020-01-24T16:10:47Z</dcterms:created>
  <dcterms:modified xsi:type="dcterms:W3CDTF">2022-09-13T16:01:36Z</dcterms:modified>
</cp:coreProperties>
</file>